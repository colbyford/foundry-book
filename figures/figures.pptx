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7"/>
  </p:notesMasterIdLst>
  <p:sldIdLst>
    <p:sldId id="258" r:id="rId2"/>
    <p:sldId id="256" r:id="rId3"/>
    <p:sldId id="263" r:id="rId4"/>
    <p:sldId id="259" r:id="rId5"/>
    <p:sldId id="261" r:id="rId6"/>
    <p:sldId id="268" r:id="rId7"/>
    <p:sldId id="275" r:id="rId8"/>
    <p:sldId id="262" r:id="rId9"/>
    <p:sldId id="279" r:id="rId10"/>
    <p:sldId id="278" r:id="rId11"/>
    <p:sldId id="277" r:id="rId12"/>
    <p:sldId id="264" r:id="rId13"/>
    <p:sldId id="280" r:id="rId14"/>
    <p:sldId id="271" r:id="rId15"/>
    <p:sldId id="272" r:id="rId16"/>
    <p:sldId id="273" r:id="rId17"/>
    <p:sldId id="281" r:id="rId18"/>
    <p:sldId id="284" r:id="rId19"/>
    <p:sldId id="282" r:id="rId20"/>
    <p:sldId id="288" r:id="rId21"/>
    <p:sldId id="283" r:id="rId22"/>
    <p:sldId id="287" r:id="rId23"/>
    <p:sldId id="285" r:id="rId24"/>
    <p:sldId id="286" r:id="rId25"/>
    <p:sldId id="257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8037C5F-3BC8-4326-882B-11E8D97D6574}">
          <p14:sldIdLst>
            <p14:sldId id="258"/>
          </p14:sldIdLst>
        </p14:section>
        <p14:section name="Introduction" id="{33616E34-919B-4477-A71B-4790522F5760}">
          <p14:sldIdLst>
            <p14:sldId id="256"/>
            <p14:sldId id="263"/>
          </p14:sldIdLst>
        </p14:section>
        <p14:section name="Model Deployment" id="{4FFEF0E2-5833-4089-8860-99F4B2E194C0}">
          <p14:sldIdLst>
            <p14:sldId id="259"/>
          </p14:sldIdLst>
        </p14:section>
        <p14:section name="Agent Deployment" id="{D332562B-3ADB-4CCE-A1B8-55DF9B490E3B}">
          <p14:sldIdLst>
            <p14:sldId id="261"/>
            <p14:sldId id="268"/>
            <p14:sldId id="275"/>
          </p14:sldIdLst>
        </p14:section>
        <p14:section name="Knowledge Bases" id="{06E034E2-AFC7-4A28-B1B0-B4E2903C9A55}">
          <p14:sldIdLst>
            <p14:sldId id="262"/>
            <p14:sldId id="279"/>
            <p14:sldId id="278"/>
            <p14:sldId id="277"/>
            <p14:sldId id="264"/>
          </p14:sldIdLst>
        </p14:section>
        <p14:section name="Fine-Tuning" id="{0654DAA0-6DAF-4D93-901D-DE1F25DE20A5}">
          <p14:sldIdLst/>
        </p14:section>
        <p14:section name="Workflows" id="{F124E500-37B7-4919-B26F-2DBCF3957E81}">
          <p14:sldIdLst>
            <p14:sldId id="280"/>
          </p14:sldIdLst>
        </p14:section>
        <p14:section name="Edge Deployment" id="{751363D7-BD1F-4E68-8906-25A659F6AF95}">
          <p14:sldIdLst>
            <p14:sldId id="271"/>
            <p14:sldId id="272"/>
            <p14:sldId id="273"/>
          </p14:sldIdLst>
        </p14:section>
        <p14:section name="Governance" id="{038CE4AA-62CD-47A2-8E40-F6F0DFCCB854}">
          <p14:sldIdLst>
            <p14:sldId id="281"/>
          </p14:sldIdLst>
        </p14:section>
        <p14:section name="Conclusion" id="{02F95322-1659-4331-9A74-3CC42BA10F6A}">
          <p14:sldIdLst>
            <p14:sldId id="284"/>
            <p14:sldId id="282"/>
            <p14:sldId id="288"/>
            <p14:sldId id="283"/>
            <p14:sldId id="287"/>
            <p14:sldId id="285"/>
            <p14:sldId id="286"/>
          </p14:sldIdLst>
        </p14:section>
        <p14:section name="Examples" id="{2CEADF37-2C1D-4DE6-BB08-5D838E707A13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E5F1F8"/>
    <a:srgbClr val="FF99CC"/>
    <a:srgbClr val="B2D4EB"/>
    <a:srgbClr val="B0D3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0" autoAdjust="0"/>
    <p:restoredTop sz="92044" autoAdjust="0"/>
  </p:normalViewPr>
  <p:slideViewPr>
    <p:cSldViewPr snapToGrid="0">
      <p:cViewPr varScale="1">
        <p:scale>
          <a:sx n="144" d="100"/>
          <a:sy n="144" d="100"/>
        </p:scale>
        <p:origin x="86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ABB0E5-6D8D-4DEE-B75F-67010CF2307C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549D2C-39EA-4769-BF7E-31FE52D82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219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i-services/multi-service-resource?toc=%2Fazure%2Fai-foundry%2Ftoc.json&amp;bc=%2Fazure%2Fai-foundry%2Fbreadcrumb%2Ftoc.json&amp;view=foundry-classic&amp;preserve-view=true&amp;pivots=azportal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Create a Foundry resource - Foundry Tools | Microsoft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8521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Text:</a:t>
            </a:r>
          </a:p>
          <a:p>
            <a:endParaRPr lang="en-US" dirty="0"/>
          </a:p>
          <a:p>
            <a:r>
              <a:rPr lang="en-US" dirty="0"/>
              <a:t>colby@TUPLE-01:~$ </a:t>
            </a:r>
            <a:r>
              <a:rPr lang="en-US" dirty="0" err="1"/>
              <a:t>az</a:t>
            </a:r>
            <a:r>
              <a:rPr lang="en-US" dirty="0"/>
              <a:t> login</a:t>
            </a:r>
          </a:p>
          <a:p>
            <a:endParaRPr lang="en-US" dirty="0"/>
          </a:p>
          <a:p>
            <a:r>
              <a:rPr lang="en-US" dirty="0"/>
              <a:t>Retrieving tenants and subscriptions for the selection...</a:t>
            </a:r>
          </a:p>
          <a:p>
            <a:endParaRPr lang="en-US" dirty="0"/>
          </a:p>
          <a:p>
            <a:r>
              <a:rPr lang="en-US" dirty="0"/>
              <a:t>[Tenant and subscription selection]</a:t>
            </a:r>
          </a:p>
          <a:p>
            <a:endParaRPr lang="en-US" dirty="0"/>
          </a:p>
          <a:p>
            <a:r>
              <a:rPr lang="en-US" dirty="0"/>
              <a:t>No     Subscription name            Subscription ID                       Tenant</a:t>
            </a:r>
          </a:p>
          <a:p>
            <a:r>
              <a:rPr lang="en-US" dirty="0"/>
              <a:t>-----  ---------------------------  ------------------------------------  ----------------------</a:t>
            </a:r>
          </a:p>
          <a:p>
            <a:r>
              <a:rPr lang="en-US" dirty="0"/>
              <a:t>[1]    abc-prod-001                 d3c301c7-a8a5-417a-999b-71c166ab9ea1  Acme Inc Default Directory</a:t>
            </a:r>
          </a:p>
          <a:p>
            <a:r>
              <a:rPr lang="en-US" dirty="0"/>
              <a:t>[2]    abc-dev-001                  6283eb64-e04b-4c65-8360-e29ddf7ced32  Acme Inc Default Directory</a:t>
            </a:r>
          </a:p>
          <a:p>
            <a:r>
              <a:rPr lang="en-US" dirty="0"/>
              <a:t>[3]    </a:t>
            </a:r>
            <a:r>
              <a:rPr lang="en-US" dirty="0" err="1"/>
              <a:t>dev_subscription</a:t>
            </a:r>
            <a:r>
              <a:rPr lang="en-US" dirty="0"/>
              <a:t>             21f436e1-bf10-4e17-9482-701611ba96e3  &lt;Tuple&gt;</a:t>
            </a:r>
          </a:p>
          <a:p>
            <a:r>
              <a:rPr lang="en-US" dirty="0"/>
              <a:t>[4]    Microsoft Azure Sponsorship  716f8ad9-4f2d-48da-a905-eb77071da449  &lt;Tuple&gt;</a:t>
            </a:r>
          </a:p>
          <a:p>
            <a:r>
              <a:rPr lang="en-US" dirty="0"/>
              <a:t>[5] *  Microsoft Azure Sponsorship  bedf96c9-5241-45cc-b696-dcc91ebc089a  &lt;Tuple&gt;</a:t>
            </a:r>
          </a:p>
          <a:p>
            <a:endParaRPr lang="en-US" dirty="0"/>
          </a:p>
          <a:p>
            <a:r>
              <a:rPr lang="en-US" dirty="0"/>
              <a:t>The default is marked with an *; the default tenant is '&lt;Tuple&gt;' and subscription is 'Microsoft Azure Sponsorship' (bedf96c9-5241-45cc-b696-dcc91ebc089a).</a:t>
            </a:r>
          </a:p>
          <a:p>
            <a:endParaRPr lang="en-US" dirty="0"/>
          </a:p>
          <a:p>
            <a:r>
              <a:rPr lang="en-US" dirty="0"/>
              <a:t>Select a subscription and tenant (Type a number or Enter for no changes):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9698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70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32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9051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898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466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863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4078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470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241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859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412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4C5C40-2055-49AF-9028-5DA79E75E391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399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3.png"/><Relationship Id="rId7" Type="http://schemas.openxmlformats.org/officeDocument/2006/relationships/image" Target="../media/image6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learn.microsoft.com/en-us/azure/ai-foundry/?view=foundry-classic" TargetMode="External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Relationship Id="rId9" Type="http://schemas.openxmlformats.org/officeDocument/2006/relationships/image" Target="../media/image17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svg"/><Relationship Id="rId4" Type="http://schemas.openxmlformats.org/officeDocument/2006/relationships/image" Target="../media/image18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sv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svg"/><Relationship Id="rId4" Type="http://schemas.openxmlformats.org/officeDocument/2006/relationships/image" Target="../media/image30.sv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2.svg"/><Relationship Id="rId7" Type="http://schemas.openxmlformats.org/officeDocument/2006/relationships/image" Target="../media/image36.svg"/><Relationship Id="rId2" Type="http://schemas.openxmlformats.org/officeDocument/2006/relationships/image" Target="../media/image3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svg"/><Relationship Id="rId4" Type="http://schemas.openxmlformats.org/officeDocument/2006/relationships/image" Target="../media/image33.sv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13" Type="http://schemas.openxmlformats.org/officeDocument/2006/relationships/image" Target="../media/image26.svg"/><Relationship Id="rId3" Type="http://schemas.openxmlformats.org/officeDocument/2006/relationships/image" Target="../media/image8.png"/><Relationship Id="rId7" Type="http://schemas.openxmlformats.org/officeDocument/2006/relationships/image" Target="../media/image36.svg"/><Relationship Id="rId12" Type="http://schemas.openxmlformats.org/officeDocument/2006/relationships/image" Target="../media/image42.emf"/><Relationship Id="rId2" Type="http://schemas.openxmlformats.org/officeDocument/2006/relationships/image" Target="../media/image3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emf"/><Relationship Id="rId11" Type="http://schemas.openxmlformats.org/officeDocument/2006/relationships/image" Target="../media/image41.emf"/><Relationship Id="rId5" Type="http://schemas.openxmlformats.org/officeDocument/2006/relationships/image" Target="../media/image39.emf"/><Relationship Id="rId10" Type="http://schemas.openxmlformats.org/officeDocument/2006/relationships/image" Target="../media/image33.svg"/><Relationship Id="rId4" Type="http://schemas.openxmlformats.org/officeDocument/2006/relationships/image" Target="../media/image38.emf"/><Relationship Id="rId9" Type="http://schemas.openxmlformats.org/officeDocument/2006/relationships/image" Target="../media/image32.svg"/><Relationship Id="rId14" Type="http://schemas.openxmlformats.org/officeDocument/2006/relationships/image" Target="../media/image43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oreillymedia.github.io/production-resources/illustrations/" TargetMode="Externa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F6990-D6F8-D6D2-CC22-6BD94E95B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Building Agentic Solutions with Microsoft Foundry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407718-4A92-1A92-1E11-DEFC8507A4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Illustration Figures</a:t>
            </a:r>
          </a:p>
        </p:txBody>
      </p:sp>
    </p:spTree>
    <p:extLst>
      <p:ext uri="{BB962C8B-B14F-4D97-AF65-F5344CB8AC3E}">
        <p14:creationId xmlns:p14="http://schemas.microsoft.com/office/powerpoint/2010/main" val="38862492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iagram showing Foundry resource containing multiple projects, each with deployments and connections.">
            <a:extLst>
              <a:ext uri="{FF2B5EF4-FFF2-40B4-BE49-F238E27FC236}">
                <a16:creationId xmlns:a16="http://schemas.microsoft.com/office/drawing/2014/main" id="{12EEA84E-8776-00EF-5D97-05E8737B61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7866" y="3166424"/>
            <a:ext cx="5524500" cy="3667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39DD77-409D-94ED-8A62-6F53CBB88ADD}"/>
              </a:ext>
            </a:extLst>
          </p:cNvPr>
          <p:cNvSpPr/>
          <p:nvPr/>
        </p:nvSpPr>
        <p:spPr>
          <a:xfrm>
            <a:off x="962568" y="732317"/>
            <a:ext cx="4456090" cy="2434107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Foundry Resource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FAF0893-8AEC-1DBB-B036-2949BA0795A0}"/>
              </a:ext>
            </a:extLst>
          </p:cNvPr>
          <p:cNvSpPr/>
          <p:nvPr/>
        </p:nvSpPr>
        <p:spPr>
          <a:xfrm>
            <a:off x="2410311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E630FB-2D59-D6DB-B847-29F7E0317AFA}"/>
              </a:ext>
            </a:extLst>
          </p:cNvPr>
          <p:cNvSpPr/>
          <p:nvPr/>
        </p:nvSpPr>
        <p:spPr>
          <a:xfrm>
            <a:off x="1183452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E9103F9-368F-E4D0-C17C-BF0F1C74D31A}"/>
              </a:ext>
            </a:extLst>
          </p:cNvPr>
          <p:cNvSpPr/>
          <p:nvPr/>
        </p:nvSpPr>
        <p:spPr>
          <a:xfrm>
            <a:off x="4117733" y="1494888"/>
            <a:ext cx="1080042" cy="69452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i="1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92B776-2029-F35D-E69F-FB22F1454014}"/>
              </a:ext>
            </a:extLst>
          </p:cNvPr>
          <p:cNvSpPr txBox="1"/>
          <p:nvPr/>
        </p:nvSpPr>
        <p:spPr>
          <a:xfrm>
            <a:off x="3637170" y="1657482"/>
            <a:ext cx="333746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3CF4078-AF58-188A-DF99-E08A01A42DFE}"/>
              </a:ext>
            </a:extLst>
          </p:cNvPr>
          <p:cNvSpPr/>
          <p:nvPr/>
        </p:nvSpPr>
        <p:spPr>
          <a:xfrm>
            <a:off x="1183452" y="2534516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 + Governance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3C89E23-8123-0234-D0F1-F39C80D61B78}"/>
              </a:ext>
            </a:extLst>
          </p:cNvPr>
          <p:cNvCxnSpPr>
            <a:stCxn id="8" idx="3"/>
          </p:cNvCxnSpPr>
          <p:nvPr/>
        </p:nvCxnSpPr>
        <p:spPr>
          <a:xfrm>
            <a:off x="5197775" y="1842148"/>
            <a:ext cx="59127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373EA2-E891-EE8A-A28C-9322032A5F17}"/>
              </a:ext>
            </a:extLst>
          </p:cNvPr>
          <p:cNvSpPr txBox="1"/>
          <p:nvPr/>
        </p:nvSpPr>
        <p:spPr>
          <a:xfrm>
            <a:off x="5825155" y="1518982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Configure Identities, RBAC, Monitoring,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21F8B3-1DDB-194B-0435-0F2F79CBA773}"/>
              </a:ext>
            </a:extLst>
          </p:cNvPr>
          <p:cNvSpPr txBox="1"/>
          <p:nvPr/>
        </p:nvSpPr>
        <p:spPr>
          <a:xfrm>
            <a:off x="2183860" y="3429000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/>
              <a:t>Connect to Tools and Knowledge bases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53FAC2D-AAEE-099D-6EBF-C4AE11D1CF5E}"/>
              </a:ext>
            </a:extLst>
          </p:cNvPr>
          <p:cNvCxnSpPr>
            <a:cxnSpLocks/>
            <a:stCxn id="10" idx="2"/>
            <a:endCxn id="15" idx="0"/>
          </p:cNvCxnSpPr>
          <p:nvPr/>
        </p:nvCxnSpPr>
        <p:spPr>
          <a:xfrm flipH="1">
            <a:off x="3190613" y="2903848"/>
            <a:ext cx="1" cy="52515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5807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373B790-295F-D9C9-ECAF-274F835713B8}"/>
              </a:ext>
            </a:extLst>
          </p:cNvPr>
          <p:cNvSpPr/>
          <p:nvPr/>
        </p:nvSpPr>
        <p:spPr>
          <a:xfrm>
            <a:off x="1683600" y="1280957"/>
            <a:ext cx="8633879" cy="32986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807674-F982-3E42-18FF-10D7E9818E10}"/>
              </a:ext>
            </a:extLst>
          </p:cNvPr>
          <p:cNvSpPr/>
          <p:nvPr/>
        </p:nvSpPr>
        <p:spPr>
          <a:xfrm>
            <a:off x="3993377" y="4394954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Security, Compliance, and Governance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504FE7B-F946-B4E5-5540-DCBF24C5EE02}"/>
              </a:ext>
            </a:extLst>
          </p:cNvPr>
          <p:cNvSpPr/>
          <p:nvPr/>
        </p:nvSpPr>
        <p:spPr>
          <a:xfrm>
            <a:off x="2120712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CD72E2D-BA5E-4BD0-251B-D709E59BA6AA}"/>
              </a:ext>
            </a:extLst>
          </p:cNvPr>
          <p:cNvSpPr/>
          <p:nvPr/>
        </p:nvSpPr>
        <p:spPr>
          <a:xfrm>
            <a:off x="5547360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IQ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00E6D5-7A21-352C-E165-8534FCB5922A}"/>
              </a:ext>
            </a:extLst>
          </p:cNvPr>
          <p:cNvSpPr/>
          <p:nvPr/>
        </p:nvSpPr>
        <p:spPr>
          <a:xfrm>
            <a:off x="3834036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FF2ADF-7ABC-2B4F-15DA-147A653CA05E}"/>
              </a:ext>
            </a:extLst>
          </p:cNvPr>
          <p:cNvSpPr/>
          <p:nvPr/>
        </p:nvSpPr>
        <p:spPr>
          <a:xfrm>
            <a:off x="7260684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911A12B-43CF-B03D-9C15-EC0C073F267F}"/>
              </a:ext>
            </a:extLst>
          </p:cNvPr>
          <p:cNvSpPr/>
          <p:nvPr/>
        </p:nvSpPr>
        <p:spPr>
          <a:xfrm>
            <a:off x="8974008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Local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9E82D6B-67A5-FB5E-86C8-E494906EBA72}"/>
              </a:ext>
            </a:extLst>
          </p:cNvPr>
          <p:cNvSpPr/>
          <p:nvPr/>
        </p:nvSpPr>
        <p:spPr>
          <a:xfrm>
            <a:off x="2120712" y="3075483"/>
            <a:ext cx="7950576" cy="52173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Control Plane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8A0002D-68DE-F2E3-7AE8-155E2AE2F385}"/>
              </a:ext>
            </a:extLst>
          </p:cNvPr>
          <p:cNvSpPr/>
          <p:nvPr/>
        </p:nvSpPr>
        <p:spPr>
          <a:xfrm>
            <a:off x="2120712" y="3903751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Cloud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75A5F02-D45E-7075-0A8E-DE47614A9350}"/>
              </a:ext>
            </a:extLst>
          </p:cNvPr>
          <p:cNvSpPr/>
          <p:nvPr/>
        </p:nvSpPr>
        <p:spPr>
          <a:xfrm>
            <a:off x="8974008" y="3900228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Edge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59E589C-158C-8464-335B-8E038EB59CAF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3217992" y="4084894"/>
            <a:ext cx="5756016" cy="352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0" name="Picture 6">
            <a:extLst>
              <a:ext uri="{FF2B5EF4-FFF2-40B4-BE49-F238E27FC236}">
                <a16:creationId xmlns:a16="http://schemas.microsoft.com/office/drawing/2014/main" id="{8D6EF364-A0CD-1E0B-E3D9-D7610B0BA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6452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584812A5-BC6A-1A0C-EC5F-293C5EE934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3100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5C2BE62-4319-90A2-F77A-43FBCCB45A92}"/>
              </a:ext>
            </a:extLst>
          </p:cNvPr>
          <p:cNvSpPr txBox="1"/>
          <p:nvPr/>
        </p:nvSpPr>
        <p:spPr>
          <a:xfrm>
            <a:off x="169992" y="637414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Microsoft Foundry documentation | Microsoft Learn</a:t>
            </a:r>
            <a:endParaRPr lang="en-US" dirty="0"/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2C06DA4A-A0CA-3F11-FBF2-7675DC8920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9748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BBE57FCA-085E-B37C-A718-A5115481F5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6424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DCAAB39-A56E-0DEE-C6B4-7E5D07F0EE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05387" y="3107749"/>
            <a:ext cx="457200" cy="4572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9F45F68D-2016-AE28-5FB4-29299FA729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39776" y="1698160"/>
            <a:ext cx="685800" cy="68580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220717FD-C295-A74B-1DD9-B84C288BFAF5}"/>
              </a:ext>
            </a:extLst>
          </p:cNvPr>
          <p:cNvGrpSpPr/>
          <p:nvPr/>
        </p:nvGrpSpPr>
        <p:grpSpPr>
          <a:xfrm>
            <a:off x="4468860" y="550330"/>
            <a:ext cx="3254280" cy="685800"/>
            <a:chOff x="4558421" y="553105"/>
            <a:chExt cx="3254280" cy="68580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37A2444-6EF1-C6ED-5009-47471D8E1AF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58421" y="553105"/>
              <a:ext cx="750646" cy="6858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F52B155-53E9-CC0C-9CB8-93574EE705D4}"/>
                </a:ext>
              </a:extLst>
            </p:cNvPr>
            <p:cNvSpPr txBox="1"/>
            <p:nvPr/>
          </p:nvSpPr>
          <p:spPr>
            <a:xfrm>
              <a:off x="5309067" y="634395"/>
              <a:ext cx="250363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Microsoft Foundry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19023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6409C35-8811-C77F-54C2-0BC7A96CBEB6}"/>
              </a:ext>
            </a:extLst>
          </p:cNvPr>
          <p:cNvSpPr txBox="1"/>
          <p:nvPr/>
        </p:nvSpPr>
        <p:spPr>
          <a:xfrm>
            <a:off x="563218" y="543094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https://carbon.now.sh/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291CA3-97E0-03B5-F1F6-61568AF37352}"/>
              </a:ext>
            </a:extLst>
          </p:cNvPr>
          <p:cNvSpPr txBox="1"/>
          <p:nvPr/>
        </p:nvSpPr>
        <p:spPr>
          <a:xfrm>
            <a:off x="563218" y="599067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Theme: One Light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8CB0BC-0057-D455-D8D7-560FEF81B8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4917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322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50F46-8669-8B2D-7690-E25DD2E63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1641B2C3-3E54-CFD6-A752-0AC425AFFCA6}"/>
              </a:ext>
            </a:extLst>
          </p:cNvPr>
          <p:cNvSpPr/>
          <p:nvPr/>
        </p:nvSpPr>
        <p:spPr>
          <a:xfrm>
            <a:off x="8482515" y="2718435"/>
            <a:ext cx="247650" cy="2476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84DF503-3BC6-84E0-6FFB-3B32B203E1CB}"/>
              </a:ext>
            </a:extLst>
          </p:cNvPr>
          <p:cNvSpPr/>
          <p:nvPr/>
        </p:nvSpPr>
        <p:spPr>
          <a:xfrm>
            <a:off x="819950" y="617219"/>
            <a:ext cx="10552099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Host (AI Application)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3675B45-9C5A-DB3C-5478-881C7B1BD00F}"/>
              </a:ext>
            </a:extLst>
          </p:cNvPr>
          <p:cNvSpPr/>
          <p:nvPr/>
        </p:nvSpPr>
        <p:spPr>
          <a:xfrm>
            <a:off x="1553658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E726389-504C-D4C8-91C7-AF40D8E5E559}"/>
              </a:ext>
            </a:extLst>
          </p:cNvPr>
          <p:cNvSpPr/>
          <p:nvPr/>
        </p:nvSpPr>
        <p:spPr>
          <a:xfrm>
            <a:off x="4778915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FC3ABB-2BFB-C405-42FE-2ED02F4EA5C4}"/>
              </a:ext>
            </a:extLst>
          </p:cNvPr>
          <p:cNvSpPr/>
          <p:nvPr/>
        </p:nvSpPr>
        <p:spPr>
          <a:xfrm>
            <a:off x="8004174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F4543D6-02D0-038C-12A8-DB37F7A273CE}"/>
              </a:ext>
            </a:extLst>
          </p:cNvPr>
          <p:cNvSpPr/>
          <p:nvPr/>
        </p:nvSpPr>
        <p:spPr>
          <a:xfrm>
            <a:off x="1553658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A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Local Filesystem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78DD490-0572-9417-BBD7-3FF5F8A9E3D8}"/>
              </a:ext>
            </a:extLst>
          </p:cNvPr>
          <p:cNvSpPr/>
          <p:nvPr/>
        </p:nvSpPr>
        <p:spPr>
          <a:xfrm>
            <a:off x="4778915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B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Database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4622E36-7A33-D496-1202-F85F8B8E5A75}"/>
              </a:ext>
            </a:extLst>
          </p:cNvPr>
          <p:cNvSpPr/>
          <p:nvPr/>
        </p:nvSpPr>
        <p:spPr>
          <a:xfrm>
            <a:off x="8004172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C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API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D059445-29E0-0BB8-E8BA-0013ADBA930C}"/>
              </a:ext>
            </a:extLst>
          </p:cNvPr>
          <p:cNvCxnSpPr>
            <a:cxnSpLocks/>
            <a:stCxn id="4" idx="2"/>
            <a:endCxn id="15" idx="0"/>
          </p:cNvCxnSpPr>
          <p:nvPr/>
        </p:nvCxnSpPr>
        <p:spPr>
          <a:xfrm>
            <a:off x="2870742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7BB8C0-5CB6-3A94-820B-418CFFCE9D38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6095999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FEBFCBE-6607-A910-FF7B-C1762F4684EF}"/>
              </a:ext>
            </a:extLst>
          </p:cNvPr>
          <p:cNvCxnSpPr>
            <a:cxnSpLocks/>
            <a:stCxn id="13" idx="2"/>
            <a:endCxn id="17" idx="0"/>
          </p:cNvCxnSpPr>
          <p:nvPr/>
        </p:nvCxnSpPr>
        <p:spPr>
          <a:xfrm flipH="1">
            <a:off x="9321256" y="1714501"/>
            <a:ext cx="2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E37A76D-0F39-82E2-974B-B04FAACABE32}"/>
              </a:ext>
            </a:extLst>
          </p:cNvPr>
          <p:cNvCxnSpPr>
            <a:cxnSpLocks/>
            <a:stCxn id="9" idx="2"/>
            <a:endCxn id="31" idx="0"/>
          </p:cNvCxnSpPr>
          <p:nvPr/>
        </p:nvCxnSpPr>
        <p:spPr>
          <a:xfrm rot="16200000" flipH="1">
            <a:off x="6849202" y="961297"/>
            <a:ext cx="1003934" cy="2510341"/>
          </a:xfrm>
          <a:prstGeom prst="bentConnector3">
            <a:avLst>
              <a:gd name="adj1" fmla="val 61385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62480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agram that shows an agent receiving user inputs on the left, processing them through the model and instructions in the center, and producing outputs on the right. A bidirectional arrow below the agent connects to tools, indicating the agent can call tools during processing to retrieve knowledge or take actions.">
            <a:extLst>
              <a:ext uri="{FF2B5EF4-FFF2-40B4-BE49-F238E27FC236}">
                <a16:creationId xmlns:a16="http://schemas.microsoft.com/office/drawing/2014/main" id="{84BAA02D-198C-8FEB-DDC7-5BF0DBB7B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956686" y="3748932"/>
            <a:ext cx="7589520" cy="315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D0B5B93-017C-38BF-D1E2-3FC17585D737}"/>
              </a:ext>
            </a:extLst>
          </p:cNvPr>
          <p:cNvSpPr/>
          <p:nvPr/>
        </p:nvSpPr>
        <p:spPr>
          <a:xfrm>
            <a:off x="5189220" y="609599"/>
            <a:ext cx="1813560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566B249-41E8-70FF-C1BD-2C614E44E77F}"/>
              </a:ext>
            </a:extLst>
          </p:cNvPr>
          <p:cNvSpPr/>
          <p:nvPr/>
        </p:nvSpPr>
        <p:spPr>
          <a:xfrm>
            <a:off x="4272280" y="2855243"/>
            <a:ext cx="3642358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 Calls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166577C-6B48-5754-383D-478B8B3FA9BD}"/>
              </a:ext>
            </a:extLst>
          </p:cNvPr>
          <p:cNvSpPr/>
          <p:nvPr/>
        </p:nvSpPr>
        <p:spPr>
          <a:xfrm>
            <a:off x="7795258" y="626664"/>
            <a:ext cx="3383280" cy="1773636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9BC9BDF-2C43-4EC0-746F-536C87A558E6}"/>
              </a:ext>
            </a:extLst>
          </p:cNvPr>
          <p:cNvSpPr/>
          <p:nvPr/>
        </p:nvSpPr>
        <p:spPr>
          <a:xfrm>
            <a:off x="823808" y="609599"/>
            <a:ext cx="3383280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Input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637FF2-78C8-02A4-8845-916F66F7364D}"/>
              </a:ext>
            </a:extLst>
          </p:cNvPr>
          <p:cNvSpPr/>
          <p:nvPr/>
        </p:nvSpPr>
        <p:spPr>
          <a:xfrm>
            <a:off x="5425880" y="1469801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Instructions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E14E21-FA90-20E0-BD54-1EB35C39B056}"/>
              </a:ext>
            </a:extLst>
          </p:cNvPr>
          <p:cNvSpPr/>
          <p:nvPr/>
        </p:nvSpPr>
        <p:spPr>
          <a:xfrm>
            <a:off x="5425881" y="1039700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4C76365-E8A1-1FA2-FBB8-3991FB9D1D13}"/>
              </a:ext>
            </a:extLst>
          </p:cNvPr>
          <p:cNvSpPr/>
          <p:nvPr/>
        </p:nvSpPr>
        <p:spPr>
          <a:xfrm>
            <a:off x="5425879" y="1899902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</a:t>
            </a:r>
          </a:p>
        </p:txBody>
      </p:sp>
      <p:pic>
        <p:nvPicPr>
          <p:cNvPr id="10" name="Graphic 9" descr="Brain with solid fill">
            <a:extLst>
              <a:ext uri="{FF2B5EF4-FFF2-40B4-BE49-F238E27FC236}">
                <a16:creationId xmlns:a16="http://schemas.microsoft.com/office/drawing/2014/main" id="{F81D149A-46A0-A0F2-40BC-1E0C0F7C3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6099" y="3296865"/>
            <a:ext cx="457200" cy="457200"/>
          </a:xfrm>
          <a:prstGeom prst="rect">
            <a:avLst/>
          </a:prstGeom>
        </p:spPr>
      </p:pic>
      <p:pic>
        <p:nvPicPr>
          <p:cNvPr id="12" name="Graphic 11" descr="Single gear with solid fill">
            <a:extLst>
              <a:ext uri="{FF2B5EF4-FFF2-40B4-BE49-F238E27FC236}">
                <a16:creationId xmlns:a16="http://schemas.microsoft.com/office/drawing/2014/main" id="{030E2C5E-3E11-DAAD-16E3-271D6A0A4F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64859" y="3293392"/>
            <a:ext cx="457200" cy="457200"/>
          </a:xfrm>
          <a:prstGeom prst="rect">
            <a:avLst/>
          </a:prstGeom>
        </p:spPr>
      </p:pic>
      <p:pic>
        <p:nvPicPr>
          <p:cNvPr id="14" name="Graphic 13" descr="Magnifying glass with solid fill">
            <a:extLst>
              <a:ext uri="{FF2B5EF4-FFF2-40B4-BE49-F238E27FC236}">
                <a16:creationId xmlns:a16="http://schemas.microsoft.com/office/drawing/2014/main" id="{E1C69C60-7208-0B12-1452-1A5E8DB2B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33619" y="3291732"/>
            <a:ext cx="457200" cy="457200"/>
          </a:xfrm>
          <a:prstGeom prst="rect">
            <a:avLst/>
          </a:prstGeom>
        </p:spPr>
      </p:pic>
      <p:pic>
        <p:nvPicPr>
          <p:cNvPr id="16" name="Graphic 15" descr="Table with solid fill">
            <a:extLst>
              <a:ext uri="{FF2B5EF4-FFF2-40B4-BE49-F238E27FC236}">
                <a16:creationId xmlns:a16="http://schemas.microsoft.com/office/drawing/2014/main" id="{B5676005-E079-2A3B-089C-6566A8AAC6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951350" y="1113916"/>
            <a:ext cx="457200" cy="457200"/>
          </a:xfrm>
          <a:prstGeom prst="rect">
            <a:avLst/>
          </a:prstGeom>
        </p:spPr>
      </p:pic>
      <p:pic>
        <p:nvPicPr>
          <p:cNvPr id="18" name="Graphic 17" descr="Chat bubble with solid fill">
            <a:extLst>
              <a:ext uri="{FF2B5EF4-FFF2-40B4-BE49-F238E27FC236}">
                <a16:creationId xmlns:a16="http://schemas.microsoft.com/office/drawing/2014/main" id="{3C989B8B-DED4-B55D-CC71-F1E215EF7E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71197" y="1123949"/>
            <a:ext cx="457200" cy="457200"/>
          </a:xfrm>
          <a:prstGeom prst="rect">
            <a:avLst/>
          </a:prstGeom>
        </p:spPr>
      </p:pic>
      <p:pic>
        <p:nvPicPr>
          <p:cNvPr id="20" name="Graphic 19" descr="Speech with solid fill">
            <a:extLst>
              <a:ext uri="{FF2B5EF4-FFF2-40B4-BE49-F238E27FC236}">
                <a16:creationId xmlns:a16="http://schemas.microsoft.com/office/drawing/2014/main" id="{8F949B6B-BC5B-F17A-DDE0-890881F6E6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02499" y="1141015"/>
            <a:ext cx="457200" cy="457200"/>
          </a:xfrm>
          <a:prstGeom prst="rect">
            <a:avLst/>
          </a:prstGeom>
        </p:spPr>
      </p:pic>
      <p:pic>
        <p:nvPicPr>
          <p:cNvPr id="22" name="Graphic 21" descr="Ringer with solid fill">
            <a:extLst>
              <a:ext uri="{FF2B5EF4-FFF2-40B4-BE49-F238E27FC236}">
                <a16:creationId xmlns:a16="http://schemas.microsoft.com/office/drawing/2014/main" id="{31B1C6DC-A0E0-5DD4-461A-CD4ED368BA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286848" y="1123949"/>
            <a:ext cx="457200" cy="457200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FBB3EA1-6050-7099-569B-D76BD8F80060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>
            <a:off x="4207088" y="1504950"/>
            <a:ext cx="982132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8013E43-9914-71DD-8256-A57FB83385BD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7002780" y="1504950"/>
            <a:ext cx="792478" cy="853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47803182-198F-F147-4FA2-48DE67FF9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9560230"/>
              </p:ext>
            </p:extLst>
          </p:nvPr>
        </p:nvGraphicFramePr>
        <p:xfrm>
          <a:off x="916517" y="1571116"/>
          <a:ext cx="3197862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595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3826947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User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System Events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Agent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13CEFDE5-BB13-7FE2-5227-4B42AA1FC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369039"/>
              </p:ext>
            </p:extLst>
          </p:nvPr>
        </p:nvGraphicFramePr>
        <p:xfrm>
          <a:off x="4494528" y="3748932"/>
          <a:ext cx="319786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595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3826947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Retrieval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Actions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Memory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02E9900A-996C-DAAA-125C-D960B4466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753363"/>
              </p:ext>
            </p:extLst>
          </p:nvPr>
        </p:nvGraphicFramePr>
        <p:xfrm>
          <a:off x="8093204" y="1571116"/>
          <a:ext cx="2787388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369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39369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Agent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Structured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Output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pic>
        <p:nvPicPr>
          <p:cNvPr id="38" name="Graphic 37" descr="Chat bubble with solid fill">
            <a:extLst>
              <a:ext uri="{FF2B5EF4-FFF2-40B4-BE49-F238E27FC236}">
                <a16:creationId xmlns:a16="http://schemas.microsoft.com/office/drawing/2014/main" id="{76B4E836-5AE0-07B8-D379-E54786753A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65246" y="1141015"/>
            <a:ext cx="457200" cy="457200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60210D5-1CB7-617C-BD88-70D36F38AC6C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flipH="1">
            <a:off x="6093459" y="2400300"/>
            <a:ext cx="2541" cy="454943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6963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CEAC593-D8CD-61FE-1EC9-C96369134D92}"/>
              </a:ext>
            </a:extLst>
          </p:cNvPr>
          <p:cNvSpPr/>
          <p:nvPr/>
        </p:nvSpPr>
        <p:spPr>
          <a:xfrm>
            <a:off x="182881" y="1961989"/>
            <a:ext cx="3841894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Microsoft Foundry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C8D5DE6-7408-3D08-510F-FAA473A61DAF}"/>
              </a:ext>
            </a:extLst>
          </p:cNvPr>
          <p:cNvGrpSpPr/>
          <p:nvPr/>
        </p:nvGrpSpPr>
        <p:grpSpPr>
          <a:xfrm>
            <a:off x="492634" y="2520363"/>
            <a:ext cx="3213551" cy="870652"/>
            <a:chOff x="1094614" y="2520363"/>
            <a:chExt cx="3213551" cy="870652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A912725C-460A-B2C6-B45E-AFDA16950EF5}"/>
                </a:ext>
              </a:extLst>
            </p:cNvPr>
            <p:cNvSpPr/>
            <p:nvPr/>
          </p:nvSpPr>
          <p:spPr>
            <a:xfrm>
              <a:off x="1094614" y="2520363"/>
              <a:ext cx="1340237" cy="870652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Agent</a:t>
              </a: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E5663406-1A83-EB63-FD18-62122032389D}"/>
                </a:ext>
              </a:extLst>
            </p:cNvPr>
            <p:cNvSpPr/>
            <p:nvPr/>
          </p:nvSpPr>
          <p:spPr>
            <a:xfrm>
              <a:off x="2967928" y="2520363"/>
              <a:ext cx="1340237" cy="870652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MCP Client</a:t>
              </a: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06BC94-073A-00F0-7B7A-53ABD805A1C4}"/>
              </a:ext>
            </a:extLst>
          </p:cNvPr>
          <p:cNvSpPr/>
          <p:nvPr/>
        </p:nvSpPr>
        <p:spPr>
          <a:xfrm>
            <a:off x="5159832" y="804800"/>
            <a:ext cx="2406383" cy="405919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6DD466-80C6-ABEA-A847-87533B9DAE34}"/>
              </a:ext>
            </a:extLst>
          </p:cNvPr>
          <p:cNvSpPr/>
          <p:nvPr/>
        </p:nvSpPr>
        <p:spPr>
          <a:xfrm>
            <a:off x="5692902" y="2520363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File Storage MCP Server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3581B78-846C-5C2B-AD8B-2A27DE6133B0}"/>
              </a:ext>
            </a:extLst>
          </p:cNvPr>
          <p:cNvSpPr/>
          <p:nvPr/>
        </p:nvSpPr>
        <p:spPr>
          <a:xfrm>
            <a:off x="5692901" y="1412582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Third-Party MCP Server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CA2D4C7-E2C9-BE70-32B0-9E817B3AD4C5}"/>
              </a:ext>
            </a:extLst>
          </p:cNvPr>
          <p:cNvSpPr/>
          <p:nvPr/>
        </p:nvSpPr>
        <p:spPr>
          <a:xfrm>
            <a:off x="5692900" y="3628144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Database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MCP Server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9A04995-C98F-AF75-E6DC-AFDAD76B392B}"/>
              </a:ext>
            </a:extLst>
          </p:cNvPr>
          <p:cNvSpPr/>
          <p:nvPr/>
        </p:nvSpPr>
        <p:spPr>
          <a:xfrm>
            <a:off x="9067023" y="804800"/>
            <a:ext cx="2406383" cy="405919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External Services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5A15264-2CA2-94CF-802C-8F148D56ECAF}"/>
              </a:ext>
            </a:extLst>
          </p:cNvPr>
          <p:cNvSpPr/>
          <p:nvPr/>
        </p:nvSpPr>
        <p:spPr>
          <a:xfrm>
            <a:off x="9600093" y="2520363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Blob Storage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9FB5A06-89C1-2865-4EBC-BFD77D31C7E0}"/>
              </a:ext>
            </a:extLst>
          </p:cNvPr>
          <p:cNvSpPr/>
          <p:nvPr/>
        </p:nvSpPr>
        <p:spPr>
          <a:xfrm>
            <a:off x="9600092" y="1412582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SaaS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2A69AFF-6121-37F3-566A-DE1AA9EF9D38}"/>
              </a:ext>
            </a:extLst>
          </p:cNvPr>
          <p:cNvSpPr/>
          <p:nvPr/>
        </p:nvSpPr>
        <p:spPr>
          <a:xfrm>
            <a:off x="9600091" y="3628144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Database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A8B2231-37D8-6CF7-3B6C-0CA623A3A20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1832871" y="2955689"/>
            <a:ext cx="53307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6AF12AA-901C-45D0-7A07-FC55AAB45F61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7033138" y="1847908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39D667D-0422-43D5-28F2-605AE5941F22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7033139" y="2955689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A2CC6C4-B8F4-865E-18AE-A24BC6F4AF3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7033137" y="4063470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97CD07A-2870-7437-2F7C-3F75E24EB5CF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 flipV="1">
            <a:off x="3706185" y="1847908"/>
            <a:ext cx="1986716" cy="11077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18C5FA9F-3761-6651-D33F-2C24793118A2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706185" y="2955689"/>
            <a:ext cx="1986715" cy="11077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3E6F43D-CF04-FED6-7F22-B3883E121EF8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3706185" y="2955689"/>
            <a:ext cx="198671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0545247-9B5D-B18C-25FF-A2F607D94783}"/>
              </a:ext>
            </a:extLst>
          </p:cNvPr>
          <p:cNvSpPr txBox="1"/>
          <p:nvPr/>
        </p:nvSpPr>
        <p:spPr>
          <a:xfrm>
            <a:off x="7920517" y="1478522"/>
            <a:ext cx="7922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API Call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F2CCF29-E962-3B49-3A2F-5B7C8B1E62E0}"/>
              </a:ext>
            </a:extLst>
          </p:cNvPr>
          <p:cNvSpPr txBox="1"/>
          <p:nvPr/>
        </p:nvSpPr>
        <p:spPr>
          <a:xfrm>
            <a:off x="7739820" y="2586250"/>
            <a:ext cx="1153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Python SDK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83BC4EA-D032-66AD-9B5E-0313282962E7}"/>
              </a:ext>
            </a:extLst>
          </p:cNvPr>
          <p:cNvSpPr txBox="1"/>
          <p:nvPr/>
        </p:nvSpPr>
        <p:spPr>
          <a:xfrm>
            <a:off x="7794098" y="3694030"/>
            <a:ext cx="1045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SQL Query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F84FB3F3-23CB-15B6-FD3C-E0EC33E4649A}"/>
              </a:ext>
            </a:extLst>
          </p:cNvPr>
          <p:cNvSpPr/>
          <p:nvPr/>
        </p:nvSpPr>
        <p:spPr>
          <a:xfrm rot="16200000">
            <a:off x="4167506" y="2771023"/>
            <a:ext cx="105477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JSON-RPC</a:t>
            </a:r>
            <a:endParaRPr lang="en-US" i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64897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093A9C9-AC19-13DF-070B-47915CA16540}"/>
              </a:ext>
            </a:extLst>
          </p:cNvPr>
          <p:cNvSpPr/>
          <p:nvPr/>
        </p:nvSpPr>
        <p:spPr>
          <a:xfrm>
            <a:off x="2933281" y="49609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Retrieval Agents: Query analysis and planning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72BA75-F1E5-3FE4-8499-99490E2C15B3}"/>
              </a:ext>
            </a:extLst>
          </p:cNvPr>
          <p:cNvSpPr/>
          <p:nvPr/>
        </p:nvSpPr>
        <p:spPr>
          <a:xfrm>
            <a:off x="4805537" y="31143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854ADE8-F06B-9F26-91C2-3A9892E48DAE}"/>
              </a:ext>
            </a:extLst>
          </p:cNvPr>
          <p:cNvSpPr/>
          <p:nvPr/>
        </p:nvSpPr>
        <p:spPr>
          <a:xfrm>
            <a:off x="2933281" y="183999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D6471B-9868-9E31-CDE5-11FB5406EC6D}"/>
              </a:ext>
            </a:extLst>
          </p:cNvPr>
          <p:cNvSpPr/>
          <p:nvPr/>
        </p:nvSpPr>
        <p:spPr>
          <a:xfrm>
            <a:off x="4805537" y="165532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Router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BB63F4-ED09-21FE-8751-04E01AFF0D06}"/>
              </a:ext>
            </a:extLst>
          </p:cNvPr>
          <p:cNvSpPr/>
          <p:nvPr/>
        </p:nvSpPr>
        <p:spPr>
          <a:xfrm>
            <a:off x="2933281" y="318388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4887E38-DD48-A03C-B28D-2E196FFD81D6}"/>
              </a:ext>
            </a:extLst>
          </p:cNvPr>
          <p:cNvSpPr/>
          <p:nvPr/>
        </p:nvSpPr>
        <p:spPr>
          <a:xfrm>
            <a:off x="4805537" y="299922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1179975-6D14-9A73-F6AF-EB48BB4B01D5}"/>
              </a:ext>
            </a:extLst>
          </p:cNvPr>
          <p:cNvSpPr/>
          <p:nvPr/>
        </p:nvSpPr>
        <p:spPr>
          <a:xfrm>
            <a:off x="2933281" y="452778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87A8A04-A0EB-0635-5D50-4C591A01FD85}"/>
              </a:ext>
            </a:extLst>
          </p:cNvPr>
          <p:cNvSpPr/>
          <p:nvPr/>
        </p:nvSpPr>
        <p:spPr>
          <a:xfrm>
            <a:off x="4805537" y="434311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Results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5DF5948-C971-4B39-A3BE-2153A8EEA636}"/>
              </a:ext>
            </a:extLst>
          </p:cNvPr>
          <p:cNvSpPr/>
          <p:nvPr/>
        </p:nvSpPr>
        <p:spPr>
          <a:xfrm>
            <a:off x="2933281" y="5687011"/>
            <a:ext cx="6325438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 Integration: Response Synthesis and Answering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488841C4-B7C7-9477-522B-816A130D46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256614"/>
              </p:ext>
            </p:extLst>
          </p:nvPr>
        </p:nvGraphicFramePr>
        <p:xfrm>
          <a:off x="3122928" y="2099566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SQL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Patient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Vector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JSON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Web Search: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Latest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7701C1B-CC03-0FF1-A238-E5DE6E423C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346733"/>
              </p:ext>
            </p:extLst>
          </p:nvPr>
        </p:nvGraphicFramePr>
        <p:xfrm>
          <a:off x="3122927" y="3552465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Cosmos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600B530-2DEF-F4FD-A3B5-2DF7667730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3539689"/>
              </p:ext>
            </p:extLst>
          </p:nvPr>
        </p:nvGraphicFramePr>
        <p:xfrm>
          <a:off x="3122926" y="4897114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Vector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80006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119B92-3DAB-FFFE-A154-7D9735CB5A30}"/>
              </a:ext>
            </a:extLst>
          </p:cNvPr>
          <p:cNvSpPr/>
          <p:nvPr/>
        </p:nvSpPr>
        <p:spPr>
          <a:xfrm>
            <a:off x="616801" y="1509556"/>
            <a:ext cx="2073059" cy="347392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2FB030-72C0-C615-61E3-8874EDB5B692}"/>
              </a:ext>
            </a:extLst>
          </p:cNvPr>
          <p:cNvSpPr/>
          <p:nvPr/>
        </p:nvSpPr>
        <p:spPr>
          <a:xfrm>
            <a:off x="867128" y="1324891"/>
            <a:ext cx="157240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6E96547-9778-A42C-9F45-E33160AA5534}"/>
              </a:ext>
            </a:extLst>
          </p:cNvPr>
          <p:cNvSpPr/>
          <p:nvPr/>
        </p:nvSpPr>
        <p:spPr>
          <a:xfrm>
            <a:off x="3597491" y="2813019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Index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3BB60D5-76CA-A9ED-C3AE-FC7B38F1C3F2}"/>
              </a:ext>
            </a:extLst>
          </p:cNvPr>
          <p:cNvSpPr/>
          <p:nvPr/>
        </p:nvSpPr>
        <p:spPr>
          <a:xfrm>
            <a:off x="7206977" y="2813018"/>
            <a:ext cx="1340237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pic>
        <p:nvPicPr>
          <p:cNvPr id="7" name="Graphic 6" descr="Database with solid fill">
            <a:extLst>
              <a:ext uri="{FF2B5EF4-FFF2-40B4-BE49-F238E27FC236}">
                <a16:creationId xmlns:a16="http://schemas.microsoft.com/office/drawing/2014/main" id="{BFE9337E-0E41-BD25-9BC2-22B0B07C52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10429" y="1788181"/>
            <a:ext cx="685800" cy="685800"/>
          </a:xfrm>
          <a:prstGeom prst="rect">
            <a:avLst/>
          </a:prstGeom>
        </p:spPr>
      </p:pic>
      <p:pic>
        <p:nvPicPr>
          <p:cNvPr id="8" name="Graphic 7" descr="Document with solid fill">
            <a:extLst>
              <a:ext uri="{FF2B5EF4-FFF2-40B4-BE49-F238E27FC236}">
                <a16:creationId xmlns:a16="http://schemas.microsoft.com/office/drawing/2014/main" id="{FBD7988B-3983-E05A-7FCC-29DBBA1718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310429" y="2843153"/>
            <a:ext cx="685800" cy="685800"/>
          </a:xfrm>
          <a:prstGeom prst="rect">
            <a:avLst/>
          </a:prstGeom>
        </p:spPr>
      </p:pic>
      <p:pic>
        <p:nvPicPr>
          <p:cNvPr id="9" name="Graphic 8" descr="Gears with solid fill">
            <a:extLst>
              <a:ext uri="{FF2B5EF4-FFF2-40B4-BE49-F238E27FC236}">
                <a16:creationId xmlns:a16="http://schemas.microsoft.com/office/drawing/2014/main" id="{31D68DF8-6A08-2505-A3B1-6F7C550CEA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310429" y="3898125"/>
            <a:ext cx="685800" cy="6858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DEB1C91-1889-95C5-CCD9-173007AC1E20}"/>
              </a:ext>
            </a:extLst>
          </p:cNvPr>
          <p:cNvSpPr txBox="1"/>
          <p:nvPr/>
        </p:nvSpPr>
        <p:spPr>
          <a:xfrm>
            <a:off x="1264891" y="2375950"/>
            <a:ext cx="7768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Database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7F89B1-B1CE-968F-CA44-CB29AE26D8C6}"/>
              </a:ext>
            </a:extLst>
          </p:cNvPr>
          <p:cNvSpPr txBox="1"/>
          <p:nvPr/>
        </p:nvSpPr>
        <p:spPr>
          <a:xfrm>
            <a:off x="1197116" y="3495327"/>
            <a:ext cx="912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Documents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6FF3F2-DD9D-64DF-31BB-C4194E7B86B3}"/>
              </a:ext>
            </a:extLst>
          </p:cNvPr>
          <p:cNvSpPr txBox="1"/>
          <p:nvPr/>
        </p:nvSpPr>
        <p:spPr>
          <a:xfrm>
            <a:off x="1422336" y="4483046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APIs</a:t>
            </a:r>
          </a:p>
        </p:txBody>
      </p:sp>
      <p:pic>
        <p:nvPicPr>
          <p:cNvPr id="13" name="Graphic 12" descr="User with solid fill">
            <a:extLst>
              <a:ext uri="{FF2B5EF4-FFF2-40B4-BE49-F238E27FC236}">
                <a16:creationId xmlns:a16="http://schemas.microsoft.com/office/drawing/2014/main" id="{96BAB4E6-5045-1E1E-93EC-9E2D602DA5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731418" y="1327464"/>
            <a:ext cx="685800" cy="6858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133FD24-0E51-C18F-DC0D-05012862BC6A}"/>
              </a:ext>
            </a:extLst>
          </p:cNvPr>
          <p:cNvSpPr txBox="1"/>
          <p:nvPr/>
        </p:nvSpPr>
        <p:spPr>
          <a:xfrm>
            <a:off x="5837714" y="1859375"/>
            <a:ext cx="4732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User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223CD2A-519C-5E26-2A15-B5F069B92302}"/>
              </a:ext>
            </a:extLst>
          </p:cNvPr>
          <p:cNvCxnSpPr>
            <a:cxnSpLocks/>
            <a:stCxn id="4" idx="0"/>
            <a:endCxn id="13" idx="1"/>
          </p:cNvCxnSpPr>
          <p:nvPr/>
        </p:nvCxnSpPr>
        <p:spPr>
          <a:xfrm rot="5400000" flipH="1" flipV="1">
            <a:off x="4429169" y="1510771"/>
            <a:ext cx="1142655" cy="1461843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559034-7A85-3B34-A564-61446578AD9B}"/>
              </a:ext>
            </a:extLst>
          </p:cNvPr>
          <p:cNvSpPr txBox="1"/>
          <p:nvPr/>
        </p:nvSpPr>
        <p:spPr>
          <a:xfrm>
            <a:off x="4269575" y="1663194"/>
            <a:ext cx="5718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Query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089B3EE-2F65-1D88-F136-218C0BC84AB6}"/>
              </a:ext>
            </a:extLst>
          </p:cNvPr>
          <p:cNvCxnSpPr>
            <a:cxnSpLocks/>
            <a:stCxn id="5" idx="0"/>
            <a:endCxn id="13" idx="3"/>
          </p:cNvCxnSpPr>
          <p:nvPr/>
        </p:nvCxnSpPr>
        <p:spPr>
          <a:xfrm rot="16200000" flipV="1">
            <a:off x="6575830" y="1511752"/>
            <a:ext cx="1142654" cy="1459878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86FB239-BA6E-104C-E546-CF3C3B574FF3}"/>
              </a:ext>
            </a:extLst>
          </p:cNvPr>
          <p:cNvSpPr txBox="1"/>
          <p:nvPr/>
        </p:nvSpPr>
        <p:spPr>
          <a:xfrm>
            <a:off x="7077773" y="1663193"/>
            <a:ext cx="799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Response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1064699-9071-77EB-9C94-E9DDF0AD5AE8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 flipV="1">
            <a:off x="2689860" y="3246466"/>
            <a:ext cx="907631" cy="5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3E6D11C-DC37-66ED-444E-45229E77AB10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4941659" y="3246465"/>
            <a:ext cx="2265318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44B2CCA4-3CCA-DA67-6D56-F48A5071DB3E}"/>
              </a:ext>
            </a:extLst>
          </p:cNvPr>
          <p:cNvSpPr/>
          <p:nvPr/>
        </p:nvSpPr>
        <p:spPr>
          <a:xfrm>
            <a:off x="5546929" y="3059668"/>
            <a:ext cx="105477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Context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D798ED8-D9BF-411C-F47B-7E32E9A58041}"/>
              </a:ext>
            </a:extLst>
          </p:cNvPr>
          <p:cNvSpPr txBox="1"/>
          <p:nvPr/>
        </p:nvSpPr>
        <p:spPr>
          <a:xfrm>
            <a:off x="5379542" y="3429000"/>
            <a:ext cx="13895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Prompt, Query,</a:t>
            </a:r>
          </a:p>
          <a:p>
            <a:pPr algn="ctr"/>
            <a:r>
              <a:rPr lang="en-US" sz="1400" dirty="0"/>
              <a:t>and Retrieved Data</a:t>
            </a:r>
          </a:p>
        </p:txBody>
      </p:sp>
    </p:spTree>
    <p:extLst>
      <p:ext uri="{BB962C8B-B14F-4D97-AF65-F5344CB8AC3E}">
        <p14:creationId xmlns:p14="http://schemas.microsoft.com/office/powerpoint/2010/main" val="5068687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agram of the Azure AI Search architecture for agentic retrieval.">
            <a:extLst>
              <a:ext uri="{FF2B5EF4-FFF2-40B4-BE49-F238E27FC236}">
                <a16:creationId xmlns:a16="http://schemas.microsoft.com/office/drawing/2014/main" id="{EC60E7D7-9592-24FA-5E18-751F6025EF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2280" y="4799453"/>
            <a:ext cx="12192000" cy="387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06A36BA-3259-02BA-E8FD-4008E85602F8}"/>
              </a:ext>
            </a:extLst>
          </p:cNvPr>
          <p:cNvSpPr/>
          <p:nvPr/>
        </p:nvSpPr>
        <p:spPr>
          <a:xfrm>
            <a:off x="590131" y="1082037"/>
            <a:ext cx="2313089" cy="1612116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3CBE4A-053C-8640-596E-FCA438EF5A8E}"/>
              </a:ext>
            </a:extLst>
          </p:cNvPr>
          <p:cNvSpPr/>
          <p:nvPr/>
        </p:nvSpPr>
        <p:spPr>
          <a:xfrm>
            <a:off x="779353" y="794908"/>
            <a:ext cx="198204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Knowledge Sources </a:t>
            </a:r>
            <a:r>
              <a:rPr lang="en-US" sz="1400" dirty="0">
                <a:solidFill>
                  <a:schemeClr val="tx1"/>
                </a:solidFill>
              </a:rPr>
              <a:t>(Indexed)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853A8DD-AF2A-60E0-5030-29590308A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279013"/>
              </p:ext>
            </p:extLst>
          </p:nvPr>
        </p:nvGraphicFramePr>
        <p:xfrm>
          <a:off x="779353" y="1451369"/>
          <a:ext cx="1982047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Search Index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Azure Blob Storage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04261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Fabric </a:t>
                      </a:r>
                      <a:r>
                        <a:rPr lang="en-US" b="0" dirty="0" err="1">
                          <a:solidFill>
                            <a:sysClr val="windowText" lastClr="000000"/>
                          </a:solidFill>
                        </a:rPr>
                        <a:t>Onelake</a:t>
                      </a:r>
                      <a:endParaRPr lang="en-US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800507"/>
                  </a:ext>
                </a:extLst>
              </a:tr>
            </a:tbl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2A0140A-4B8D-2702-E7CF-52EA0DCEBB3C}"/>
              </a:ext>
            </a:extLst>
          </p:cNvPr>
          <p:cNvSpPr/>
          <p:nvPr/>
        </p:nvSpPr>
        <p:spPr>
          <a:xfrm>
            <a:off x="4161703" y="2194679"/>
            <a:ext cx="5721437" cy="1404069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1DD30818-84F6-CF80-B405-BA6F52AF3F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27225" y="1741424"/>
            <a:ext cx="457200" cy="457200"/>
          </a:xfrm>
          <a:prstGeom prst="rect">
            <a:avLst/>
          </a:prstGeom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DB96D1BE-0DD0-0713-D1C3-3DE3A8D2ED71}"/>
              </a:ext>
            </a:extLst>
          </p:cNvPr>
          <p:cNvGrpSpPr/>
          <p:nvPr/>
        </p:nvGrpSpPr>
        <p:grpSpPr>
          <a:xfrm>
            <a:off x="4432936" y="2466285"/>
            <a:ext cx="5178970" cy="866894"/>
            <a:chOff x="4523785" y="5200779"/>
            <a:chExt cx="5178970" cy="866894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0E6BB17F-0E4D-C386-1982-985D0F0F0A19}"/>
                </a:ext>
              </a:extLst>
            </p:cNvPr>
            <p:cNvSpPr/>
            <p:nvPr/>
          </p:nvSpPr>
          <p:spPr>
            <a:xfrm>
              <a:off x="4523785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Indexing Engine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2502404-E195-BC9E-46D1-67DD0B4867C6}"/>
                </a:ext>
              </a:extLst>
            </p:cNvPr>
            <p:cNvCxnSpPr>
              <a:cxnSpLocks/>
              <a:stCxn id="12" idx="3"/>
              <a:endCxn id="14" idx="1"/>
            </p:cNvCxnSpPr>
            <p:nvPr/>
          </p:nvCxnSpPr>
          <p:spPr>
            <a:xfrm>
              <a:off x="5867953" y="5634226"/>
              <a:ext cx="573233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1EAE2DE6-CBC0-1892-D217-2EB1383D6350}"/>
                </a:ext>
              </a:extLst>
            </p:cNvPr>
            <p:cNvSpPr/>
            <p:nvPr/>
          </p:nvSpPr>
          <p:spPr>
            <a:xfrm>
              <a:off x="6441186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Knowledge Base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D385EE08-4195-FEB1-92CE-E2F08AEC0904}"/>
                </a:ext>
              </a:extLst>
            </p:cNvPr>
            <p:cNvSpPr/>
            <p:nvPr/>
          </p:nvSpPr>
          <p:spPr>
            <a:xfrm>
              <a:off x="8358587" y="5200779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Query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Engine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EDB932B-5B10-ABF7-6812-6F86DD883464}"/>
                </a:ext>
              </a:extLst>
            </p:cNvPr>
            <p:cNvCxnSpPr>
              <a:cxnSpLocks/>
              <a:stCxn id="16" idx="1"/>
              <a:endCxn id="14" idx="3"/>
            </p:cNvCxnSpPr>
            <p:nvPr/>
          </p:nvCxnSpPr>
          <p:spPr>
            <a:xfrm flipH="1">
              <a:off x="7785354" y="5634226"/>
              <a:ext cx="573233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0B8367E-DED3-2D25-B1AF-FDC2C8A01481}"/>
              </a:ext>
            </a:extLst>
          </p:cNvPr>
          <p:cNvSpPr/>
          <p:nvPr/>
        </p:nvSpPr>
        <p:spPr>
          <a:xfrm>
            <a:off x="593095" y="3377768"/>
            <a:ext cx="2313089" cy="1278052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A6787BC-3A0F-9584-7965-0482CD3B3AAC}"/>
              </a:ext>
            </a:extLst>
          </p:cNvPr>
          <p:cNvSpPr/>
          <p:nvPr/>
        </p:nvSpPr>
        <p:spPr>
          <a:xfrm>
            <a:off x="755651" y="3090640"/>
            <a:ext cx="198204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Knowledge Sources </a:t>
            </a:r>
            <a:r>
              <a:rPr lang="en-US" sz="1400" dirty="0">
                <a:solidFill>
                  <a:schemeClr val="tx1"/>
                </a:solidFill>
              </a:rPr>
              <a:t>(Remote)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C018D9B-FFCB-F4AC-3749-0EE10F7CD9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0640093"/>
              </p:ext>
            </p:extLst>
          </p:nvPr>
        </p:nvGraphicFramePr>
        <p:xfrm>
          <a:off x="736597" y="3747101"/>
          <a:ext cx="1982047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SharePoint on M365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with Bing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800507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8C26FC72-A6B7-0592-62C4-B9205B5E130B}"/>
              </a:ext>
            </a:extLst>
          </p:cNvPr>
          <p:cNvSpPr txBox="1"/>
          <p:nvPr/>
        </p:nvSpPr>
        <p:spPr>
          <a:xfrm>
            <a:off x="4784425" y="1783386"/>
            <a:ext cx="1452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Azure AI Search</a:t>
            </a:r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9096CCB3-27F0-B65F-269E-BBF8BAC30A6D}"/>
              </a:ext>
            </a:extLst>
          </p:cNvPr>
          <p:cNvCxnSpPr>
            <a:cxnSpLocks/>
            <a:stCxn id="24" idx="3"/>
            <a:endCxn id="14" idx="2"/>
          </p:cNvCxnSpPr>
          <p:nvPr/>
        </p:nvCxnSpPr>
        <p:spPr>
          <a:xfrm flipV="1">
            <a:off x="2906184" y="3333179"/>
            <a:ext cx="4116237" cy="683615"/>
          </a:xfrm>
          <a:prstGeom prst="bentConnector2">
            <a:avLst/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0C61436-186C-FADD-09E4-9F73A8FCA2DB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2903221" y="1888096"/>
            <a:ext cx="1258483" cy="10086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D841EC0D-EBD6-5CE8-6DC5-5D0B6B0C0365}"/>
              </a:ext>
            </a:extLst>
          </p:cNvPr>
          <p:cNvSpPr/>
          <p:nvPr/>
        </p:nvSpPr>
        <p:spPr>
          <a:xfrm>
            <a:off x="3011548" y="2119895"/>
            <a:ext cx="1041827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</a:rPr>
              <a:t>Indexing + Enrichment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E9F95B81-DAC1-C3AD-DBDE-9B0467E804DF}"/>
              </a:ext>
            </a:extLst>
          </p:cNvPr>
          <p:cNvSpPr/>
          <p:nvPr/>
        </p:nvSpPr>
        <p:spPr>
          <a:xfrm>
            <a:off x="4644982" y="3729665"/>
            <a:ext cx="1222418" cy="574258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</a:rPr>
              <a:t>Direct Source Retrieval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8DB8E28-0138-EE36-0136-3CAE044CDB91}"/>
              </a:ext>
            </a:extLst>
          </p:cNvPr>
          <p:cNvGrpSpPr/>
          <p:nvPr/>
        </p:nvGrpSpPr>
        <p:grpSpPr>
          <a:xfrm>
            <a:off x="10466680" y="2668113"/>
            <a:ext cx="671979" cy="765562"/>
            <a:chOff x="10110076" y="2694410"/>
            <a:chExt cx="671979" cy="765562"/>
          </a:xfrm>
        </p:grpSpPr>
        <p:pic>
          <p:nvPicPr>
            <p:cNvPr id="41" name="Graphic 40">
              <a:extLst>
                <a:ext uri="{FF2B5EF4-FFF2-40B4-BE49-F238E27FC236}">
                  <a16:creationId xmlns:a16="http://schemas.microsoft.com/office/drawing/2014/main" id="{BBE4E029-6BF4-5A7D-4747-1B580A80CDA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217465" y="2694410"/>
              <a:ext cx="457200" cy="457200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25FE0D2-202A-0F8B-C116-0C0853E85210}"/>
                </a:ext>
              </a:extLst>
            </p:cNvPr>
            <p:cNvSpPr txBox="1"/>
            <p:nvPr/>
          </p:nvSpPr>
          <p:spPr>
            <a:xfrm>
              <a:off x="10110076" y="3090640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Agent</a:t>
              </a:r>
            </a:p>
          </p:txBody>
        </p:sp>
      </p:grp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EC7870B-945A-ABCC-C1D6-C5ACE8058529}"/>
              </a:ext>
            </a:extLst>
          </p:cNvPr>
          <p:cNvCxnSpPr>
            <a:cxnSpLocks/>
            <a:stCxn id="41" idx="1"/>
            <a:endCxn id="8" idx="3"/>
          </p:cNvCxnSpPr>
          <p:nvPr/>
        </p:nvCxnSpPr>
        <p:spPr>
          <a:xfrm flipH="1">
            <a:off x="9883140" y="2896713"/>
            <a:ext cx="690929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89262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EBDB7-571A-26BD-0DDC-EC428319E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7A4DF76-E5D0-B5A1-771E-FF6FC164C892}"/>
              </a:ext>
            </a:extLst>
          </p:cNvPr>
          <p:cNvSpPr/>
          <p:nvPr/>
        </p:nvSpPr>
        <p:spPr>
          <a:xfrm>
            <a:off x="4572000" y="248412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OCR text and detect other items in images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FC2E6E4-3FA0-B1C2-44CA-4FDE763339EA}"/>
              </a:ext>
            </a:extLst>
          </p:cNvPr>
          <p:cNvSpPr/>
          <p:nvPr/>
        </p:nvSpPr>
        <p:spPr>
          <a:xfrm>
            <a:off x="4572000" y="1711154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Detect languages and/or translate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93FC118-1D56-1A6A-3E6F-2E4C93EC5BB5}"/>
              </a:ext>
            </a:extLst>
          </p:cNvPr>
          <p:cNvSpPr/>
          <p:nvPr/>
        </p:nvSpPr>
        <p:spPr>
          <a:xfrm>
            <a:off x="1923639" y="2607713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Chunk large documents into smaller portions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F1F862-E17E-1BF2-68BB-E557944EFB90}"/>
              </a:ext>
            </a:extLst>
          </p:cNvPr>
          <p:cNvSpPr/>
          <p:nvPr/>
        </p:nvSpPr>
        <p:spPr>
          <a:xfrm>
            <a:off x="9589359" y="2607713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Search Index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53DDE5B-F2C9-368A-EB4B-004B47F0142D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1535906" y="3087773"/>
            <a:ext cx="387733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340D823-D62F-C29E-58F1-B5E39213D990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 flipV="1">
            <a:off x="3837081" y="2712720"/>
            <a:ext cx="734919" cy="37505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32CAEE3-52CA-0618-98BB-135A06D4B4AE}"/>
              </a:ext>
            </a:extLst>
          </p:cNvPr>
          <p:cNvSpPr/>
          <p:nvPr/>
        </p:nvSpPr>
        <p:spPr>
          <a:xfrm>
            <a:off x="4572000" y="3257085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Extract key phrases and terms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5DE1353-6451-F2F2-4FDD-C8D856D8703A}"/>
              </a:ext>
            </a:extLst>
          </p:cNvPr>
          <p:cNvSpPr/>
          <p:nvPr/>
        </p:nvSpPr>
        <p:spPr>
          <a:xfrm>
            <a:off x="4572000" y="403005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Extract entities (people, skills, URLs, etc.) </a:t>
            </a:r>
            <a:endParaRPr lang="en-US" i="1" dirty="0">
              <a:solidFill>
                <a:schemeClr val="tx1"/>
              </a:solidFill>
            </a:endParaRPr>
          </a:p>
        </p:txBody>
      </p:sp>
      <p:pic>
        <p:nvPicPr>
          <p:cNvPr id="23" name="Graphic 22" descr="Document with solid fill">
            <a:extLst>
              <a:ext uri="{FF2B5EF4-FFF2-40B4-BE49-F238E27FC236}">
                <a16:creationId xmlns:a16="http://schemas.microsoft.com/office/drawing/2014/main" id="{4B4356EB-DB04-1639-EBB5-9B125D08A9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14929" y="2607713"/>
            <a:ext cx="685800" cy="6858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43B01B8-40E1-CA65-2D85-E7874B50AB9E}"/>
              </a:ext>
            </a:extLst>
          </p:cNvPr>
          <p:cNvSpPr txBox="1"/>
          <p:nvPr/>
        </p:nvSpPr>
        <p:spPr>
          <a:xfrm>
            <a:off x="591364" y="3257085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Documents</a:t>
            </a:r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E6694889-3916-A298-2BD5-0D22502998BD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3837081" y="1939754"/>
            <a:ext cx="734919" cy="11480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06A07C8-FFE6-FC10-054C-D7EC53902858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>
            <a:off x="3837081" y="3087773"/>
            <a:ext cx="734919" cy="3979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3E68473-1A12-B82E-8D58-1A05019A69F6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3837081" y="3087773"/>
            <a:ext cx="734919" cy="11708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322D29AA-6031-8645-B88C-4F31D12DC377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8854440" y="1939754"/>
            <a:ext cx="734919" cy="11480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9A7EA838-C83A-2914-FF9B-922AEE2873B8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8854440" y="2712720"/>
            <a:ext cx="734919" cy="37505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80FE345D-D495-3DCB-A7FE-B831EF929BA3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8854440" y="3087773"/>
            <a:ext cx="734919" cy="3979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ABBAAB0E-15B1-635D-938D-03283CFC2E97}"/>
              </a:ext>
            </a:extLst>
          </p:cNvPr>
          <p:cNvCxnSpPr>
            <a:cxnSpLocks/>
            <a:stCxn id="9" idx="3"/>
            <a:endCxn id="6" idx="1"/>
          </p:cNvCxnSpPr>
          <p:nvPr/>
        </p:nvCxnSpPr>
        <p:spPr>
          <a:xfrm flipV="1">
            <a:off x="8854440" y="3087773"/>
            <a:ext cx="734919" cy="11708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30470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09FDC59-6067-4502-1360-F42554AD87D3}"/>
              </a:ext>
            </a:extLst>
          </p:cNvPr>
          <p:cNvSpPr/>
          <p:nvPr/>
        </p:nvSpPr>
        <p:spPr>
          <a:xfrm>
            <a:off x="4046220" y="339852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Search Public Information on the Web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00FF13-E208-2C00-EB7C-BCBA48F554BD}"/>
              </a:ext>
            </a:extLst>
          </p:cNvPr>
          <p:cNvSpPr/>
          <p:nvPr/>
        </p:nvSpPr>
        <p:spPr>
          <a:xfrm>
            <a:off x="4046220" y="2625554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Retrieve Stock Quotes from an API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D952C55-0F41-C8E8-4833-F5F86239B3AD}"/>
              </a:ext>
            </a:extLst>
          </p:cNvPr>
          <p:cNvSpPr/>
          <p:nvPr/>
        </p:nvSpPr>
        <p:spPr>
          <a:xfrm>
            <a:off x="4046220" y="1855003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Reference Internal Report Files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00226F7-C833-1B1C-B967-7291F64244CC}"/>
              </a:ext>
            </a:extLst>
          </p:cNvPr>
          <p:cNvSpPr/>
          <p:nvPr/>
        </p:nvSpPr>
        <p:spPr>
          <a:xfrm>
            <a:off x="1507938" y="2374095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Query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Planning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93C6EBF-0FE7-EC6E-5B5C-7AA41F6606DD}"/>
              </a:ext>
            </a:extLst>
          </p:cNvPr>
          <p:cNvSpPr/>
          <p:nvPr/>
        </p:nvSpPr>
        <p:spPr>
          <a:xfrm>
            <a:off x="9837420" y="2374095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Language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Model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0FF9049-A038-5CD7-B5B6-A7A955E2687C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3421380" y="2854154"/>
            <a:ext cx="62484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C10FC99-8029-AE13-0A3B-1F87064360AB}"/>
              </a:ext>
            </a:extLst>
          </p:cNvPr>
          <p:cNvCxnSpPr>
            <a:cxnSpLocks/>
            <a:stCxn id="44" idx="3"/>
            <a:endCxn id="6" idx="1"/>
          </p:cNvCxnSpPr>
          <p:nvPr/>
        </p:nvCxnSpPr>
        <p:spPr>
          <a:xfrm>
            <a:off x="9189720" y="2854155"/>
            <a:ext cx="647700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23DA4FB-7AE1-4EE4-8DD5-321F7F7C7F33}"/>
              </a:ext>
            </a:extLst>
          </p:cNvPr>
          <p:cNvSpPr/>
          <p:nvPr/>
        </p:nvSpPr>
        <p:spPr>
          <a:xfrm>
            <a:off x="189267" y="2619607"/>
            <a:ext cx="915222" cy="46909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Prompt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42D3144-4FA8-07EA-6898-D7B2C45E010A}"/>
              </a:ext>
            </a:extLst>
          </p:cNvPr>
          <p:cNvCxnSpPr>
            <a:cxnSpLocks/>
            <a:stCxn id="15" idx="3"/>
            <a:endCxn id="5" idx="1"/>
          </p:cNvCxnSpPr>
          <p:nvPr/>
        </p:nvCxnSpPr>
        <p:spPr>
          <a:xfrm>
            <a:off x="1104489" y="2854155"/>
            <a:ext cx="40344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BF48D9D9-8BAB-3118-5B91-13BAA46C2349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flipV="1">
            <a:off x="3421380" y="2083603"/>
            <a:ext cx="624840" cy="77055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217AA7E3-1E41-FB8C-7F66-A5758B29A028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>
            <a:off x="3421380" y="2854155"/>
            <a:ext cx="624840" cy="7729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8E95763-BD68-DEF9-F942-CCC8B336544E}"/>
              </a:ext>
            </a:extLst>
          </p:cNvPr>
          <p:cNvSpPr/>
          <p:nvPr/>
        </p:nvSpPr>
        <p:spPr>
          <a:xfrm>
            <a:off x="8732520" y="1852591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899F5AF-E80C-3452-008E-8E821AEFA864}"/>
              </a:ext>
            </a:extLst>
          </p:cNvPr>
          <p:cNvCxnSpPr>
            <a:cxnSpLocks/>
            <a:stCxn id="4" idx="3"/>
            <a:endCxn id="25" idx="1"/>
          </p:cNvCxnSpPr>
          <p:nvPr/>
        </p:nvCxnSpPr>
        <p:spPr>
          <a:xfrm flipV="1">
            <a:off x="8328660" y="2081191"/>
            <a:ext cx="403860" cy="241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3F66FD98-C347-7EA9-DC36-7FDBB97B4248}"/>
              </a:ext>
            </a:extLst>
          </p:cNvPr>
          <p:cNvSpPr/>
          <p:nvPr/>
        </p:nvSpPr>
        <p:spPr>
          <a:xfrm>
            <a:off x="8732520" y="2625555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A791A27B-2AA1-8E05-2231-C99FE09DCBEB}"/>
              </a:ext>
            </a:extLst>
          </p:cNvPr>
          <p:cNvSpPr/>
          <p:nvPr/>
        </p:nvSpPr>
        <p:spPr>
          <a:xfrm>
            <a:off x="8732520" y="3398519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2D77B26-2C1F-3022-9B0B-3736BC5CF8AA}"/>
              </a:ext>
            </a:extLst>
          </p:cNvPr>
          <p:cNvCxnSpPr>
            <a:cxnSpLocks/>
            <a:stCxn id="3" idx="3"/>
            <a:endCxn id="44" idx="1"/>
          </p:cNvCxnSpPr>
          <p:nvPr/>
        </p:nvCxnSpPr>
        <p:spPr>
          <a:xfrm>
            <a:off x="8328660" y="2854154"/>
            <a:ext cx="40386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99ECFB6-8E63-4F62-C5D3-37BC5BB43934}"/>
              </a:ext>
            </a:extLst>
          </p:cNvPr>
          <p:cNvCxnSpPr>
            <a:cxnSpLocks/>
            <a:stCxn id="2" idx="3"/>
            <a:endCxn id="46" idx="1"/>
          </p:cNvCxnSpPr>
          <p:nvPr/>
        </p:nvCxnSpPr>
        <p:spPr>
          <a:xfrm flipV="1">
            <a:off x="8328660" y="3627119"/>
            <a:ext cx="40386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DDB500F1-F165-AABE-6725-11E4ED79023E}"/>
              </a:ext>
            </a:extLst>
          </p:cNvPr>
          <p:cNvCxnSpPr>
            <a:cxnSpLocks/>
            <a:stCxn id="25" idx="3"/>
            <a:endCxn id="6" idx="1"/>
          </p:cNvCxnSpPr>
          <p:nvPr/>
        </p:nvCxnSpPr>
        <p:spPr>
          <a:xfrm>
            <a:off x="9189720" y="2081191"/>
            <a:ext cx="647700" cy="7729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28AC6A5D-0A01-5370-996D-AF8698A1082D}"/>
              </a:ext>
            </a:extLst>
          </p:cNvPr>
          <p:cNvCxnSpPr>
            <a:cxnSpLocks/>
            <a:stCxn id="46" idx="3"/>
            <a:endCxn id="6" idx="1"/>
          </p:cNvCxnSpPr>
          <p:nvPr/>
        </p:nvCxnSpPr>
        <p:spPr>
          <a:xfrm flipV="1">
            <a:off x="9189720" y="2854155"/>
            <a:ext cx="647700" cy="7729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7" name="Graphic 66" descr="Web design with solid fill">
            <a:extLst>
              <a:ext uri="{FF2B5EF4-FFF2-40B4-BE49-F238E27FC236}">
                <a16:creationId xmlns:a16="http://schemas.microsoft.com/office/drawing/2014/main" id="{5D8BB564-5BA8-868D-2AB7-35E0D3AE65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55380" y="2648413"/>
            <a:ext cx="411480" cy="411480"/>
          </a:xfrm>
          <a:prstGeom prst="rect">
            <a:avLst/>
          </a:prstGeom>
        </p:spPr>
      </p:pic>
      <p:pic>
        <p:nvPicPr>
          <p:cNvPr id="71" name="Graphic 70" descr="World with solid fill">
            <a:extLst>
              <a:ext uri="{FF2B5EF4-FFF2-40B4-BE49-F238E27FC236}">
                <a16:creationId xmlns:a16="http://schemas.microsoft.com/office/drawing/2014/main" id="{0EF50C39-FA5F-96A6-2DE6-53C76B029F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55380" y="3421379"/>
            <a:ext cx="411480" cy="411480"/>
          </a:xfrm>
          <a:prstGeom prst="rect">
            <a:avLst/>
          </a:prstGeom>
        </p:spPr>
      </p:pic>
      <p:pic>
        <p:nvPicPr>
          <p:cNvPr id="73" name="Graphic 72" descr="Database with solid fill">
            <a:extLst>
              <a:ext uri="{FF2B5EF4-FFF2-40B4-BE49-F238E27FC236}">
                <a16:creationId xmlns:a16="http://schemas.microsoft.com/office/drawing/2014/main" id="{20B0889E-3ACA-9DCA-25FE-C1F9B73F73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55380" y="1875451"/>
            <a:ext cx="411480" cy="411480"/>
          </a:xfrm>
          <a:prstGeom prst="rect">
            <a:avLst/>
          </a:prstGeom>
        </p:spPr>
      </p:pic>
      <p:pic>
        <p:nvPicPr>
          <p:cNvPr id="75" name="Graphic 74" descr="Gears with solid fill">
            <a:extLst>
              <a:ext uri="{FF2B5EF4-FFF2-40B4-BE49-F238E27FC236}">
                <a16:creationId xmlns:a16="http://schemas.microsoft.com/office/drawing/2014/main" id="{AFA7CC75-0D4E-9273-3BC2-179536E5EC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26048" y="2648413"/>
            <a:ext cx="411480" cy="411480"/>
          </a:xfrm>
          <a:prstGeom prst="rect">
            <a:avLst/>
          </a:prstGeom>
        </p:spPr>
      </p:pic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492D89A-8D12-E69E-613E-246E45DCD83F}"/>
              </a:ext>
            </a:extLst>
          </p:cNvPr>
          <p:cNvSpPr/>
          <p:nvPr/>
        </p:nvSpPr>
        <p:spPr>
          <a:xfrm>
            <a:off x="10545258" y="3627118"/>
            <a:ext cx="1205604" cy="46909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Response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A734903-BE53-2153-B1BE-7817395A6ACC}"/>
              </a:ext>
            </a:extLst>
          </p:cNvPr>
          <p:cNvCxnSpPr>
            <a:cxnSpLocks/>
            <a:endCxn id="76" idx="0"/>
          </p:cNvCxnSpPr>
          <p:nvPr/>
        </p:nvCxnSpPr>
        <p:spPr>
          <a:xfrm>
            <a:off x="11148060" y="3334214"/>
            <a:ext cx="0" cy="29290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4D371B40-23D5-3632-64F0-3A5DAC685C2C}"/>
              </a:ext>
            </a:extLst>
          </p:cNvPr>
          <p:cNvCxnSpPr>
            <a:cxnSpLocks/>
            <a:endCxn id="5" idx="2"/>
          </p:cNvCxnSpPr>
          <p:nvPr/>
        </p:nvCxnSpPr>
        <p:spPr>
          <a:xfrm rot="5400000">
            <a:off x="6337265" y="-538391"/>
            <a:ext cx="12700" cy="7745211"/>
          </a:xfrm>
          <a:prstGeom prst="bentConnector3">
            <a:avLst>
              <a:gd name="adj1" fmla="val 6060000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01754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8AFB654-7A06-C3A4-7E7E-0CD359D6C0E5}"/>
              </a:ext>
            </a:extLst>
          </p:cNvPr>
          <p:cNvSpPr/>
          <p:nvPr/>
        </p:nvSpPr>
        <p:spPr>
          <a:xfrm>
            <a:off x="1293967" y="88054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6E8FED-E7D9-C8F7-A2EF-4BE21234B54B}"/>
              </a:ext>
            </a:extLst>
          </p:cNvPr>
          <p:cNvSpPr/>
          <p:nvPr/>
        </p:nvSpPr>
        <p:spPr>
          <a:xfrm>
            <a:off x="1293967" y="5160997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7C06C5B-8FC5-D569-2AE0-03636CF0CCD1}"/>
              </a:ext>
            </a:extLst>
          </p:cNvPr>
          <p:cNvSpPr/>
          <p:nvPr/>
        </p:nvSpPr>
        <p:spPr>
          <a:xfrm>
            <a:off x="4805537" y="5160997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4341166-D50F-198F-0E6D-17DCEC0EA317}"/>
              </a:ext>
            </a:extLst>
          </p:cNvPr>
          <p:cNvSpPr/>
          <p:nvPr/>
        </p:nvSpPr>
        <p:spPr>
          <a:xfrm>
            <a:off x="4805536" y="88054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82E7744-3205-3D14-6BE9-883217B14999}"/>
              </a:ext>
            </a:extLst>
          </p:cNvPr>
          <p:cNvSpPr/>
          <p:nvPr/>
        </p:nvSpPr>
        <p:spPr>
          <a:xfrm>
            <a:off x="8317108" y="878092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7A39C3D-9111-F29C-AB9D-1E650F4C0C60}"/>
              </a:ext>
            </a:extLst>
          </p:cNvPr>
          <p:cNvSpPr/>
          <p:nvPr/>
        </p:nvSpPr>
        <p:spPr>
          <a:xfrm>
            <a:off x="8317108" y="5160997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035EDB-7D42-FD80-A64D-1B444CF1F6E4}"/>
              </a:ext>
            </a:extLst>
          </p:cNvPr>
          <p:cNvSpPr txBox="1"/>
          <p:nvPr/>
        </p:nvSpPr>
        <p:spPr>
          <a:xfrm>
            <a:off x="2059509" y="397565"/>
            <a:ext cx="1049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Sequential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CBC3F8-8300-3DAD-0BC5-425AB5841CE3}"/>
              </a:ext>
            </a:extLst>
          </p:cNvPr>
          <p:cNvSpPr txBox="1"/>
          <p:nvPr/>
        </p:nvSpPr>
        <p:spPr>
          <a:xfrm>
            <a:off x="9054373" y="397565"/>
            <a:ext cx="1106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Group Chat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0CDE82-B9BA-575A-4838-57123640C602}"/>
              </a:ext>
            </a:extLst>
          </p:cNvPr>
          <p:cNvSpPr txBox="1"/>
          <p:nvPr/>
        </p:nvSpPr>
        <p:spPr>
          <a:xfrm>
            <a:off x="5386865" y="397565"/>
            <a:ext cx="1418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Human in Loop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3C72ADD-5624-A5AF-C90C-8D288A445042}"/>
              </a:ext>
            </a:extLst>
          </p:cNvPr>
          <p:cNvSpPr/>
          <p:nvPr/>
        </p:nvSpPr>
        <p:spPr>
          <a:xfrm>
            <a:off x="1907431" y="1577486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1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0E24462-6792-9F65-B196-3AAC33E7B93E}"/>
              </a:ext>
            </a:extLst>
          </p:cNvPr>
          <p:cNvSpPr/>
          <p:nvPr/>
        </p:nvSpPr>
        <p:spPr>
          <a:xfrm>
            <a:off x="1907431" y="3966493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3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27113AE-C3C2-85C7-0E3A-0BAF3433488F}"/>
              </a:ext>
            </a:extLst>
          </p:cNvPr>
          <p:cNvSpPr/>
          <p:nvPr/>
        </p:nvSpPr>
        <p:spPr>
          <a:xfrm>
            <a:off x="1907431" y="2771990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2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0CB94AA-C467-6DED-59A5-34F72F9BE893}"/>
              </a:ext>
            </a:extLst>
          </p:cNvPr>
          <p:cNvSpPr/>
          <p:nvPr/>
        </p:nvSpPr>
        <p:spPr>
          <a:xfrm>
            <a:off x="8935485" y="1577486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Orchestrator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(Route by Context)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6050253-1AB3-63EB-84EB-ACEE2400BBF8}"/>
              </a:ext>
            </a:extLst>
          </p:cNvPr>
          <p:cNvSpPr/>
          <p:nvPr/>
        </p:nvSpPr>
        <p:spPr>
          <a:xfrm>
            <a:off x="5421458" y="1577486"/>
            <a:ext cx="1344168" cy="866894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1</a:t>
            </a:r>
          </a:p>
        </p:txBody>
      </p:sp>
      <p:pic>
        <p:nvPicPr>
          <p:cNvPr id="18" name="Graphic 17" descr="User with solid fill">
            <a:extLst>
              <a:ext uri="{FF2B5EF4-FFF2-40B4-BE49-F238E27FC236}">
                <a16:creationId xmlns:a16="http://schemas.microsoft.com/office/drawing/2014/main" id="{1B9F9BDD-1142-BCE0-EDD8-ADD84DF939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22726" y="3841197"/>
            <a:ext cx="685800" cy="685800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EF4AA4-B888-18BB-6FB5-C6F9288B2265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 flipH="1">
            <a:off x="6093542" y="1249877"/>
            <a:ext cx="2457" cy="32760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76B6AE-D465-4915-3E1B-D83CE01572FB}"/>
              </a:ext>
            </a:extLst>
          </p:cNvPr>
          <p:cNvCxnSpPr>
            <a:cxnSpLocks/>
            <a:stCxn id="16" idx="2"/>
            <a:endCxn id="15" idx="0"/>
          </p:cNvCxnSpPr>
          <p:nvPr/>
        </p:nvCxnSpPr>
        <p:spPr>
          <a:xfrm>
            <a:off x="6093542" y="2444380"/>
            <a:ext cx="0" cy="32761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11E7CA-0A5C-9A5B-E02F-FE87A8E49E61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2579515" y="1249877"/>
            <a:ext cx="4915" cy="32760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65BE0972-B87A-4DA1-1F47-7D690864B492}"/>
              </a:ext>
            </a:extLst>
          </p:cNvPr>
          <p:cNvSpPr txBox="1"/>
          <p:nvPr/>
        </p:nvSpPr>
        <p:spPr>
          <a:xfrm>
            <a:off x="6344228" y="4416172"/>
            <a:ext cx="8427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Approves or</a:t>
            </a:r>
          </a:p>
          <a:p>
            <a:pPr algn="ctr"/>
            <a:r>
              <a:rPr lang="en-US" sz="1200" dirty="0"/>
              <a:t>Clarifies</a:t>
            </a:r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9C84E05-C87E-751E-D39B-0EB80D386D6F}"/>
              </a:ext>
            </a:extLst>
          </p:cNvPr>
          <p:cNvCxnSpPr>
            <a:cxnSpLocks/>
            <a:endCxn id="18" idx="0"/>
          </p:cNvCxnSpPr>
          <p:nvPr/>
        </p:nvCxnSpPr>
        <p:spPr>
          <a:xfrm rot="16200000" flipH="1">
            <a:off x="6422641" y="3498212"/>
            <a:ext cx="412200" cy="27377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FC9E4D5-9A27-41B0-A6B7-325376A8EEA9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>
            <a:off x="2579515" y="2444380"/>
            <a:ext cx="0" cy="32761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5EE7C03-9562-EF4D-00EA-CB265A4C9AB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2579515" y="3638884"/>
            <a:ext cx="0" cy="32760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025382F-8D45-D2AE-35A9-8B1AFA65118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2579515" y="4833387"/>
            <a:ext cx="4915" cy="32761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D068019-47A3-33D3-84C8-9F7C60B24399}"/>
              </a:ext>
            </a:extLst>
          </p:cNvPr>
          <p:cNvSpPr txBox="1"/>
          <p:nvPr/>
        </p:nvSpPr>
        <p:spPr>
          <a:xfrm>
            <a:off x="6479406" y="3355943"/>
            <a:ext cx="3666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yes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D2AEDFC-0FEB-1CDF-3F9F-2B7FB5A2FC99}"/>
              </a:ext>
            </a:extLst>
          </p:cNvPr>
          <p:cNvSpPr txBox="1"/>
          <p:nvPr/>
        </p:nvSpPr>
        <p:spPr>
          <a:xfrm>
            <a:off x="5386865" y="3355943"/>
            <a:ext cx="3257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no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294098A-677B-10E2-34C5-5C1BE2219448}"/>
              </a:ext>
            </a:extLst>
          </p:cNvPr>
          <p:cNvCxnSpPr>
            <a:cxnSpLocks/>
          </p:cNvCxnSpPr>
          <p:nvPr/>
        </p:nvCxnSpPr>
        <p:spPr>
          <a:xfrm>
            <a:off x="5700145" y="3428997"/>
            <a:ext cx="0" cy="1726058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E89C40B7-FA41-0814-7C87-B0B00357906E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765625" y="4877837"/>
            <a:ext cx="1" cy="277218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lowchart: Decision 14">
            <a:extLst>
              <a:ext uri="{FF2B5EF4-FFF2-40B4-BE49-F238E27FC236}">
                <a16:creationId xmlns:a16="http://schemas.microsoft.com/office/drawing/2014/main" id="{9F808D75-E976-70B5-1E8C-92954997F27F}"/>
              </a:ext>
            </a:extLst>
          </p:cNvPr>
          <p:cNvSpPr/>
          <p:nvPr/>
        </p:nvSpPr>
        <p:spPr>
          <a:xfrm>
            <a:off x="5231894" y="2771990"/>
            <a:ext cx="1723296" cy="866894"/>
          </a:xfrm>
          <a:prstGeom prst="flowChartDecision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Review?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C0F91184-A0B5-338B-04D3-73E6BC57562B}"/>
              </a:ext>
            </a:extLst>
          </p:cNvPr>
          <p:cNvSpPr/>
          <p:nvPr/>
        </p:nvSpPr>
        <p:spPr>
          <a:xfrm>
            <a:off x="8317107" y="2947785"/>
            <a:ext cx="792503" cy="685157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Expert A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AB01557F-ABD2-BE16-968B-EB3184C63AF1}"/>
              </a:ext>
            </a:extLst>
          </p:cNvPr>
          <p:cNvSpPr/>
          <p:nvPr/>
        </p:nvSpPr>
        <p:spPr>
          <a:xfrm>
            <a:off x="9211317" y="2947785"/>
            <a:ext cx="792503" cy="685157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Expert B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88F63535-DF4C-4B17-E76D-AF2692CD0174}"/>
              </a:ext>
            </a:extLst>
          </p:cNvPr>
          <p:cNvSpPr/>
          <p:nvPr/>
        </p:nvSpPr>
        <p:spPr>
          <a:xfrm>
            <a:off x="10105530" y="2947785"/>
            <a:ext cx="792503" cy="685157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Expert C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1F33F15-6730-7F83-7184-1EFFB0E840B2}"/>
              </a:ext>
            </a:extLst>
          </p:cNvPr>
          <p:cNvCxnSpPr>
            <a:cxnSpLocks/>
            <a:stCxn id="14" idx="2"/>
            <a:endCxn id="61" idx="0"/>
          </p:cNvCxnSpPr>
          <p:nvPr/>
        </p:nvCxnSpPr>
        <p:spPr>
          <a:xfrm>
            <a:off x="9607569" y="2444380"/>
            <a:ext cx="0" cy="50340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4BA7FA0-175B-997D-9DFD-C48975209D2D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 flipH="1">
            <a:off x="9607569" y="1247424"/>
            <a:ext cx="2" cy="33006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712FCF4-FA2C-A1B7-F6E3-C494DB41694C}"/>
              </a:ext>
            </a:extLst>
          </p:cNvPr>
          <p:cNvCxnSpPr>
            <a:cxnSpLocks/>
            <a:stCxn id="14" idx="2"/>
            <a:endCxn id="60" idx="0"/>
          </p:cNvCxnSpPr>
          <p:nvPr/>
        </p:nvCxnSpPr>
        <p:spPr>
          <a:xfrm rot="5400000">
            <a:off x="8908762" y="2248977"/>
            <a:ext cx="503405" cy="89421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B6BE40E8-80D9-F923-B31B-4EB673E02EF8}"/>
              </a:ext>
            </a:extLst>
          </p:cNvPr>
          <p:cNvCxnSpPr>
            <a:cxnSpLocks/>
            <a:stCxn id="14" idx="2"/>
            <a:endCxn id="62" idx="0"/>
          </p:cNvCxnSpPr>
          <p:nvPr/>
        </p:nvCxnSpPr>
        <p:spPr>
          <a:xfrm rot="16200000" flipH="1">
            <a:off x="9802973" y="2248975"/>
            <a:ext cx="503405" cy="89421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3F73E562-451E-ACE6-539E-D86109028F4E}"/>
              </a:ext>
            </a:extLst>
          </p:cNvPr>
          <p:cNvCxnSpPr>
            <a:cxnSpLocks/>
            <a:stCxn id="60" idx="2"/>
            <a:endCxn id="7" idx="0"/>
          </p:cNvCxnSpPr>
          <p:nvPr/>
        </p:nvCxnSpPr>
        <p:spPr>
          <a:xfrm rot="16200000" flipH="1">
            <a:off x="8396438" y="3949863"/>
            <a:ext cx="1528055" cy="8942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DE881DF3-FDE1-E2F0-A9A6-2EF92D0A6A22}"/>
              </a:ext>
            </a:extLst>
          </p:cNvPr>
          <p:cNvCxnSpPr>
            <a:cxnSpLocks/>
            <a:stCxn id="62" idx="2"/>
            <a:endCxn id="7" idx="0"/>
          </p:cNvCxnSpPr>
          <p:nvPr/>
        </p:nvCxnSpPr>
        <p:spPr>
          <a:xfrm rot="5400000">
            <a:off x="9290650" y="3949864"/>
            <a:ext cx="1528055" cy="89421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457C5348-A8B7-BB09-4C4A-BB5E1799E7CD}"/>
              </a:ext>
            </a:extLst>
          </p:cNvPr>
          <p:cNvCxnSpPr>
            <a:cxnSpLocks/>
            <a:stCxn id="61" idx="2"/>
            <a:endCxn id="7" idx="0"/>
          </p:cNvCxnSpPr>
          <p:nvPr/>
        </p:nvCxnSpPr>
        <p:spPr>
          <a:xfrm>
            <a:off x="9607569" y="3632942"/>
            <a:ext cx="2" cy="152805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65120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81119-CA4B-EE59-FA1F-A8A1937BB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5CB0691-4F4F-B36F-1292-BDF4D6F64E6F}"/>
              </a:ext>
            </a:extLst>
          </p:cNvPr>
          <p:cNvSpPr/>
          <p:nvPr/>
        </p:nvSpPr>
        <p:spPr>
          <a:xfrm>
            <a:off x="2933281" y="183999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CC2B664-F030-F1F9-F28B-DCC5EEC01A16}"/>
              </a:ext>
            </a:extLst>
          </p:cNvPr>
          <p:cNvSpPr/>
          <p:nvPr/>
        </p:nvSpPr>
        <p:spPr>
          <a:xfrm>
            <a:off x="4805537" y="165532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On-Device Inference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F53C473-9B29-E37D-A715-ED5C1E1CE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6571618"/>
              </p:ext>
            </p:extLst>
          </p:nvPr>
        </p:nvGraphicFramePr>
        <p:xfrm>
          <a:off x="3122928" y="2208569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No per-token costs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Low latency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Works Offline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2F5A509-0B8F-7811-0487-C9575E6398F1}"/>
              </a:ext>
            </a:extLst>
          </p:cNvPr>
          <p:cNvSpPr/>
          <p:nvPr/>
        </p:nvSpPr>
        <p:spPr>
          <a:xfrm>
            <a:off x="2933281" y="318388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4965C37-35DD-9952-1CFD-D128D2081A33}"/>
              </a:ext>
            </a:extLst>
          </p:cNvPr>
          <p:cNvSpPr/>
          <p:nvPr/>
        </p:nvSpPr>
        <p:spPr>
          <a:xfrm>
            <a:off x="4805537" y="299922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 Customization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3E63C08-E18D-B389-2582-B89833A5B6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926545"/>
              </p:ext>
            </p:extLst>
          </p:nvPr>
        </p:nvGraphicFramePr>
        <p:xfrm>
          <a:off x="3122928" y="3443461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Download from Foundry models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Pull other models from Hugging Face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Optimize for your machine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07007C4-3061-A8D2-7F2E-AC6DBB9E5633}"/>
              </a:ext>
            </a:extLst>
          </p:cNvPr>
          <p:cNvSpPr/>
          <p:nvPr/>
        </p:nvSpPr>
        <p:spPr>
          <a:xfrm>
            <a:off x="2933282" y="4527781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0E10519-9789-FE60-F956-7F35469179EF}"/>
              </a:ext>
            </a:extLst>
          </p:cNvPr>
          <p:cNvSpPr/>
          <p:nvPr/>
        </p:nvSpPr>
        <p:spPr>
          <a:xfrm>
            <a:off x="4805538" y="434311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App Integration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B679DA3-8983-1774-D4AD-BD0BA5945F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8394595"/>
              </p:ext>
            </p:extLst>
          </p:nvPr>
        </p:nvGraphicFramePr>
        <p:xfrm>
          <a:off x="3122929" y="4787355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SDKs for </a:t>
                      </a:r>
                      <a:r>
                        <a:rPr lang="en-US" b="0" dirty="0" err="1">
                          <a:solidFill>
                            <a:sysClr val="windowText" lastClr="000000"/>
                          </a:solidFill>
                        </a:rPr>
                        <a:t>Javascript</a:t>
                      </a:r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, Python, &amp; C#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OpenAI-compatible API format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Interactive chat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via the CLI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10976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E5903-046F-B36C-A390-13BCA87A0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DABD033-95C1-DE14-1371-DDB65914500E}"/>
              </a:ext>
            </a:extLst>
          </p:cNvPr>
          <p:cNvSpPr/>
          <p:nvPr/>
        </p:nvSpPr>
        <p:spPr>
          <a:xfrm>
            <a:off x="2584694" y="2174798"/>
            <a:ext cx="4982297" cy="246864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F47915-E3BB-FBA3-7676-86FE48083972}"/>
              </a:ext>
            </a:extLst>
          </p:cNvPr>
          <p:cNvCxnSpPr>
            <a:cxnSpLocks/>
            <a:stCxn id="20" idx="1"/>
            <a:endCxn id="12" idx="3"/>
          </p:cNvCxnSpPr>
          <p:nvPr/>
        </p:nvCxnSpPr>
        <p:spPr>
          <a:xfrm flipH="1">
            <a:off x="7281103" y="2888337"/>
            <a:ext cx="795151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9DEEFD6-4A89-56D2-D306-6B0F392F03A2}"/>
              </a:ext>
            </a:extLst>
          </p:cNvPr>
          <p:cNvGrpSpPr/>
          <p:nvPr/>
        </p:nvGrpSpPr>
        <p:grpSpPr>
          <a:xfrm>
            <a:off x="2870578" y="2444894"/>
            <a:ext cx="4410525" cy="1928450"/>
            <a:chOff x="4432935" y="2463266"/>
            <a:chExt cx="4410525" cy="1928450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D235446-172F-6EEA-DCA9-68B84AE458F0}"/>
                </a:ext>
              </a:extLst>
            </p:cNvPr>
            <p:cNvSpPr/>
            <p:nvPr/>
          </p:nvSpPr>
          <p:spPr>
            <a:xfrm>
              <a:off x="4432936" y="2466285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Local Service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(Core C API)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EC6BE8AC-19F7-DD20-EE5B-659AF29F464A}"/>
                </a:ext>
              </a:extLst>
            </p:cNvPr>
            <p:cNvSpPr/>
            <p:nvPr/>
          </p:nvSpPr>
          <p:spPr>
            <a:xfrm>
              <a:off x="5966114" y="2463266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ONNX Runtime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8197549C-A069-ABFE-9697-3B84E0F4C460}"/>
                </a:ext>
              </a:extLst>
            </p:cNvPr>
            <p:cNvSpPr/>
            <p:nvPr/>
          </p:nvSpPr>
          <p:spPr>
            <a:xfrm>
              <a:off x="4432935" y="3524822"/>
              <a:ext cx="4410525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Cache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EAD17B7-C4B2-FCB0-6649-6E63B0A81515}"/>
                </a:ext>
              </a:extLst>
            </p:cNvPr>
            <p:cNvSpPr/>
            <p:nvPr/>
          </p:nvSpPr>
          <p:spPr>
            <a:xfrm>
              <a:off x="7499292" y="2473262"/>
              <a:ext cx="1344168" cy="866894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Management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2120D170-1949-EC3F-DB51-93C17FCF7505}"/>
                </a:ext>
              </a:extLst>
            </p:cNvPr>
            <p:cNvSpPr/>
            <p:nvPr/>
          </p:nvSpPr>
          <p:spPr>
            <a:xfrm>
              <a:off x="6102328" y="3955654"/>
              <a:ext cx="1071738" cy="322014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tx1"/>
                  </a:solidFill>
                </a:rPr>
                <a:t>Model 2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0451BAB-C34E-4650-515B-63F461663ED0}"/>
                </a:ext>
              </a:extLst>
            </p:cNvPr>
            <p:cNvSpPr/>
            <p:nvPr/>
          </p:nvSpPr>
          <p:spPr>
            <a:xfrm>
              <a:off x="7635507" y="3955654"/>
              <a:ext cx="1071738" cy="322014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tx1"/>
                  </a:solidFill>
                </a:rPr>
                <a:t>Model 3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55626C3B-43F8-65F9-6D86-F7B15D95C526}"/>
                </a:ext>
              </a:extLst>
            </p:cNvPr>
            <p:cNvSpPr/>
            <p:nvPr/>
          </p:nvSpPr>
          <p:spPr>
            <a:xfrm>
              <a:off x="4569151" y="3945117"/>
              <a:ext cx="1071738" cy="322014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tx1"/>
                  </a:solidFill>
                </a:rPr>
                <a:t>Model 1</a:t>
              </a:r>
            </a:p>
          </p:txBody>
        </p:sp>
      </p:grp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3CFB2EF-0BF7-6736-3257-3868777206B9}"/>
              </a:ext>
            </a:extLst>
          </p:cNvPr>
          <p:cNvSpPr/>
          <p:nvPr/>
        </p:nvSpPr>
        <p:spPr>
          <a:xfrm>
            <a:off x="3785379" y="4465752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Foundry Local</a:t>
            </a:r>
            <a:endParaRPr lang="en-US" i="1" dirty="0">
              <a:solidFill>
                <a:schemeClr val="tx1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40EC0C0-D10C-CDBC-F226-4707993BAD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8140" y="4444678"/>
            <a:ext cx="411480" cy="41148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8B03222-4598-AD0F-7004-E5BF69B439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6254" y="2545437"/>
            <a:ext cx="750647" cy="6858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1ACAD34-655D-6D96-E9CE-9A30055341BD}"/>
              </a:ext>
            </a:extLst>
          </p:cNvPr>
          <p:cNvSpPr txBox="1"/>
          <p:nvPr/>
        </p:nvSpPr>
        <p:spPr>
          <a:xfrm>
            <a:off x="7613977" y="3183284"/>
            <a:ext cx="16752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Microsoft Foundry</a:t>
            </a:r>
          </a:p>
          <a:p>
            <a:pPr algn="ctr"/>
            <a:r>
              <a:rPr lang="en-US" dirty="0"/>
              <a:t>Model Catalog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D49B3AD-DB92-B552-129E-23875F3C5E8A}"/>
              </a:ext>
            </a:extLst>
          </p:cNvPr>
          <p:cNvSpPr/>
          <p:nvPr/>
        </p:nvSpPr>
        <p:spPr>
          <a:xfrm>
            <a:off x="2584694" y="800167"/>
            <a:ext cx="4982297" cy="941185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FE1E4223-18B0-0270-B46F-77DE56377983}"/>
              </a:ext>
            </a:extLst>
          </p:cNvPr>
          <p:cNvSpPr/>
          <p:nvPr/>
        </p:nvSpPr>
        <p:spPr>
          <a:xfrm>
            <a:off x="3785377" y="61550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Developer Experience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D047E8E3-E96F-F9CC-2C1A-9F31EC67F570}"/>
              </a:ext>
            </a:extLst>
          </p:cNvPr>
          <p:cNvSpPr/>
          <p:nvPr/>
        </p:nvSpPr>
        <p:spPr>
          <a:xfrm>
            <a:off x="4403757" y="1064612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SDKs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1549E190-6268-5A77-8C6B-DAEBDEFAD43C}"/>
              </a:ext>
            </a:extLst>
          </p:cNvPr>
          <p:cNvSpPr/>
          <p:nvPr/>
        </p:nvSpPr>
        <p:spPr>
          <a:xfrm>
            <a:off x="5985374" y="106461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CLI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0DFE1C6-902A-9B22-61A5-FE9656C8C7D0}"/>
              </a:ext>
            </a:extLst>
          </p:cNvPr>
          <p:cNvSpPr/>
          <p:nvPr/>
        </p:nvSpPr>
        <p:spPr>
          <a:xfrm>
            <a:off x="2822140" y="1062776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REST Web Server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78B64DB-9DDF-AAC1-D30D-EC498B479ED1}"/>
              </a:ext>
            </a:extLst>
          </p:cNvPr>
          <p:cNvCxnSpPr>
            <a:cxnSpLocks/>
          </p:cNvCxnSpPr>
          <p:nvPr/>
        </p:nvCxnSpPr>
        <p:spPr>
          <a:xfrm flipV="1">
            <a:off x="4282872" y="1741352"/>
            <a:ext cx="0" cy="43344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DC56010-06B3-9647-A302-F7EA6C749369}"/>
              </a:ext>
            </a:extLst>
          </p:cNvPr>
          <p:cNvCxnSpPr>
            <a:cxnSpLocks/>
          </p:cNvCxnSpPr>
          <p:nvPr/>
        </p:nvCxnSpPr>
        <p:spPr>
          <a:xfrm flipV="1">
            <a:off x="5853254" y="1741352"/>
            <a:ext cx="0" cy="43344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B841E0E-9A0C-0AF0-73DC-3D01CB1B600C}"/>
              </a:ext>
            </a:extLst>
          </p:cNvPr>
          <p:cNvSpPr txBox="1"/>
          <p:nvPr/>
        </p:nvSpPr>
        <p:spPr>
          <a:xfrm>
            <a:off x="5985374" y="1795687"/>
            <a:ext cx="1015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Named Pipes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B935555-E192-F7FA-B5DB-71FBC3D6CE7B}"/>
              </a:ext>
            </a:extLst>
          </p:cNvPr>
          <p:cNvSpPr txBox="1"/>
          <p:nvPr/>
        </p:nvSpPr>
        <p:spPr>
          <a:xfrm>
            <a:off x="3328515" y="1801431"/>
            <a:ext cx="8377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/>
              <a:t>HTTP Calls</a:t>
            </a:r>
          </a:p>
        </p:txBody>
      </p:sp>
    </p:spTree>
    <p:extLst>
      <p:ext uri="{BB962C8B-B14F-4D97-AF65-F5344CB8AC3E}">
        <p14:creationId xmlns:p14="http://schemas.microsoft.com/office/powerpoint/2010/main" val="27735566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16D71-F470-4508-5B65-369C548AF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CA1E36B-6F8B-78EC-D1DA-00A7BA890F0C}"/>
              </a:ext>
            </a:extLst>
          </p:cNvPr>
          <p:cNvGrpSpPr/>
          <p:nvPr/>
        </p:nvGrpSpPr>
        <p:grpSpPr>
          <a:xfrm>
            <a:off x="573747" y="1716157"/>
            <a:ext cx="10253279" cy="3589047"/>
            <a:chOff x="112514" y="1046426"/>
            <a:chExt cx="8240279" cy="354258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E48D362-580F-42C1-3153-EC52D854BB7E}"/>
                </a:ext>
              </a:extLst>
            </p:cNvPr>
            <p:cNvSpPr/>
            <p:nvPr/>
          </p:nvSpPr>
          <p:spPr>
            <a:xfrm>
              <a:off x="542776" y="1046427"/>
              <a:ext cx="1525630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Model Weight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BE5B6E0-B039-FB4B-FEBD-88B3EACEBF59}"/>
                    </a:ext>
                  </a:extLst>
                </p:cNvPr>
                <p:cNvSpPr/>
                <p:nvPr/>
              </p:nvSpPr>
              <p:spPr>
                <a:xfrm>
                  <a:off x="542776" y="1320258"/>
                  <a:ext cx="1525630" cy="28931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=0.37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BE5B6E0-B039-FB4B-FEBD-88B3EACEBF5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2776" y="1320258"/>
                  <a:ext cx="1525630" cy="289315"/>
                </a:xfrm>
                <a:prstGeom prst="rect">
                  <a:avLst/>
                </a:prstGeom>
                <a:blipFill>
                  <a:blip r:embed="rId2"/>
                  <a:stretch>
                    <a:fillRect b="-39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1D7E328-0589-1816-BDBA-AD0FE42F5688}"/>
                </a:ext>
              </a:extLst>
            </p:cNvPr>
            <p:cNvSpPr txBox="1"/>
            <p:nvPr/>
          </p:nvSpPr>
          <p:spPr>
            <a:xfrm>
              <a:off x="549126" y="1639593"/>
              <a:ext cx="152563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Stored as a 32-bit number (FP32)*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E40183-A35F-5E76-740F-108817A55AEF}"/>
                </a:ext>
              </a:extLst>
            </p:cNvPr>
            <p:cNvSpPr/>
            <p:nvPr/>
          </p:nvSpPr>
          <p:spPr>
            <a:xfrm>
              <a:off x="278148" y="2328864"/>
              <a:ext cx="2067587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4-bit Quantization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7C0CFB8-487E-1AB4-9407-F3EA9F0EF059}"/>
                    </a:ext>
                  </a:extLst>
                </p:cNvPr>
                <p:cNvSpPr/>
                <p:nvPr/>
              </p:nvSpPr>
              <p:spPr>
                <a:xfrm>
                  <a:off x="278149" y="2602695"/>
                  <a:ext cx="2067586" cy="577001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round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7C0CFB8-487E-1AB4-9407-F3EA9F0EF05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149" y="2602695"/>
                  <a:ext cx="2067586" cy="577001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EA2197A-6B30-EDA9-B710-11ED19E1A2EA}"/>
                    </a:ext>
                  </a:extLst>
                </p:cNvPr>
                <p:cNvSpPr txBox="1"/>
                <p:nvPr/>
              </p:nvSpPr>
              <p:spPr>
                <a:xfrm>
                  <a:off x="112514" y="3180683"/>
                  <a:ext cx="2398855" cy="12607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100" dirty="0"/>
                    <a:t>A 4-bit quantized value can represent 2</a:t>
                  </a:r>
                  <a:r>
                    <a:rPr lang="en-US" sz="1100" baseline="30000" dirty="0"/>
                    <a:t>4</a:t>
                  </a:r>
                  <a:r>
                    <a:rPr lang="en-US" sz="1100" dirty="0"/>
                    <a:t>=16 discrete levels.</a:t>
                  </a:r>
                </a:p>
                <a:p>
                  <a:r>
                    <a:rPr lang="en-US" sz="1100" dirty="0"/>
                    <a:t>Where: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𝑆</m:t>
                      </m:r>
                    </m:oMath>
                  </a14:m>
                  <a:r>
                    <a:rPr lang="en-US" sz="1100" dirty="0"/>
                    <a:t> is the scale factor (how much one quantization level represents)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a14:m>
                  <a:r>
                    <a:rPr lang="en-US" sz="1100" dirty="0"/>
                    <a:t>is an integer between [-8,+7] (16 levels total).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1100" i="1" dirty="0" smtClean="0">
                          <a:latin typeface="Cambria Math" panose="02040503050406030204" pitchFamily="18" charset="0"/>
                        </a:rPr>
                        <m:t>)∈{−8,−7,−6,…,6,7}</m:t>
                      </m:r>
                    </m:oMath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EA2197A-6B30-EDA9-B710-11ED19E1A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514" y="3180683"/>
                  <a:ext cx="2398855" cy="1260739"/>
                </a:xfrm>
                <a:prstGeom prst="rect">
                  <a:avLst/>
                </a:prstGeom>
                <a:blipFill>
                  <a:blip r:embed="rId4"/>
                  <a:stretch>
                    <a:fillRect b="-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8000436-35AE-15BA-7C56-0E053A1C98DD}"/>
                </a:ext>
              </a:extLst>
            </p:cNvPr>
            <p:cNvSpPr/>
            <p:nvPr/>
          </p:nvSpPr>
          <p:spPr>
            <a:xfrm>
              <a:off x="2886939" y="1046426"/>
              <a:ext cx="2757871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Map the Scale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46CEBABB-5713-12A3-0F3D-6E24FAB414B1}"/>
                    </a:ext>
                  </a:extLst>
                </p:cNvPr>
                <p:cNvSpPr/>
                <p:nvPr/>
              </p:nvSpPr>
              <p:spPr>
                <a:xfrm>
                  <a:off x="2886939" y="1315484"/>
                  <a:ext cx="2757871" cy="577001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max</m:t>
                            </m:r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⁡(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</m:d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den>
                        </m:f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1.0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den>
                        </m:f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≈0.1429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46CEBABB-5713-12A3-0F3D-6E24FAB414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6939" y="1315484"/>
                  <a:ext cx="2757871" cy="57700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747FC42-5EAE-C0DF-2B08-6B125B6DB5B2}"/>
                </a:ext>
              </a:extLst>
            </p:cNvPr>
            <p:cNvSpPr txBox="1"/>
            <p:nvPr/>
          </p:nvSpPr>
          <p:spPr>
            <a:xfrm>
              <a:off x="2886938" y="1930258"/>
              <a:ext cx="2757871" cy="6001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Let’s say the weights in this tensor range from [-1.0,+1.0]. Denominator is the max weight in the [-8,+7] quant range (so, 7).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5AF1B14-4056-FBF2-F6CB-B18A101C05C6}"/>
                </a:ext>
              </a:extLst>
            </p:cNvPr>
            <p:cNvSpPr/>
            <p:nvPr/>
          </p:nvSpPr>
          <p:spPr>
            <a:xfrm>
              <a:off x="2886937" y="2967524"/>
              <a:ext cx="2757871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Quantize the Value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1A52E72A-5693-49F9-8BB0-4E7AC881649A}"/>
                    </a:ext>
                  </a:extLst>
                </p:cNvPr>
                <p:cNvSpPr/>
                <p:nvPr/>
              </p:nvSpPr>
              <p:spPr>
                <a:xfrm>
                  <a:off x="2886939" y="3247400"/>
                  <a:ext cx="2757871" cy="869576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0.37</m:t>
                            </m:r>
                          </m:e>
                        </m:d>
                        <m:r>
                          <a:rPr lang="en-US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round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0.37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0.1429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en-US" i="1" dirty="0">
                    <a:solidFill>
                      <a:sysClr val="windowText" lastClr="000000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round</m:t>
                        </m:r>
                        <m:d>
                          <m:dPr>
                            <m:ctrlPr>
                              <a:rPr lang="en-US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2.59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1A52E72A-5693-49F9-8BB0-4E7AC88164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6939" y="3247400"/>
                  <a:ext cx="2757871" cy="869576"/>
                </a:xfrm>
                <a:prstGeom prst="rect">
                  <a:avLst/>
                </a:prstGeom>
                <a:blipFill>
                  <a:blip r:embed="rId6"/>
                  <a:stretch>
                    <a:fillRect b="-33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6F26E49-C806-D5AE-946D-FC847BA33CA6}"/>
                </a:ext>
              </a:extLst>
            </p:cNvPr>
            <p:cNvSpPr txBox="1"/>
            <p:nvPr/>
          </p:nvSpPr>
          <p:spPr>
            <a:xfrm>
              <a:off x="2886939" y="4158127"/>
              <a:ext cx="275787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Integer representation (4-bit) is: 3</a:t>
              </a:r>
            </a:p>
            <a:p>
              <a:pPr algn="ctr"/>
              <a:r>
                <a:rPr lang="en-US" sz="1100" dirty="0"/>
                <a:t>(binary: 0011)</a:t>
              </a:r>
            </a:p>
          </p:txBody>
        </p: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A08310A7-EEE8-F6F6-64C4-407BEAE69530}"/>
                </a:ext>
              </a:extLst>
            </p:cNvPr>
            <p:cNvCxnSpPr>
              <a:cxnSpLocks/>
              <a:stCxn id="13" idx="3"/>
              <a:endCxn id="18" idx="1"/>
            </p:cNvCxnSpPr>
            <p:nvPr/>
          </p:nvCxnSpPr>
          <p:spPr>
            <a:xfrm flipV="1">
              <a:off x="5644808" y="1183343"/>
              <a:ext cx="818539" cy="192109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20F04CE8-49AC-5CFE-206A-9C293D4CF620}"/>
                </a:ext>
              </a:extLst>
            </p:cNvPr>
            <p:cNvCxnSpPr>
              <a:cxnSpLocks/>
              <a:stCxn id="7" idx="3"/>
              <a:endCxn id="10" idx="1"/>
            </p:cNvCxnSpPr>
            <p:nvPr/>
          </p:nvCxnSpPr>
          <p:spPr>
            <a:xfrm flipV="1">
              <a:off x="2345735" y="1183342"/>
              <a:ext cx="541204" cy="1282438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97FF09C-A29A-A499-A2B3-672C34E3A06E}"/>
                </a:ext>
              </a:extLst>
            </p:cNvPr>
            <p:cNvSpPr/>
            <p:nvPr/>
          </p:nvSpPr>
          <p:spPr>
            <a:xfrm>
              <a:off x="6463347" y="1046427"/>
              <a:ext cx="1711303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De-Quantize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18328F5A-70D5-58BA-1577-8D30F865B26C}"/>
                    </a:ext>
                  </a:extLst>
                </p:cNvPr>
                <p:cNvSpPr/>
                <p:nvPr/>
              </p:nvSpPr>
              <p:spPr>
                <a:xfrm>
                  <a:off x="6463345" y="1315484"/>
                  <a:ext cx="1711304" cy="855718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l-PL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)=0.1429×3=0.4287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18328F5A-70D5-58BA-1577-8D30F865B2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63345" y="1315484"/>
                  <a:ext cx="1711304" cy="855718"/>
                </a:xfrm>
                <a:prstGeom prst="rect">
                  <a:avLst/>
                </a:prstGeom>
                <a:blipFill>
                  <a:blip r:embed="rId7"/>
                  <a:stretch>
                    <a:fillRect t="-34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39C600D-70A1-925D-4FF1-E2B23D5A1F91}"/>
                </a:ext>
              </a:extLst>
            </p:cNvPr>
            <p:cNvSpPr txBox="1"/>
            <p:nvPr/>
          </p:nvSpPr>
          <p:spPr>
            <a:xfrm>
              <a:off x="6463345" y="2227691"/>
              <a:ext cx="171130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Reconstruct the original model weight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0E68490-F7D3-8A4D-DB15-5F77430143DC}"/>
                </a:ext>
              </a:extLst>
            </p:cNvPr>
            <p:cNvSpPr/>
            <p:nvPr/>
          </p:nvSpPr>
          <p:spPr>
            <a:xfrm>
              <a:off x="6285205" y="2967525"/>
              <a:ext cx="2067587" cy="273831"/>
            </a:xfrm>
            <a:prstGeom prst="rect">
              <a:avLst/>
            </a:prstGeom>
            <a:solidFill>
              <a:srgbClr val="B2D4EB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Error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5A267A4-5AA5-3125-5651-EB5175AD87BD}"/>
                    </a:ext>
                  </a:extLst>
                </p:cNvPr>
                <p:cNvSpPr/>
                <p:nvPr/>
              </p:nvSpPr>
              <p:spPr>
                <a:xfrm>
                  <a:off x="6285206" y="3241356"/>
                  <a:ext cx="2067586" cy="8756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error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l-PL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l-PL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pl-PL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</m:oMath>
                    </m:oMathPara>
                  </a14:m>
                  <a:endParaRPr lang="en-US" i="1" dirty="0">
                    <a:solidFill>
                      <a:sysClr val="windowText" lastClr="000000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l-PL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=0.37−0.4287=−0.0587</m:t>
                        </m:r>
                      </m:oMath>
                    </m:oMathPara>
                  </a14:m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5A267A4-5AA5-3125-5651-EB5175AD87B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5206" y="3241356"/>
                  <a:ext cx="2067586" cy="875620"/>
                </a:xfrm>
                <a:prstGeom prst="rect">
                  <a:avLst/>
                </a:prstGeom>
                <a:blipFill>
                  <a:blip r:embed="rId8"/>
                  <a:stretch>
                    <a:fillRect t="-20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6E99888-98F6-40AA-8A60-0DCC4BFB49C2}"/>
                </a:ext>
              </a:extLst>
            </p:cNvPr>
            <p:cNvSpPr txBox="1"/>
            <p:nvPr/>
          </p:nvSpPr>
          <p:spPr>
            <a:xfrm>
              <a:off x="6285206" y="4090401"/>
              <a:ext cx="206758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The reconstructed model weight is</a:t>
              </a:r>
            </a:p>
            <a:p>
              <a:pPr algn="ctr"/>
              <a:r>
                <a:rPr lang="en-US" sz="1100" dirty="0"/>
                <a:t>off by -0.0587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D7909FA-F299-55CF-6779-574736906812}"/>
                </a:ext>
              </a:extLst>
            </p:cNvPr>
            <p:cNvCxnSpPr>
              <a:cxnSpLocks/>
              <a:stCxn id="6" idx="2"/>
              <a:endCxn id="7" idx="0"/>
            </p:cNvCxnSpPr>
            <p:nvPr/>
          </p:nvCxnSpPr>
          <p:spPr>
            <a:xfrm>
              <a:off x="1311942" y="1928908"/>
              <a:ext cx="0" cy="39995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F8213CC-FC4F-80C2-D898-9041F2C3C40F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 flipH="1">
              <a:off x="4265873" y="2361146"/>
              <a:ext cx="1" cy="60637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F869889-41FC-A3CD-DF46-A7147E3D45EB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>
              <a:off x="7318998" y="2501521"/>
              <a:ext cx="1" cy="46600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36187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94D3DA75-530C-7F8C-9F2D-5A7A12B26CC8}"/>
              </a:ext>
            </a:extLst>
          </p:cNvPr>
          <p:cNvGrpSpPr/>
          <p:nvPr/>
        </p:nvGrpSpPr>
        <p:grpSpPr>
          <a:xfrm>
            <a:off x="2742318" y="1761898"/>
            <a:ext cx="6707363" cy="3334204"/>
            <a:chOff x="2626805" y="1138961"/>
            <a:chExt cx="6707363" cy="3334204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42E1BAB5-E274-763D-6C88-4CAF97E3D6C2}"/>
                </a:ext>
              </a:extLst>
            </p:cNvPr>
            <p:cNvSpPr/>
            <p:nvPr/>
          </p:nvSpPr>
          <p:spPr>
            <a:xfrm>
              <a:off x="2626805" y="2444034"/>
              <a:ext cx="1438743" cy="724060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User Input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2354587-DCA6-E904-8F29-6F6BFBBEFBD3}"/>
                </a:ext>
              </a:extLst>
            </p:cNvPr>
            <p:cNvSpPr/>
            <p:nvPr/>
          </p:nvSpPr>
          <p:spPr>
            <a:xfrm>
              <a:off x="5261115" y="2444034"/>
              <a:ext cx="1438743" cy="724060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Tool Call &amp; Response</a:t>
              </a: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C88989B2-FAE5-E38B-FFE5-3D8A1AFD67E2}"/>
                </a:ext>
              </a:extLst>
            </p:cNvPr>
            <p:cNvSpPr/>
            <p:nvPr/>
          </p:nvSpPr>
          <p:spPr>
            <a:xfrm>
              <a:off x="7895425" y="2444034"/>
              <a:ext cx="1438743" cy="724060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Agent Output</a:t>
              </a: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F1DA7FB-B4E6-70FC-E344-8A1F141B58BC}"/>
                </a:ext>
              </a:extLst>
            </p:cNvPr>
            <p:cNvCxnSpPr>
              <a:cxnSpLocks/>
              <a:stCxn id="2" idx="3"/>
              <a:endCxn id="3" idx="1"/>
            </p:cNvCxnSpPr>
            <p:nvPr/>
          </p:nvCxnSpPr>
          <p:spPr>
            <a:xfrm>
              <a:off x="4065548" y="2806064"/>
              <a:ext cx="1195567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76E5D172-00CA-4800-2437-6E2B4EBDF04D}"/>
                </a:ext>
              </a:extLst>
            </p:cNvPr>
            <p:cNvSpPr/>
            <p:nvPr/>
          </p:nvSpPr>
          <p:spPr>
            <a:xfrm>
              <a:off x="3460475" y="1138963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Check for harmful requests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5E30DE5-D8B0-6032-35C8-AA4A209F9440}"/>
                </a:ext>
              </a:extLst>
            </p:cNvPr>
            <p:cNvCxnSpPr>
              <a:cxnSpLocks/>
              <a:stCxn id="16" idx="2"/>
              <a:endCxn id="25" idx="0"/>
            </p:cNvCxnSpPr>
            <p:nvPr/>
          </p:nvCxnSpPr>
          <p:spPr>
            <a:xfrm>
              <a:off x="4417945" y="2067341"/>
              <a:ext cx="1215" cy="670142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9C640152-4738-174F-FD99-7D55FC76F495}"/>
                </a:ext>
              </a:extLst>
            </p:cNvPr>
            <p:cNvSpPr/>
            <p:nvPr/>
          </p:nvSpPr>
          <p:spPr>
            <a:xfrm>
              <a:off x="3836948" y="3544787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Limit off-task or malicious tool requests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CE8A49B1-D71B-5EA0-3F20-96427E390C88}"/>
                </a:ext>
              </a:extLst>
            </p:cNvPr>
            <p:cNvSpPr/>
            <p:nvPr/>
          </p:nvSpPr>
          <p:spPr>
            <a:xfrm>
              <a:off x="6096000" y="3544787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Remove sensitive info from reasoning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E4AFC691-A3D6-2FFA-81BA-8C7DE54F75B0}"/>
                </a:ext>
              </a:extLst>
            </p:cNvPr>
            <p:cNvSpPr/>
            <p:nvPr/>
          </p:nvSpPr>
          <p:spPr>
            <a:xfrm>
              <a:off x="4350580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0B510AA-FF5C-95FD-3DCF-B2FFD06A3D55}"/>
                </a:ext>
              </a:extLst>
            </p:cNvPr>
            <p:cNvSpPr/>
            <p:nvPr/>
          </p:nvSpPr>
          <p:spPr>
            <a:xfrm>
              <a:off x="4725838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3BF217B-83BA-289D-E5E5-4473C0B1D346}"/>
                </a:ext>
              </a:extLst>
            </p:cNvPr>
            <p:cNvCxnSpPr>
              <a:cxnSpLocks/>
              <a:stCxn id="28" idx="4"/>
              <a:endCxn id="20" idx="0"/>
            </p:cNvCxnSpPr>
            <p:nvPr/>
          </p:nvCxnSpPr>
          <p:spPr>
            <a:xfrm>
              <a:off x="4794418" y="2874643"/>
              <a:ext cx="0" cy="67014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0973632-01B6-A0BB-7642-2574628EF338}"/>
                </a:ext>
              </a:extLst>
            </p:cNvPr>
            <p:cNvCxnSpPr>
              <a:cxnSpLocks/>
              <a:stCxn id="21" idx="0"/>
              <a:endCxn id="48" idx="4"/>
            </p:cNvCxnSpPr>
            <p:nvPr/>
          </p:nvCxnSpPr>
          <p:spPr>
            <a:xfrm flipV="1">
              <a:off x="7053470" y="2874643"/>
              <a:ext cx="0" cy="67014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79F8E829-F3C4-30FE-28E1-43304C61F284}"/>
                </a:ext>
              </a:extLst>
            </p:cNvPr>
            <p:cNvSpPr/>
            <p:nvPr/>
          </p:nvSpPr>
          <p:spPr>
            <a:xfrm>
              <a:off x="6471258" y="1138961"/>
              <a:ext cx="1914939" cy="92837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Last checks &amp; annotations before response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FB411845-759C-7B36-5B9F-4D89DD0FB430}"/>
                </a:ext>
              </a:extLst>
            </p:cNvPr>
            <p:cNvCxnSpPr>
              <a:cxnSpLocks/>
              <a:stCxn id="3" idx="3"/>
              <a:endCxn id="5" idx="1"/>
            </p:cNvCxnSpPr>
            <p:nvPr/>
          </p:nvCxnSpPr>
          <p:spPr>
            <a:xfrm>
              <a:off x="6699858" y="2806064"/>
              <a:ext cx="1195567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5A50184-1911-57A0-BC51-2E2FCC6E2FB1}"/>
                </a:ext>
              </a:extLst>
            </p:cNvPr>
            <p:cNvSpPr/>
            <p:nvPr/>
          </p:nvSpPr>
          <p:spPr>
            <a:xfrm>
              <a:off x="6984890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4DBFB7B5-4EF5-73EA-6169-E38F3155B0DA}"/>
                </a:ext>
              </a:extLst>
            </p:cNvPr>
            <p:cNvSpPr/>
            <p:nvPr/>
          </p:nvSpPr>
          <p:spPr>
            <a:xfrm>
              <a:off x="7360148" y="2737483"/>
              <a:ext cx="137160" cy="13716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15D2FED-027D-2E87-5FF7-B06AF88F9EE2}"/>
                </a:ext>
              </a:extLst>
            </p:cNvPr>
            <p:cNvCxnSpPr>
              <a:cxnSpLocks/>
              <a:stCxn id="49" idx="0"/>
              <a:endCxn id="46" idx="2"/>
            </p:cNvCxnSpPr>
            <p:nvPr/>
          </p:nvCxnSpPr>
          <p:spPr>
            <a:xfrm flipV="1">
              <a:off x="7428728" y="2067339"/>
              <a:ext cx="0" cy="670144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931436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D2CE8B92-0FBB-60F0-A0EE-D6AFE5D15B09}"/>
              </a:ext>
            </a:extLst>
          </p:cNvPr>
          <p:cNvSpPr/>
          <p:nvPr/>
        </p:nvSpPr>
        <p:spPr>
          <a:xfrm>
            <a:off x="358855" y="3658434"/>
            <a:ext cx="8891162" cy="292334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E8230BA4-DB8E-C294-E0A5-63D3EE9E71FE}"/>
              </a:ext>
            </a:extLst>
          </p:cNvPr>
          <p:cNvSpPr/>
          <p:nvPr/>
        </p:nvSpPr>
        <p:spPr>
          <a:xfrm>
            <a:off x="358855" y="153614"/>
            <a:ext cx="8891162" cy="343351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1F33519-CE18-B69F-489D-3645A1E07D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28300" y="1598778"/>
            <a:ext cx="685800" cy="6858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D25F84F-12D9-933D-383D-DF47935E14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44061" y="1598778"/>
            <a:ext cx="685800" cy="685800"/>
          </a:xfrm>
          <a:prstGeom prst="rect">
            <a:avLst/>
          </a:prstGeom>
        </p:spPr>
      </p:pic>
      <p:pic>
        <p:nvPicPr>
          <p:cNvPr id="8" name="Graphic 7" descr="User with solid fill">
            <a:extLst>
              <a:ext uri="{FF2B5EF4-FFF2-40B4-BE49-F238E27FC236}">
                <a16:creationId xmlns:a16="http://schemas.microsoft.com/office/drawing/2014/main" id="{45C5B597-FDA1-220F-DA15-C499670661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66732" y="1598778"/>
            <a:ext cx="685800" cy="685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085A3F3-6DF2-4004-4A04-AFA22E2C0073}"/>
              </a:ext>
            </a:extLst>
          </p:cNvPr>
          <p:cNvSpPr txBox="1"/>
          <p:nvPr/>
        </p:nvSpPr>
        <p:spPr>
          <a:xfrm>
            <a:off x="2032152" y="2183544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68BB52E-7BF9-9935-FCC4-98115B42BF97}"/>
              </a:ext>
            </a:extLst>
          </p:cNvPr>
          <p:cNvSpPr/>
          <p:nvPr/>
        </p:nvSpPr>
        <p:spPr>
          <a:xfrm>
            <a:off x="533713" y="1685704"/>
            <a:ext cx="107868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Now…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1DAF99-B97C-87DD-26D0-B8648A52F7C4}"/>
              </a:ext>
            </a:extLst>
          </p:cNvPr>
          <p:cNvSpPr txBox="1"/>
          <p:nvPr/>
        </p:nvSpPr>
        <p:spPr>
          <a:xfrm>
            <a:off x="4150971" y="2183544"/>
            <a:ext cx="67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Agent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63E150-DB3F-44DE-67E4-D87E6220AC23}"/>
              </a:ext>
            </a:extLst>
          </p:cNvPr>
          <p:cNvSpPr txBox="1"/>
          <p:nvPr/>
        </p:nvSpPr>
        <p:spPr>
          <a:xfrm>
            <a:off x="6002012" y="2183544"/>
            <a:ext cx="13383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Memory Store</a:t>
            </a:r>
          </a:p>
        </p:txBody>
      </p: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62598B43-CEC1-5766-C927-CEC15C1A0AAE}"/>
              </a:ext>
            </a:extLst>
          </p:cNvPr>
          <p:cNvSpPr/>
          <p:nvPr/>
        </p:nvSpPr>
        <p:spPr>
          <a:xfrm>
            <a:off x="1770288" y="366015"/>
            <a:ext cx="2885222" cy="1012578"/>
          </a:xfrm>
          <a:prstGeom prst="wedgeRoundRectCallout">
            <a:avLst>
              <a:gd name="adj1" fmla="val -29100"/>
              <a:gd name="adj2" fmla="val 75797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Write some code to train a machine learning model.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I only know Python. 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1CB169-6E50-27F5-F297-9515C4A19049}"/>
              </a:ext>
            </a:extLst>
          </p:cNvPr>
          <p:cNvCxnSpPr>
            <a:cxnSpLocks/>
            <a:stCxn id="8" idx="3"/>
            <a:endCxn id="7" idx="1"/>
          </p:cNvCxnSpPr>
          <p:nvPr/>
        </p:nvCxnSpPr>
        <p:spPr>
          <a:xfrm>
            <a:off x="2652532" y="1941678"/>
            <a:ext cx="149152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BD5D59-D6BD-C3BA-C313-5F1EA656DB47}"/>
              </a:ext>
            </a:extLst>
          </p:cNvPr>
          <p:cNvCxnSpPr>
            <a:cxnSpLocks/>
            <a:stCxn id="7" idx="3"/>
            <a:endCxn id="5" idx="1"/>
          </p:cNvCxnSpPr>
          <p:nvPr/>
        </p:nvCxnSpPr>
        <p:spPr>
          <a:xfrm>
            <a:off x="4829861" y="1941678"/>
            <a:ext cx="149843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peech Bubble: Rectangle with Corners Rounded 25">
            <a:extLst>
              <a:ext uri="{FF2B5EF4-FFF2-40B4-BE49-F238E27FC236}">
                <a16:creationId xmlns:a16="http://schemas.microsoft.com/office/drawing/2014/main" id="{251CF955-9DB1-0FA1-7E20-6549D911EBF7}"/>
              </a:ext>
            </a:extLst>
          </p:cNvPr>
          <p:cNvSpPr/>
          <p:nvPr/>
        </p:nvSpPr>
        <p:spPr>
          <a:xfrm>
            <a:off x="3785978" y="2794741"/>
            <a:ext cx="2885222" cy="612648"/>
          </a:xfrm>
          <a:prstGeom prst="wedgeRoundRectCallout">
            <a:avLst>
              <a:gd name="adj1" fmla="val -25196"/>
              <a:gd name="adj2" fmla="val -88916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from </a:t>
            </a:r>
            <a:r>
              <a:rPr lang="en-US" dirty="0" err="1">
                <a:solidFill>
                  <a:schemeClr val="tx1"/>
                </a:solidFill>
              </a:rPr>
              <a:t>sklearn</a:t>
            </a:r>
            <a:r>
              <a:rPr lang="en-US" dirty="0">
                <a:solidFill>
                  <a:schemeClr val="tx1"/>
                </a:solidFill>
              </a:rPr>
              <a:t> import …</a:t>
            </a:r>
          </a:p>
        </p:txBody>
      </p:sp>
      <p:sp>
        <p:nvSpPr>
          <p:cNvPr id="27" name="Speech Bubble: Rectangle with Corners Rounded 26">
            <a:extLst>
              <a:ext uri="{FF2B5EF4-FFF2-40B4-BE49-F238E27FC236}">
                <a16:creationId xmlns:a16="http://schemas.microsoft.com/office/drawing/2014/main" id="{171105D8-27A4-BFED-D2CD-C8DA37000511}"/>
              </a:ext>
            </a:extLst>
          </p:cNvPr>
          <p:cNvSpPr/>
          <p:nvPr/>
        </p:nvSpPr>
        <p:spPr>
          <a:xfrm>
            <a:off x="6096000" y="765945"/>
            <a:ext cx="2885222" cy="612648"/>
          </a:xfrm>
          <a:prstGeom prst="wedgeRoundRectCallout">
            <a:avLst>
              <a:gd name="adj1" fmla="val -29330"/>
              <a:gd name="adj2" fmla="val 89539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Only knows Python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3753D523-5D17-25C2-3E2E-562DC19F42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28300" y="4640152"/>
            <a:ext cx="685800" cy="685800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FAF1C6E-95B5-32B1-E2B3-661500DADB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44061" y="4640152"/>
            <a:ext cx="685800" cy="685800"/>
          </a:xfrm>
          <a:prstGeom prst="rect">
            <a:avLst/>
          </a:prstGeom>
        </p:spPr>
      </p:pic>
      <p:pic>
        <p:nvPicPr>
          <p:cNvPr id="30" name="Graphic 29" descr="User with solid fill">
            <a:extLst>
              <a:ext uri="{FF2B5EF4-FFF2-40B4-BE49-F238E27FC236}">
                <a16:creationId xmlns:a16="http://schemas.microsoft.com/office/drawing/2014/main" id="{3CFE110E-8813-1FA4-CDD3-2ADB30FCF4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66732" y="4640152"/>
            <a:ext cx="685800" cy="68580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95FBFC99-2660-1276-0EE8-A4D1E458FAB8}"/>
              </a:ext>
            </a:extLst>
          </p:cNvPr>
          <p:cNvSpPr txBox="1"/>
          <p:nvPr/>
        </p:nvSpPr>
        <p:spPr>
          <a:xfrm>
            <a:off x="2032152" y="5224918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FBB97D8-567B-2FB3-A77F-4142991A4776}"/>
              </a:ext>
            </a:extLst>
          </p:cNvPr>
          <p:cNvSpPr/>
          <p:nvPr/>
        </p:nvSpPr>
        <p:spPr>
          <a:xfrm>
            <a:off x="533713" y="5119217"/>
            <a:ext cx="107868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Later…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CFF3AF-6386-1815-7F4B-10773FA4310B}"/>
              </a:ext>
            </a:extLst>
          </p:cNvPr>
          <p:cNvSpPr txBox="1"/>
          <p:nvPr/>
        </p:nvSpPr>
        <p:spPr>
          <a:xfrm>
            <a:off x="4150971" y="5224918"/>
            <a:ext cx="67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Agent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612CBF8-29C7-89CD-7A59-406C49225BBD}"/>
              </a:ext>
            </a:extLst>
          </p:cNvPr>
          <p:cNvSpPr txBox="1"/>
          <p:nvPr/>
        </p:nvSpPr>
        <p:spPr>
          <a:xfrm>
            <a:off x="6002012" y="5224918"/>
            <a:ext cx="13383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Memory Store</a:t>
            </a:r>
          </a:p>
        </p:txBody>
      </p:sp>
      <p:sp>
        <p:nvSpPr>
          <p:cNvPr id="35" name="Speech Bubble: Rectangle with Corners Rounded 34">
            <a:extLst>
              <a:ext uri="{FF2B5EF4-FFF2-40B4-BE49-F238E27FC236}">
                <a16:creationId xmlns:a16="http://schemas.microsoft.com/office/drawing/2014/main" id="{135EC79D-0288-3ED4-7298-811262B903D5}"/>
              </a:ext>
            </a:extLst>
          </p:cNvPr>
          <p:cNvSpPr/>
          <p:nvPr/>
        </p:nvSpPr>
        <p:spPr>
          <a:xfrm>
            <a:off x="1770288" y="3807319"/>
            <a:ext cx="2885222" cy="612648"/>
          </a:xfrm>
          <a:prstGeom prst="wedgeRoundRectCallout">
            <a:avLst>
              <a:gd name="adj1" fmla="val -29330"/>
              <a:gd name="adj2" fmla="val 89539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Help me generate a plot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for this dataset.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9F506EE-BB26-240B-042A-A2A65C8D06D4}"/>
              </a:ext>
            </a:extLst>
          </p:cNvPr>
          <p:cNvCxnSpPr>
            <a:cxnSpLocks/>
            <a:stCxn id="30" idx="3"/>
            <a:endCxn id="29" idx="1"/>
          </p:cNvCxnSpPr>
          <p:nvPr/>
        </p:nvCxnSpPr>
        <p:spPr>
          <a:xfrm>
            <a:off x="2652532" y="4983052"/>
            <a:ext cx="149152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74A5733-2C01-3E27-7090-45BD5FB15200}"/>
              </a:ext>
            </a:extLst>
          </p:cNvPr>
          <p:cNvCxnSpPr>
            <a:cxnSpLocks/>
            <a:stCxn id="28" idx="1"/>
            <a:endCxn id="29" idx="3"/>
          </p:cNvCxnSpPr>
          <p:nvPr/>
        </p:nvCxnSpPr>
        <p:spPr>
          <a:xfrm flipH="1">
            <a:off x="4829861" y="4983052"/>
            <a:ext cx="149843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peech Bubble: Rectangle with Corners Rounded 37">
            <a:extLst>
              <a:ext uri="{FF2B5EF4-FFF2-40B4-BE49-F238E27FC236}">
                <a16:creationId xmlns:a16="http://schemas.microsoft.com/office/drawing/2014/main" id="{5D85D6AC-48CF-AC5D-C137-4856B7B2D135}"/>
              </a:ext>
            </a:extLst>
          </p:cNvPr>
          <p:cNvSpPr/>
          <p:nvPr/>
        </p:nvSpPr>
        <p:spPr>
          <a:xfrm>
            <a:off x="3785978" y="5836115"/>
            <a:ext cx="2885222" cy="612648"/>
          </a:xfrm>
          <a:prstGeom prst="wedgeRoundRectCallout">
            <a:avLst>
              <a:gd name="adj1" fmla="val -25196"/>
              <a:gd name="adj2" fmla="val -88916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import </a:t>
            </a:r>
            <a:r>
              <a:rPr lang="en-US" dirty="0" err="1">
                <a:solidFill>
                  <a:schemeClr val="tx1"/>
                </a:solidFill>
              </a:rPr>
              <a:t>matplotlib.pyplot</a:t>
            </a:r>
            <a:r>
              <a:rPr lang="en-US" dirty="0">
                <a:solidFill>
                  <a:schemeClr val="tx1"/>
                </a:solidFill>
              </a:rPr>
              <a:t> as </a:t>
            </a:r>
            <a:r>
              <a:rPr lang="en-US" dirty="0" err="1">
                <a:solidFill>
                  <a:schemeClr val="tx1"/>
                </a:solidFill>
              </a:rPr>
              <a:t>plt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9" name="Speech Bubble: Rectangle with Corners Rounded 38">
            <a:extLst>
              <a:ext uri="{FF2B5EF4-FFF2-40B4-BE49-F238E27FC236}">
                <a16:creationId xmlns:a16="http://schemas.microsoft.com/office/drawing/2014/main" id="{949128A9-77EC-8D4B-219D-7A28229C8AC4}"/>
              </a:ext>
            </a:extLst>
          </p:cNvPr>
          <p:cNvSpPr/>
          <p:nvPr/>
        </p:nvSpPr>
        <p:spPr>
          <a:xfrm>
            <a:off x="6096000" y="3807319"/>
            <a:ext cx="2885222" cy="612648"/>
          </a:xfrm>
          <a:prstGeom prst="wedgeRoundRectCallout">
            <a:avLst>
              <a:gd name="adj1" fmla="val -29330"/>
              <a:gd name="adj2" fmla="val 89539"/>
              <a:gd name="adj3" fmla="val 16667"/>
            </a:avLst>
          </a:prstGeom>
          <a:solidFill>
            <a:srgbClr val="E5F1F8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Only knows Python</a:t>
            </a:r>
          </a:p>
        </p:txBody>
      </p:sp>
    </p:spTree>
    <p:extLst>
      <p:ext uri="{BB962C8B-B14F-4D97-AF65-F5344CB8AC3E}">
        <p14:creationId xmlns:p14="http://schemas.microsoft.com/office/powerpoint/2010/main" val="23957088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D09C6FBE-9D75-48BF-C42A-6E39ED978517}"/>
              </a:ext>
            </a:extLst>
          </p:cNvPr>
          <p:cNvSpPr/>
          <p:nvPr/>
        </p:nvSpPr>
        <p:spPr>
          <a:xfrm>
            <a:off x="8773764" y="3207730"/>
            <a:ext cx="237446" cy="1846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D559C0-7BA5-7BA3-7991-88FE92F6985E}"/>
              </a:ext>
            </a:extLst>
          </p:cNvPr>
          <p:cNvSpPr/>
          <p:nvPr/>
        </p:nvSpPr>
        <p:spPr>
          <a:xfrm>
            <a:off x="4028921" y="2284412"/>
            <a:ext cx="4982297" cy="1817138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69A92FF-932E-7204-6E1B-ADC372951728}"/>
              </a:ext>
            </a:extLst>
          </p:cNvPr>
          <p:cNvSpPr/>
          <p:nvPr/>
        </p:nvSpPr>
        <p:spPr>
          <a:xfrm>
            <a:off x="5229604" y="2099745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Governance Layers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BB68683-7AE1-4C22-DB0B-68CB410C7950}"/>
              </a:ext>
            </a:extLst>
          </p:cNvPr>
          <p:cNvSpPr/>
          <p:nvPr/>
        </p:nvSpPr>
        <p:spPr>
          <a:xfrm>
            <a:off x="5847981" y="265374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Identity &amp; Trust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8AEFC57-5299-7BF2-954C-A15A60632198}"/>
              </a:ext>
            </a:extLst>
          </p:cNvPr>
          <p:cNvSpPr/>
          <p:nvPr/>
        </p:nvSpPr>
        <p:spPr>
          <a:xfrm>
            <a:off x="7429595" y="265374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Prompt Injection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FB277EF-2BCD-7572-3C0B-F3829ECED8EE}"/>
              </a:ext>
            </a:extLst>
          </p:cNvPr>
          <p:cNvSpPr/>
          <p:nvPr/>
        </p:nvSpPr>
        <p:spPr>
          <a:xfrm>
            <a:off x="4266367" y="2653741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Policy Engine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45AB78B-DEA8-01BB-75CC-60343D2DE3B9}"/>
              </a:ext>
            </a:extLst>
          </p:cNvPr>
          <p:cNvSpPr/>
          <p:nvPr/>
        </p:nvSpPr>
        <p:spPr>
          <a:xfrm>
            <a:off x="811982" y="2284411"/>
            <a:ext cx="2854044" cy="1817138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E8DED82-D37E-2CA9-B8B6-14C77E79F870}"/>
              </a:ext>
            </a:extLst>
          </p:cNvPr>
          <p:cNvSpPr/>
          <p:nvPr/>
        </p:nvSpPr>
        <p:spPr>
          <a:xfrm>
            <a:off x="1210903" y="2099745"/>
            <a:ext cx="2056202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Framework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21B9E34-2525-7477-715C-A94A9F092864}"/>
              </a:ext>
            </a:extLst>
          </p:cNvPr>
          <p:cNvSpPr/>
          <p:nvPr/>
        </p:nvSpPr>
        <p:spPr>
          <a:xfrm>
            <a:off x="5068128" y="3399767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Execution Sandbox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D185910-FAAE-B9BC-5504-BD859B072DB3}"/>
              </a:ext>
            </a:extLst>
          </p:cNvPr>
          <p:cNvSpPr/>
          <p:nvPr/>
        </p:nvSpPr>
        <p:spPr>
          <a:xfrm>
            <a:off x="6627846" y="3399767"/>
            <a:ext cx="1344168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Audit Log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42A45A0-4DC2-9B66-4AC8-0E24961EFEB3}"/>
              </a:ext>
            </a:extLst>
          </p:cNvPr>
          <p:cNvSpPr/>
          <p:nvPr/>
        </p:nvSpPr>
        <p:spPr>
          <a:xfrm>
            <a:off x="1024326" y="2653741"/>
            <a:ext cx="1103842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OpenAI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EEFFF0A-9698-34DD-AD36-A33BA15E0A7B}"/>
              </a:ext>
            </a:extLst>
          </p:cNvPr>
          <p:cNvSpPr/>
          <p:nvPr/>
        </p:nvSpPr>
        <p:spPr>
          <a:xfrm>
            <a:off x="2340512" y="2653742"/>
            <a:ext cx="1103842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LangChain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111102-2E81-9A03-3E50-0FB0D2507B7A}"/>
              </a:ext>
            </a:extLst>
          </p:cNvPr>
          <p:cNvSpPr/>
          <p:nvPr/>
        </p:nvSpPr>
        <p:spPr>
          <a:xfrm>
            <a:off x="1024326" y="3392394"/>
            <a:ext cx="1103842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CrewAI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B7AD7D0-AC7D-3A60-DE81-097E439CC0BD}"/>
              </a:ext>
            </a:extLst>
          </p:cNvPr>
          <p:cNvSpPr/>
          <p:nvPr/>
        </p:nvSpPr>
        <p:spPr>
          <a:xfrm>
            <a:off x="2340512" y="3399767"/>
            <a:ext cx="1103842" cy="55398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AutoGen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A768D8C-D005-708F-D0B3-75FFA74EC39C}"/>
              </a:ext>
            </a:extLst>
          </p:cNvPr>
          <p:cNvCxnSpPr>
            <a:cxnSpLocks/>
            <a:stCxn id="7" idx="3"/>
            <a:endCxn id="2" idx="1"/>
          </p:cNvCxnSpPr>
          <p:nvPr/>
        </p:nvCxnSpPr>
        <p:spPr>
          <a:xfrm>
            <a:off x="3666026" y="3192980"/>
            <a:ext cx="362895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9BB7F5A3-619C-4929-B9EE-4A61A71FD193}"/>
              </a:ext>
            </a:extLst>
          </p:cNvPr>
          <p:cNvCxnSpPr>
            <a:cxnSpLocks/>
            <a:stCxn id="29" idx="3"/>
            <a:endCxn id="20" idx="2"/>
          </p:cNvCxnSpPr>
          <p:nvPr/>
        </p:nvCxnSpPr>
        <p:spPr>
          <a:xfrm flipV="1">
            <a:off x="9011210" y="2749759"/>
            <a:ext cx="567259" cy="55030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FF3F189-78F8-E2E6-3BB4-7D68189CF0D7}"/>
              </a:ext>
            </a:extLst>
          </p:cNvPr>
          <p:cNvCxnSpPr>
            <a:cxnSpLocks/>
            <a:stCxn id="29" idx="3"/>
            <a:endCxn id="34" idx="2"/>
          </p:cNvCxnSpPr>
          <p:nvPr/>
        </p:nvCxnSpPr>
        <p:spPr>
          <a:xfrm>
            <a:off x="9011210" y="3300062"/>
            <a:ext cx="567259" cy="52449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1FFC1EC-BE44-BACF-7FF6-36B59D23C045}"/>
              </a:ext>
            </a:extLst>
          </p:cNvPr>
          <p:cNvGrpSpPr/>
          <p:nvPr/>
        </p:nvGrpSpPr>
        <p:grpSpPr>
          <a:xfrm>
            <a:off x="9578469" y="2280728"/>
            <a:ext cx="1344168" cy="746025"/>
            <a:chOff x="9154399" y="2746626"/>
            <a:chExt cx="1344168" cy="746025"/>
          </a:xfrm>
        </p:grpSpPr>
        <p:sp>
          <p:nvSpPr>
            <p:cNvPr id="20" name="Rectangle: Top Corners Rounded 19">
              <a:extLst>
                <a:ext uri="{FF2B5EF4-FFF2-40B4-BE49-F238E27FC236}">
                  <a16:creationId xmlns:a16="http://schemas.microsoft.com/office/drawing/2014/main" id="{216307B9-4BD8-168F-42F0-5B3FE0C4D8BF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Execute Tool</a:t>
              </a: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B6A576D1-C568-D323-02BC-80D25B9907E2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✓Allow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5783BEB-2611-7D95-DFA0-145D65E89C30}"/>
              </a:ext>
            </a:extLst>
          </p:cNvPr>
          <p:cNvGrpSpPr/>
          <p:nvPr/>
        </p:nvGrpSpPr>
        <p:grpSpPr>
          <a:xfrm>
            <a:off x="9578469" y="3355524"/>
            <a:ext cx="1344168" cy="746025"/>
            <a:chOff x="9333303" y="1474489"/>
            <a:chExt cx="1344168" cy="746025"/>
          </a:xfrm>
        </p:grpSpPr>
        <p:sp>
          <p:nvSpPr>
            <p:cNvPr id="34" name="Rectangle: Top Corners Rounded 33">
              <a:extLst>
                <a:ext uri="{FF2B5EF4-FFF2-40B4-BE49-F238E27FC236}">
                  <a16:creationId xmlns:a16="http://schemas.microsoft.com/office/drawing/2014/main" id="{CC177FAA-2FF8-49CA-1C5D-DC1D03EF165E}"/>
                </a:ext>
              </a:extLst>
            </p:cNvPr>
            <p:cNvSpPr/>
            <p:nvPr/>
          </p:nvSpPr>
          <p:spPr>
            <a:xfrm>
              <a:off x="9333303" y="1666525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Block &amp; Log</a:t>
              </a: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0E8F2DE-1F77-929B-EE42-882361C60C5D}"/>
                </a:ext>
              </a:extLst>
            </p:cNvPr>
            <p:cNvSpPr/>
            <p:nvPr/>
          </p:nvSpPr>
          <p:spPr>
            <a:xfrm>
              <a:off x="9333303" y="1474489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✗Deny 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67704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" name="Group 97">
            <a:extLst>
              <a:ext uri="{FF2B5EF4-FFF2-40B4-BE49-F238E27FC236}">
                <a16:creationId xmlns:a16="http://schemas.microsoft.com/office/drawing/2014/main" id="{C3905C4A-52FE-EFEC-35B2-C0A040F7D3B9}"/>
              </a:ext>
            </a:extLst>
          </p:cNvPr>
          <p:cNvGrpSpPr/>
          <p:nvPr/>
        </p:nvGrpSpPr>
        <p:grpSpPr>
          <a:xfrm>
            <a:off x="466409" y="826748"/>
            <a:ext cx="3871573" cy="1960546"/>
            <a:chOff x="466409" y="826748"/>
            <a:chExt cx="3871573" cy="1960546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D59C68B-C90E-5F85-9CBB-7F60D2AEFFEA}"/>
                </a:ext>
              </a:extLst>
            </p:cNvPr>
            <p:cNvSpPr txBox="1"/>
            <p:nvPr/>
          </p:nvSpPr>
          <p:spPr>
            <a:xfrm>
              <a:off x="466409" y="2202519"/>
              <a:ext cx="387157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Entities (nodes) are discreet objects of a domain.</a:t>
              </a:r>
            </a:p>
            <a:p>
              <a:pPr algn="ctr"/>
              <a:r>
                <a:rPr lang="en-US" sz="1600" dirty="0"/>
                <a:t>Related entities are connected by relations (edges).</a:t>
              </a:r>
            </a:p>
          </p:txBody>
        </p: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2A39D191-8C57-9B6C-3D42-C9AAA9B42F08}"/>
                </a:ext>
              </a:extLst>
            </p:cNvPr>
            <p:cNvGrpSpPr/>
            <p:nvPr/>
          </p:nvGrpSpPr>
          <p:grpSpPr>
            <a:xfrm>
              <a:off x="1237362" y="826748"/>
              <a:ext cx="2329668" cy="1243105"/>
              <a:chOff x="1237362" y="826748"/>
              <a:chExt cx="2329668" cy="1243105"/>
            </a:xfrm>
          </p:grpSpPr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F9E5F438-B07E-D480-845F-155604B0225A}"/>
                  </a:ext>
                </a:extLst>
              </p:cNvPr>
              <p:cNvSpPr/>
              <p:nvPr/>
            </p:nvSpPr>
            <p:spPr>
              <a:xfrm>
                <a:off x="1237362" y="826748"/>
                <a:ext cx="1103842" cy="553989"/>
              </a:xfrm>
              <a:prstGeom prst="roundRect">
                <a:avLst/>
              </a:prstGeom>
              <a:solidFill>
                <a:srgbClr val="E5F1F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1</a:t>
                </a: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E0D9A4FE-6DFE-AF9A-1A54-807583007E92}"/>
                  </a:ext>
                </a:extLst>
              </p:cNvPr>
              <p:cNvSpPr/>
              <p:nvPr/>
            </p:nvSpPr>
            <p:spPr>
              <a:xfrm>
                <a:off x="2463188" y="826748"/>
                <a:ext cx="1103842" cy="553989"/>
              </a:xfrm>
              <a:prstGeom prst="roundRect">
                <a:avLst/>
              </a:prstGeom>
              <a:solidFill>
                <a:srgbClr val="E5F1F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2</a:t>
                </a:r>
              </a:p>
            </p:txBody>
          </p:sp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6FE7779F-6B52-1035-4E07-02F2E33F92AB}"/>
                  </a:ext>
                </a:extLst>
              </p:cNvPr>
              <p:cNvSpPr/>
              <p:nvPr/>
            </p:nvSpPr>
            <p:spPr>
              <a:xfrm>
                <a:off x="1850275" y="1515864"/>
                <a:ext cx="1103842" cy="553989"/>
              </a:xfrm>
              <a:prstGeom prst="roundRect">
                <a:avLst/>
              </a:prstGeom>
              <a:solidFill>
                <a:srgbClr val="E5F1F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3</a:t>
                </a:r>
              </a:p>
            </p:txBody>
          </p: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88F4611C-64F1-B23C-3670-8007B55BE062}"/>
                  </a:ext>
                </a:extLst>
              </p:cNvPr>
              <p:cNvCxnSpPr>
                <a:cxnSpLocks/>
                <a:stCxn id="2" idx="3"/>
                <a:endCxn id="3" idx="1"/>
              </p:cNvCxnSpPr>
              <p:nvPr/>
            </p:nvCxnSpPr>
            <p:spPr>
              <a:xfrm>
                <a:off x="2341204" y="1103743"/>
                <a:ext cx="121984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B925C8F6-E9C1-80C0-8AE4-6C11624A53D6}"/>
              </a:ext>
            </a:extLst>
          </p:cNvPr>
          <p:cNvGrpSpPr/>
          <p:nvPr/>
        </p:nvGrpSpPr>
        <p:grpSpPr>
          <a:xfrm>
            <a:off x="4830328" y="1731830"/>
            <a:ext cx="5028058" cy="2832801"/>
            <a:chOff x="5258862" y="1539300"/>
            <a:chExt cx="5028058" cy="283280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3FC39B4-1A4B-4AD8-1212-F4B59FEC7EAC}"/>
                </a:ext>
              </a:extLst>
            </p:cNvPr>
            <p:cNvSpPr txBox="1"/>
            <p:nvPr/>
          </p:nvSpPr>
          <p:spPr>
            <a:xfrm>
              <a:off x="6234759" y="3541104"/>
              <a:ext cx="307448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Communities can be arranged hierarchically to represent high-level themes and topic-specific details.</a:t>
              </a:r>
            </a:p>
          </p:txBody>
        </p: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4E92CB3D-AD7E-F3E7-A441-189A03EBCCAB}"/>
                </a:ext>
              </a:extLst>
            </p:cNvPr>
            <p:cNvGrpSpPr/>
            <p:nvPr/>
          </p:nvGrpSpPr>
          <p:grpSpPr>
            <a:xfrm>
              <a:off x="5258862" y="1539300"/>
              <a:ext cx="5028058" cy="1916134"/>
              <a:chOff x="5792518" y="827066"/>
              <a:chExt cx="5028058" cy="1916134"/>
            </a:xfrm>
          </p:grpSpPr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FFFBBF61-7DDF-FC44-7FA4-832D8D1FEAFF}"/>
                  </a:ext>
                </a:extLst>
              </p:cNvPr>
              <p:cNvSpPr/>
              <p:nvPr/>
            </p:nvSpPr>
            <p:spPr>
              <a:xfrm>
                <a:off x="5792518" y="1011732"/>
                <a:ext cx="1576744" cy="1731468"/>
              </a:xfrm>
              <a:prstGeom prst="roundRect">
                <a:avLst>
                  <a:gd name="adj" fmla="val 5234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42544567-902F-3329-0F6D-8A8DF91822AF}"/>
                  </a:ext>
                </a:extLst>
              </p:cNvPr>
              <p:cNvSpPr/>
              <p:nvPr/>
            </p:nvSpPr>
            <p:spPr>
              <a:xfrm>
                <a:off x="6180837" y="827066"/>
                <a:ext cx="800105" cy="369332"/>
              </a:xfrm>
              <a:prstGeom prst="roundRect">
                <a:avLst/>
              </a:prstGeom>
              <a:solidFill>
                <a:srgbClr val="B2D4E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Level 1</a:t>
                </a:r>
                <a:endParaRPr lang="en-US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93E20573-752C-B95B-D974-22430F1835B5}"/>
                  </a:ext>
                </a:extLst>
              </p:cNvPr>
              <p:cNvSpPr/>
              <p:nvPr/>
            </p:nvSpPr>
            <p:spPr>
              <a:xfrm>
                <a:off x="7517286" y="1011732"/>
                <a:ext cx="1576744" cy="1731468"/>
              </a:xfrm>
              <a:prstGeom prst="roundRect">
                <a:avLst>
                  <a:gd name="adj" fmla="val 5234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E4B230D0-0FC3-36A7-4E6A-C12697EC4573}"/>
                  </a:ext>
                </a:extLst>
              </p:cNvPr>
              <p:cNvSpPr/>
              <p:nvPr/>
            </p:nvSpPr>
            <p:spPr>
              <a:xfrm>
                <a:off x="7905605" y="827066"/>
                <a:ext cx="800105" cy="369332"/>
              </a:xfrm>
              <a:prstGeom prst="roundRect">
                <a:avLst/>
              </a:prstGeom>
              <a:solidFill>
                <a:srgbClr val="B2D4E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Level 2</a:t>
                </a:r>
                <a:endParaRPr lang="en-US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00FA9DBB-5291-76B0-76C4-6B9213AF5E7F}"/>
                  </a:ext>
                </a:extLst>
              </p:cNvPr>
              <p:cNvSpPr/>
              <p:nvPr/>
            </p:nvSpPr>
            <p:spPr>
              <a:xfrm>
                <a:off x="9243832" y="1011732"/>
                <a:ext cx="1576744" cy="1731468"/>
              </a:xfrm>
              <a:prstGeom prst="roundRect">
                <a:avLst>
                  <a:gd name="adj" fmla="val 5234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3E7C5C83-E306-8FE4-8606-F71EE65FF899}"/>
                  </a:ext>
                </a:extLst>
              </p:cNvPr>
              <p:cNvSpPr/>
              <p:nvPr/>
            </p:nvSpPr>
            <p:spPr>
              <a:xfrm>
                <a:off x="9632151" y="827066"/>
                <a:ext cx="800105" cy="369332"/>
              </a:xfrm>
              <a:prstGeom prst="roundRect">
                <a:avLst/>
              </a:prstGeom>
              <a:solidFill>
                <a:srgbClr val="B2D4E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Level 3</a:t>
                </a:r>
                <a:endParaRPr lang="en-US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06575B38-9C6C-1486-0C8B-62F09B16C150}"/>
                  </a:ext>
                </a:extLst>
              </p:cNvPr>
              <p:cNvSpPr/>
              <p:nvPr/>
            </p:nvSpPr>
            <p:spPr>
              <a:xfrm>
                <a:off x="5940542" y="1806958"/>
                <a:ext cx="1280696" cy="226686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Root</a:t>
                </a:r>
                <a:endParaRPr lang="en-US" sz="1400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366FACC5-11C2-AC41-BDFA-5C030BBB9D67}"/>
                  </a:ext>
                </a:extLst>
              </p:cNvPr>
              <p:cNvSpPr/>
              <p:nvPr/>
            </p:nvSpPr>
            <p:spPr>
              <a:xfrm>
                <a:off x="7665309" y="1580272"/>
                <a:ext cx="1280696" cy="226686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Community 1</a:t>
                </a:r>
                <a:endParaRPr lang="en-US" sz="1400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6CEC94C4-8685-B9DC-83AB-9C0F3C38510D}"/>
                  </a:ext>
                </a:extLst>
              </p:cNvPr>
              <p:cNvSpPr/>
              <p:nvPr/>
            </p:nvSpPr>
            <p:spPr>
              <a:xfrm>
                <a:off x="9391855" y="1348979"/>
                <a:ext cx="1280696" cy="226686"/>
              </a:xfrm>
              <a:prstGeom prst="roundRect">
                <a:avLst/>
              </a:prstGeom>
              <a:solidFill>
                <a:srgbClr val="E5F1F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Community 1</a:t>
                </a:r>
                <a:endParaRPr lang="en-US" sz="1400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: Rounded Corners 20">
                <a:extLst>
                  <a:ext uri="{FF2B5EF4-FFF2-40B4-BE49-F238E27FC236}">
                    <a16:creationId xmlns:a16="http://schemas.microsoft.com/office/drawing/2014/main" id="{FA27E68D-70D4-C0BD-337E-13BC2FD9BC6F}"/>
                  </a:ext>
                </a:extLst>
              </p:cNvPr>
              <p:cNvSpPr/>
              <p:nvPr/>
            </p:nvSpPr>
            <p:spPr>
              <a:xfrm>
                <a:off x="9391855" y="1811615"/>
                <a:ext cx="1280696" cy="226686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Community 1.2</a:t>
                </a:r>
                <a:endParaRPr lang="en-US" sz="1400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8E30C314-A410-B194-8704-D1C425D60296}"/>
                  </a:ext>
                </a:extLst>
              </p:cNvPr>
              <p:cNvSpPr/>
              <p:nvPr/>
            </p:nvSpPr>
            <p:spPr>
              <a:xfrm>
                <a:off x="9391855" y="2259104"/>
                <a:ext cx="1280696" cy="226686"/>
              </a:xfrm>
              <a:prstGeom prst="roundRect">
                <a:avLst/>
              </a:prstGeom>
              <a:solidFill>
                <a:srgbClr val="FFFFC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Community 2.1</a:t>
                </a:r>
                <a:endParaRPr lang="en-US" sz="1400" i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05D092DB-EEB9-F127-066A-67876989D59F}"/>
                  </a:ext>
                </a:extLst>
              </p:cNvPr>
              <p:cNvSpPr/>
              <p:nvPr/>
            </p:nvSpPr>
            <p:spPr>
              <a:xfrm>
                <a:off x="7665309" y="2032418"/>
                <a:ext cx="1280696" cy="226686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Community 2</a:t>
                </a:r>
                <a:endParaRPr lang="en-US" sz="1400" i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2" name="Connector: Elbow 31">
                <a:extLst>
                  <a:ext uri="{FF2B5EF4-FFF2-40B4-BE49-F238E27FC236}">
                    <a16:creationId xmlns:a16="http://schemas.microsoft.com/office/drawing/2014/main" id="{6675AF36-471E-2F8A-26CD-2444BC94DE47}"/>
                  </a:ext>
                </a:extLst>
              </p:cNvPr>
              <p:cNvCxnSpPr>
                <a:cxnSpLocks/>
                <a:stCxn id="18" idx="3"/>
                <a:endCxn id="23" idx="1"/>
              </p:cNvCxnSpPr>
              <p:nvPr/>
            </p:nvCxnSpPr>
            <p:spPr>
              <a:xfrm>
                <a:off x="7221238" y="1920301"/>
                <a:ext cx="444071" cy="225460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prstDash val="solid"/>
                <a:headEnd type="none"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Connector: Elbow 34">
                <a:extLst>
                  <a:ext uri="{FF2B5EF4-FFF2-40B4-BE49-F238E27FC236}">
                    <a16:creationId xmlns:a16="http://schemas.microsoft.com/office/drawing/2014/main" id="{AE7F9BDD-66CA-B662-5F13-25D0B3B5E62F}"/>
                  </a:ext>
                </a:extLst>
              </p:cNvPr>
              <p:cNvCxnSpPr>
                <a:cxnSpLocks/>
                <a:stCxn id="18" idx="3"/>
                <a:endCxn id="19" idx="1"/>
              </p:cNvCxnSpPr>
              <p:nvPr/>
            </p:nvCxnSpPr>
            <p:spPr>
              <a:xfrm flipV="1">
                <a:off x="7221238" y="1693615"/>
                <a:ext cx="444071" cy="226686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prstDash val="solid"/>
                <a:headEnd type="none"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Connector: Elbow 37">
                <a:extLst>
                  <a:ext uri="{FF2B5EF4-FFF2-40B4-BE49-F238E27FC236}">
                    <a16:creationId xmlns:a16="http://schemas.microsoft.com/office/drawing/2014/main" id="{DC7F0B46-76F0-AD11-D77D-A759857BFE28}"/>
                  </a:ext>
                </a:extLst>
              </p:cNvPr>
              <p:cNvCxnSpPr>
                <a:cxnSpLocks/>
                <a:stCxn id="19" idx="3"/>
                <a:endCxn id="20" idx="1"/>
              </p:cNvCxnSpPr>
              <p:nvPr/>
            </p:nvCxnSpPr>
            <p:spPr>
              <a:xfrm flipV="1">
                <a:off x="8946005" y="1462322"/>
                <a:ext cx="445850" cy="231293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prstDash val="solid"/>
                <a:headEnd type="none"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Connector: Elbow 40">
                <a:extLst>
                  <a:ext uri="{FF2B5EF4-FFF2-40B4-BE49-F238E27FC236}">
                    <a16:creationId xmlns:a16="http://schemas.microsoft.com/office/drawing/2014/main" id="{952037B5-BF53-1EFD-EDE4-404E4462D4B4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>
                <a:off x="8946005" y="1693615"/>
                <a:ext cx="445850" cy="231343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prstDash val="solid"/>
                <a:headEnd type="none"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Connector: Elbow 55">
                <a:extLst>
                  <a:ext uri="{FF2B5EF4-FFF2-40B4-BE49-F238E27FC236}">
                    <a16:creationId xmlns:a16="http://schemas.microsoft.com/office/drawing/2014/main" id="{1A584B3E-9A5D-7610-8685-7D9FEC20831C}"/>
                  </a:ext>
                </a:extLst>
              </p:cNvPr>
              <p:cNvCxnSpPr>
                <a:cxnSpLocks/>
                <a:stCxn id="23" idx="3"/>
                <a:endCxn id="22" idx="1"/>
              </p:cNvCxnSpPr>
              <p:nvPr/>
            </p:nvCxnSpPr>
            <p:spPr>
              <a:xfrm>
                <a:off x="8946005" y="2145761"/>
                <a:ext cx="445850" cy="226686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prstDash val="solid"/>
                <a:headEnd type="none"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14FBFBD3-DFAD-7D9D-C99A-7663B1AC1CF8}"/>
              </a:ext>
            </a:extLst>
          </p:cNvPr>
          <p:cNvGrpSpPr/>
          <p:nvPr/>
        </p:nvGrpSpPr>
        <p:grpSpPr>
          <a:xfrm>
            <a:off x="928650" y="3160703"/>
            <a:ext cx="2947090" cy="2350710"/>
            <a:chOff x="928650" y="3160703"/>
            <a:chExt cx="2947090" cy="235071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E3FEF22-CC14-5794-53FE-818DDC260305}"/>
                </a:ext>
              </a:extLst>
            </p:cNvPr>
            <p:cNvSpPr txBox="1"/>
            <p:nvPr/>
          </p:nvSpPr>
          <p:spPr>
            <a:xfrm>
              <a:off x="928650" y="5172859"/>
              <a:ext cx="294709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Connected entities form communities.</a:t>
              </a: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69D1F65B-EC8F-836E-67C9-72AE5D109090}"/>
                </a:ext>
              </a:extLst>
            </p:cNvPr>
            <p:cNvGrpSpPr/>
            <p:nvPr/>
          </p:nvGrpSpPr>
          <p:grpSpPr>
            <a:xfrm>
              <a:off x="938218" y="3160703"/>
              <a:ext cx="2917652" cy="1815086"/>
              <a:chOff x="527401" y="3337004"/>
              <a:chExt cx="2917652" cy="1815086"/>
            </a:xfrm>
          </p:grpSpPr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6F6C99AB-F128-8C3E-231F-D7A9C7DB780B}"/>
                  </a:ext>
                </a:extLst>
              </p:cNvPr>
              <p:cNvSpPr/>
              <p:nvPr/>
            </p:nvSpPr>
            <p:spPr>
              <a:xfrm>
                <a:off x="1232931" y="3337004"/>
                <a:ext cx="859888" cy="338554"/>
              </a:xfrm>
              <a:prstGeom prst="roundRect">
                <a:avLst/>
              </a:prstGeom>
              <a:solidFill>
                <a:srgbClr val="E5F1F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1</a:t>
                </a:r>
              </a:p>
            </p:txBody>
          </p:sp>
          <p:sp>
            <p:nvSpPr>
              <p:cNvPr id="61" name="Rectangle: Rounded Corners 60">
                <a:extLst>
                  <a:ext uri="{FF2B5EF4-FFF2-40B4-BE49-F238E27FC236}">
                    <a16:creationId xmlns:a16="http://schemas.microsoft.com/office/drawing/2014/main" id="{C6014CF1-E462-AB7A-7190-F12C68ED41FD}"/>
                  </a:ext>
                </a:extLst>
              </p:cNvPr>
              <p:cNvSpPr/>
              <p:nvPr/>
            </p:nvSpPr>
            <p:spPr>
              <a:xfrm>
                <a:off x="1232931" y="3846012"/>
                <a:ext cx="859888" cy="338554"/>
              </a:xfrm>
              <a:prstGeom prst="roundRect">
                <a:avLst/>
              </a:prstGeom>
              <a:solidFill>
                <a:srgbClr val="E5F1F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3</a:t>
                </a:r>
              </a:p>
            </p:txBody>
          </p:sp>
          <p:sp>
            <p:nvSpPr>
              <p:cNvPr id="62" name="Rectangle: Rounded Corners 61">
                <a:extLst>
                  <a:ext uri="{FF2B5EF4-FFF2-40B4-BE49-F238E27FC236}">
                    <a16:creationId xmlns:a16="http://schemas.microsoft.com/office/drawing/2014/main" id="{99DF6471-0482-AE5D-D696-0E231C140A38}"/>
                  </a:ext>
                </a:extLst>
              </p:cNvPr>
              <p:cNvSpPr/>
              <p:nvPr/>
            </p:nvSpPr>
            <p:spPr>
              <a:xfrm>
                <a:off x="2266840" y="3337004"/>
                <a:ext cx="859888" cy="338554"/>
              </a:xfrm>
              <a:prstGeom prst="roundRect">
                <a:avLst/>
              </a:prstGeom>
              <a:solidFill>
                <a:srgbClr val="E5F1F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2</a:t>
                </a:r>
              </a:p>
            </p:txBody>
          </p:sp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25CADCA9-CE8F-8402-F532-920DCE4376E3}"/>
                  </a:ext>
                </a:extLst>
              </p:cNvPr>
              <p:cNvSpPr/>
              <p:nvPr/>
            </p:nvSpPr>
            <p:spPr>
              <a:xfrm>
                <a:off x="2585165" y="3846012"/>
                <a:ext cx="859888" cy="338554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4</a:t>
                </a:r>
              </a:p>
            </p:txBody>
          </p:sp>
          <p:sp>
            <p:nvSpPr>
              <p:cNvPr id="64" name="Rectangle: Rounded Corners 63">
                <a:extLst>
                  <a:ext uri="{FF2B5EF4-FFF2-40B4-BE49-F238E27FC236}">
                    <a16:creationId xmlns:a16="http://schemas.microsoft.com/office/drawing/2014/main" id="{B3537780-3C59-5EAC-1E9A-FCA0D75851F1}"/>
                  </a:ext>
                </a:extLst>
              </p:cNvPr>
              <p:cNvSpPr/>
              <p:nvPr/>
            </p:nvSpPr>
            <p:spPr>
              <a:xfrm>
                <a:off x="2585165" y="4329774"/>
                <a:ext cx="859888" cy="338554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5</a:t>
                </a:r>
              </a:p>
            </p:txBody>
          </p:sp>
          <p:sp>
            <p:nvSpPr>
              <p:cNvPr id="65" name="Rectangle: Rounded Corners 64">
                <a:extLst>
                  <a:ext uri="{FF2B5EF4-FFF2-40B4-BE49-F238E27FC236}">
                    <a16:creationId xmlns:a16="http://schemas.microsoft.com/office/drawing/2014/main" id="{1AA1347C-046D-2E47-1F58-287BDD126DE1}"/>
                  </a:ext>
                </a:extLst>
              </p:cNvPr>
              <p:cNvSpPr/>
              <p:nvPr/>
            </p:nvSpPr>
            <p:spPr>
              <a:xfrm>
                <a:off x="1542308" y="4329774"/>
                <a:ext cx="859888" cy="338554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6</a:t>
                </a:r>
              </a:p>
            </p:txBody>
          </p:sp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04D1F536-081B-7985-A3C9-95B0716BE3A6}"/>
                  </a:ext>
                </a:extLst>
              </p:cNvPr>
              <p:cNvSpPr/>
              <p:nvPr/>
            </p:nvSpPr>
            <p:spPr>
              <a:xfrm>
                <a:off x="2585165" y="4813536"/>
                <a:ext cx="859888" cy="338554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7</a:t>
                </a:r>
              </a:p>
            </p:txBody>
          </p:sp>
          <p:cxnSp>
            <p:nvCxnSpPr>
              <p:cNvPr id="67" name="Straight Arrow Connector 66">
                <a:extLst>
                  <a:ext uri="{FF2B5EF4-FFF2-40B4-BE49-F238E27FC236}">
                    <a16:creationId xmlns:a16="http://schemas.microsoft.com/office/drawing/2014/main" id="{E368E3B2-4ABF-B0DE-4D50-8EE5889DAD62}"/>
                  </a:ext>
                </a:extLst>
              </p:cNvPr>
              <p:cNvCxnSpPr>
                <a:cxnSpLocks/>
                <a:stCxn id="8" idx="3"/>
                <a:endCxn id="62" idx="1"/>
              </p:cNvCxnSpPr>
              <p:nvPr/>
            </p:nvCxnSpPr>
            <p:spPr>
              <a:xfrm>
                <a:off x="2092819" y="3506281"/>
                <a:ext cx="174021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98A80F9E-737A-D2C3-67A8-31DC5437053A}"/>
                  </a:ext>
                </a:extLst>
              </p:cNvPr>
              <p:cNvCxnSpPr>
                <a:cxnSpLocks/>
                <a:stCxn id="61" idx="0"/>
                <a:endCxn id="8" idx="2"/>
              </p:cNvCxnSpPr>
              <p:nvPr/>
            </p:nvCxnSpPr>
            <p:spPr>
              <a:xfrm flipV="1">
                <a:off x="1662875" y="3675558"/>
                <a:ext cx="0" cy="17045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Arrow Connector 72">
                <a:extLst>
                  <a:ext uri="{FF2B5EF4-FFF2-40B4-BE49-F238E27FC236}">
                    <a16:creationId xmlns:a16="http://schemas.microsoft.com/office/drawing/2014/main" id="{392FF705-C7A7-96C5-D94A-9271BEBA744E}"/>
                  </a:ext>
                </a:extLst>
              </p:cNvPr>
              <p:cNvCxnSpPr>
                <a:cxnSpLocks/>
                <a:stCxn id="65" idx="3"/>
                <a:endCxn id="64" idx="1"/>
              </p:cNvCxnSpPr>
              <p:nvPr/>
            </p:nvCxnSpPr>
            <p:spPr>
              <a:xfrm>
                <a:off x="2402196" y="4499051"/>
                <a:ext cx="182969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Arrow Connector 76">
                <a:extLst>
                  <a:ext uri="{FF2B5EF4-FFF2-40B4-BE49-F238E27FC236}">
                    <a16:creationId xmlns:a16="http://schemas.microsoft.com/office/drawing/2014/main" id="{74A98A24-728B-02A8-6883-620DFAC159C5}"/>
                  </a:ext>
                </a:extLst>
              </p:cNvPr>
              <p:cNvCxnSpPr>
                <a:cxnSpLocks/>
                <a:stCxn id="64" idx="0"/>
                <a:endCxn id="63" idx="2"/>
              </p:cNvCxnSpPr>
              <p:nvPr/>
            </p:nvCxnSpPr>
            <p:spPr>
              <a:xfrm flipV="1">
                <a:off x="3015109" y="4184566"/>
                <a:ext cx="0" cy="14520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Arrow Connector 79">
                <a:extLst>
                  <a:ext uri="{FF2B5EF4-FFF2-40B4-BE49-F238E27FC236}">
                    <a16:creationId xmlns:a16="http://schemas.microsoft.com/office/drawing/2014/main" id="{32A5B46A-162A-A1AE-DADA-D73C3DCD25B8}"/>
                  </a:ext>
                </a:extLst>
              </p:cNvPr>
              <p:cNvCxnSpPr>
                <a:cxnSpLocks/>
                <a:stCxn id="66" idx="0"/>
                <a:endCxn id="64" idx="2"/>
              </p:cNvCxnSpPr>
              <p:nvPr/>
            </p:nvCxnSpPr>
            <p:spPr>
              <a:xfrm flipV="1">
                <a:off x="3015109" y="4668328"/>
                <a:ext cx="0" cy="14520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4" name="Rectangle: Rounded Corners 83">
                <a:extLst>
                  <a:ext uri="{FF2B5EF4-FFF2-40B4-BE49-F238E27FC236}">
                    <a16:creationId xmlns:a16="http://schemas.microsoft.com/office/drawing/2014/main" id="{60EAE82E-C331-A931-07CE-22A3D52623FC}"/>
                  </a:ext>
                </a:extLst>
              </p:cNvPr>
              <p:cNvSpPr/>
              <p:nvPr/>
            </p:nvSpPr>
            <p:spPr>
              <a:xfrm>
                <a:off x="1359339" y="4813536"/>
                <a:ext cx="859888" cy="33855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8</a:t>
                </a:r>
              </a:p>
            </p:txBody>
          </p:sp>
          <p:sp>
            <p:nvSpPr>
              <p:cNvPr id="85" name="Rectangle: Rounded Corners 84">
                <a:extLst>
                  <a:ext uri="{FF2B5EF4-FFF2-40B4-BE49-F238E27FC236}">
                    <a16:creationId xmlns:a16="http://schemas.microsoft.com/office/drawing/2014/main" id="{4FF4A86C-AE6B-95AD-AADC-765C53F50312}"/>
                  </a:ext>
                </a:extLst>
              </p:cNvPr>
              <p:cNvSpPr/>
              <p:nvPr/>
            </p:nvSpPr>
            <p:spPr>
              <a:xfrm>
                <a:off x="527401" y="4329774"/>
                <a:ext cx="859888" cy="33855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Entity 9</a:t>
                </a:r>
              </a:p>
            </p:txBody>
          </p:sp>
          <p:cxnSp>
            <p:nvCxnSpPr>
              <p:cNvPr id="86" name="Connector: Elbow 85">
                <a:extLst>
                  <a:ext uri="{FF2B5EF4-FFF2-40B4-BE49-F238E27FC236}">
                    <a16:creationId xmlns:a16="http://schemas.microsoft.com/office/drawing/2014/main" id="{9F700CED-1C1E-A8D7-EA8F-D6D5CF4E141B}"/>
                  </a:ext>
                </a:extLst>
              </p:cNvPr>
              <p:cNvCxnSpPr>
                <a:cxnSpLocks/>
                <a:stCxn id="85" idx="2"/>
                <a:endCxn id="84" idx="1"/>
              </p:cNvCxnSpPr>
              <p:nvPr/>
            </p:nvCxnSpPr>
            <p:spPr>
              <a:xfrm rot="16200000" flipH="1">
                <a:off x="1001100" y="4624573"/>
                <a:ext cx="314485" cy="401994"/>
              </a:xfrm>
              <a:prstGeom prst="bentConnector2">
                <a:avLst/>
              </a:prstGeom>
              <a:ln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4932823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CF80C86E-58D4-B174-1E73-0A50246E20A4}"/>
              </a:ext>
            </a:extLst>
          </p:cNvPr>
          <p:cNvSpPr/>
          <p:nvPr/>
        </p:nvSpPr>
        <p:spPr>
          <a:xfrm>
            <a:off x="815009" y="1480931"/>
            <a:ext cx="3657600" cy="36576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CC98AF7-F22C-249A-306C-516F719A4DD5}"/>
              </a:ext>
            </a:extLst>
          </p:cNvPr>
          <p:cNvSpPr/>
          <p:nvPr/>
        </p:nvSpPr>
        <p:spPr>
          <a:xfrm>
            <a:off x="1272209" y="1938131"/>
            <a:ext cx="2743200" cy="274320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CC548FE-C725-F21F-EECE-27D62F1F833A}"/>
              </a:ext>
            </a:extLst>
          </p:cNvPr>
          <p:cNvSpPr/>
          <p:nvPr/>
        </p:nvSpPr>
        <p:spPr>
          <a:xfrm>
            <a:off x="1729409" y="2395331"/>
            <a:ext cx="1828800" cy="1828800"/>
          </a:xfrm>
          <a:prstGeom prst="ellipse">
            <a:avLst/>
          </a:prstGeom>
          <a:solidFill>
            <a:srgbClr val="B0D3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0415412-7E1B-2ECC-0786-4A6132CDD673}"/>
              </a:ext>
            </a:extLst>
          </p:cNvPr>
          <p:cNvSpPr/>
          <p:nvPr/>
        </p:nvSpPr>
        <p:spPr>
          <a:xfrm>
            <a:off x="2186609" y="2852531"/>
            <a:ext cx="914400" cy="9144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B189114-68FB-4B8E-BF07-F84D9A019160}"/>
              </a:ext>
            </a:extLst>
          </p:cNvPr>
          <p:cNvSpPr/>
          <p:nvPr/>
        </p:nvSpPr>
        <p:spPr>
          <a:xfrm>
            <a:off x="2506649" y="3172571"/>
            <a:ext cx="274320" cy="27432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7051D7B-1B88-BB29-E835-7E9AD2C81E13}"/>
              </a:ext>
            </a:extLst>
          </p:cNvPr>
          <p:cNvSpPr/>
          <p:nvPr/>
        </p:nvSpPr>
        <p:spPr>
          <a:xfrm>
            <a:off x="2506649" y="3858371"/>
            <a:ext cx="274320" cy="27432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017C1FB-B9B0-A544-018A-40F5602ADB75}"/>
              </a:ext>
            </a:extLst>
          </p:cNvPr>
          <p:cNvSpPr/>
          <p:nvPr/>
        </p:nvSpPr>
        <p:spPr>
          <a:xfrm>
            <a:off x="2506649" y="4306243"/>
            <a:ext cx="274320" cy="27432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3BB3504-9CE8-67D2-DD11-EDFB3DF1A9D2}"/>
              </a:ext>
            </a:extLst>
          </p:cNvPr>
          <p:cNvSpPr/>
          <p:nvPr/>
        </p:nvSpPr>
        <p:spPr>
          <a:xfrm>
            <a:off x="2506649" y="4763443"/>
            <a:ext cx="274320" cy="27432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4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FAE7B39-0D6E-2F49-E761-6510D66859F7}"/>
              </a:ext>
            </a:extLst>
          </p:cNvPr>
          <p:cNvGrpSpPr/>
          <p:nvPr/>
        </p:nvGrpSpPr>
        <p:grpSpPr>
          <a:xfrm>
            <a:off x="4792648" y="2325322"/>
            <a:ext cx="1818401" cy="746025"/>
            <a:chOff x="9154399" y="2746626"/>
            <a:chExt cx="1344168" cy="746025"/>
          </a:xfrm>
        </p:grpSpPr>
        <p:sp>
          <p:nvSpPr>
            <p:cNvPr id="14" name="Rectangle: Top Corners Rounded 13">
              <a:extLst>
                <a:ext uri="{FF2B5EF4-FFF2-40B4-BE49-F238E27FC236}">
                  <a16:creationId xmlns:a16="http://schemas.microsoft.com/office/drawing/2014/main" id="{147BB980-3222-2816-AA45-8F53BFAB799C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Vetted, can write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2C9488A8-8BEB-7C4B-06D7-BBA89E69E3A4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Supervisor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61399A9-7756-5106-74E4-8039284BD6F9}"/>
              </a:ext>
            </a:extLst>
          </p:cNvPr>
          <p:cNvGrpSpPr/>
          <p:nvPr/>
        </p:nvGrpSpPr>
        <p:grpSpPr>
          <a:xfrm>
            <a:off x="4792649" y="1480931"/>
            <a:ext cx="1818401" cy="746025"/>
            <a:chOff x="9154399" y="2746626"/>
            <a:chExt cx="1344168" cy="746025"/>
          </a:xfrm>
        </p:grpSpPr>
        <p:sp>
          <p:nvSpPr>
            <p:cNvPr id="20" name="Rectangle: Top Corners Rounded 19">
              <a:extLst>
                <a:ext uri="{FF2B5EF4-FFF2-40B4-BE49-F238E27FC236}">
                  <a16:creationId xmlns:a16="http://schemas.microsoft.com/office/drawing/2014/main" id="{B9C15A88-3F88-44B9-1AC2-BB1472D41859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Policy engine only</a:t>
              </a:r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C8B1ED5E-7029-8479-1352-ACFBF15B5279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Kernel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E13D34C-09BE-AB71-4F6E-A98DED831C08}"/>
              </a:ext>
            </a:extLst>
          </p:cNvPr>
          <p:cNvGrpSpPr/>
          <p:nvPr/>
        </p:nvGrpSpPr>
        <p:grpSpPr>
          <a:xfrm>
            <a:off x="4792648" y="3169714"/>
            <a:ext cx="1818401" cy="746025"/>
            <a:chOff x="9154399" y="2746626"/>
            <a:chExt cx="1344168" cy="746025"/>
          </a:xfrm>
        </p:grpSpPr>
        <p:sp>
          <p:nvSpPr>
            <p:cNvPr id="23" name="Rectangle: Top Corners Rounded 22">
              <a:extLst>
                <a:ext uri="{FF2B5EF4-FFF2-40B4-BE49-F238E27FC236}">
                  <a16:creationId xmlns:a16="http://schemas.microsoft.com/office/drawing/2014/main" id="{52FD50CD-760C-883D-C943-5372574A74FF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Standard agent</a:t>
              </a: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BFF9C8C6-191E-39B7-1611-4972B37E34D0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User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9062568-FA8E-F589-1C12-98954AC4D417}"/>
              </a:ext>
            </a:extLst>
          </p:cNvPr>
          <p:cNvGrpSpPr/>
          <p:nvPr/>
        </p:nvGrpSpPr>
        <p:grpSpPr>
          <a:xfrm>
            <a:off x="4792647" y="4014105"/>
            <a:ext cx="1818401" cy="746025"/>
            <a:chOff x="9154399" y="2746626"/>
            <a:chExt cx="1344168" cy="746025"/>
          </a:xfrm>
        </p:grpSpPr>
        <p:sp>
          <p:nvSpPr>
            <p:cNvPr id="26" name="Rectangle: Top Corners Rounded 25">
              <a:extLst>
                <a:ext uri="{FF2B5EF4-FFF2-40B4-BE49-F238E27FC236}">
                  <a16:creationId xmlns:a16="http://schemas.microsoft.com/office/drawing/2014/main" id="{7A6B1112-EEBD-21AA-3321-692ED735351E}"/>
                </a:ext>
              </a:extLst>
            </p:cNvPr>
            <p:cNvSpPr/>
            <p:nvPr/>
          </p:nvSpPr>
          <p:spPr>
            <a:xfrm>
              <a:off x="9154399" y="2938662"/>
              <a:ext cx="1344168" cy="553989"/>
            </a:xfrm>
            <a:prstGeom prst="round2SameRect">
              <a:avLst>
                <a:gd name="adj1" fmla="val 0"/>
                <a:gd name="adj2" fmla="val 11961"/>
              </a:avLst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Sandbox, read-only</a:t>
              </a:r>
            </a:p>
          </p:txBody>
        </p:sp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AB723828-D5F7-AD98-0255-8EF3A2D01ACD}"/>
                </a:ext>
              </a:extLst>
            </p:cNvPr>
            <p:cNvSpPr/>
            <p:nvPr/>
          </p:nvSpPr>
          <p:spPr>
            <a:xfrm>
              <a:off x="9154399" y="2746626"/>
              <a:ext cx="1344168" cy="230826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Untrusted</a:t>
              </a:r>
              <a:endParaRPr lang="en-US" i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A9A562-A639-0290-4A8F-2191FEFD3543}"/>
              </a:ext>
            </a:extLst>
          </p:cNvPr>
          <p:cNvCxnSpPr>
            <a:cxnSpLocks/>
            <a:stCxn id="21" idx="1"/>
            <a:endCxn id="9" idx="6"/>
          </p:cNvCxnSpPr>
          <p:nvPr/>
        </p:nvCxnSpPr>
        <p:spPr>
          <a:xfrm flipH="1">
            <a:off x="2780969" y="1596344"/>
            <a:ext cx="2011680" cy="1713387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979D161-0A00-5FB8-B949-F291626722CB}"/>
              </a:ext>
            </a:extLst>
          </p:cNvPr>
          <p:cNvCxnSpPr>
            <a:cxnSpLocks/>
            <a:stCxn id="15" idx="1"/>
            <a:endCxn id="10" idx="6"/>
          </p:cNvCxnSpPr>
          <p:nvPr/>
        </p:nvCxnSpPr>
        <p:spPr>
          <a:xfrm flipH="1">
            <a:off x="2780969" y="2440735"/>
            <a:ext cx="2011679" cy="155479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3C74887-A269-0023-3251-BF5F26080FE7}"/>
              </a:ext>
            </a:extLst>
          </p:cNvPr>
          <p:cNvCxnSpPr>
            <a:cxnSpLocks/>
            <a:stCxn id="24" idx="1"/>
            <a:endCxn id="11" idx="6"/>
          </p:cNvCxnSpPr>
          <p:nvPr/>
        </p:nvCxnSpPr>
        <p:spPr>
          <a:xfrm flipH="1">
            <a:off x="2780969" y="3285127"/>
            <a:ext cx="2011679" cy="115827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2D1CCDD-6A9B-27D0-1997-3B216D317AAC}"/>
              </a:ext>
            </a:extLst>
          </p:cNvPr>
          <p:cNvCxnSpPr>
            <a:cxnSpLocks/>
            <a:stCxn id="27" idx="1"/>
            <a:endCxn id="12" idx="6"/>
          </p:cNvCxnSpPr>
          <p:nvPr/>
        </p:nvCxnSpPr>
        <p:spPr>
          <a:xfrm flipH="1">
            <a:off x="2780969" y="4129518"/>
            <a:ext cx="2011678" cy="77108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93453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66B8ABE-2B67-AC7D-6923-61C571035515}"/>
              </a:ext>
            </a:extLst>
          </p:cNvPr>
          <p:cNvSpPr/>
          <p:nvPr/>
        </p:nvSpPr>
        <p:spPr>
          <a:xfrm>
            <a:off x="1846669" y="1616765"/>
            <a:ext cx="7787661" cy="2908853"/>
          </a:xfrm>
          <a:prstGeom prst="roundRect">
            <a:avLst>
              <a:gd name="adj" fmla="val 9140"/>
            </a:avLst>
          </a:prstGeom>
          <a:solidFill>
            <a:srgbClr val="B2D4EB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E532458-BFDC-B07D-0222-85A17E657629}"/>
              </a:ext>
            </a:extLst>
          </p:cNvPr>
          <p:cNvSpPr/>
          <p:nvPr/>
        </p:nvSpPr>
        <p:spPr>
          <a:xfrm>
            <a:off x="5546035" y="1981200"/>
            <a:ext cx="4300070" cy="4658139"/>
          </a:xfrm>
          <a:prstGeom prst="roundRect">
            <a:avLst>
              <a:gd name="adj" fmla="val 5234"/>
            </a:avLst>
          </a:prstGeom>
          <a:solidFill>
            <a:srgbClr val="FF99CC">
              <a:alpha val="50196"/>
            </a:srgb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A9200CC-ABCB-F660-9889-A654C5A493AD}"/>
              </a:ext>
            </a:extLst>
          </p:cNvPr>
          <p:cNvGrpSpPr/>
          <p:nvPr/>
        </p:nvGrpSpPr>
        <p:grpSpPr>
          <a:xfrm>
            <a:off x="5795275" y="2197807"/>
            <a:ext cx="1619316" cy="965109"/>
            <a:chOff x="5795275" y="2372220"/>
            <a:chExt cx="1619316" cy="965109"/>
          </a:xfrm>
        </p:grpSpPr>
        <p:pic>
          <p:nvPicPr>
            <p:cNvPr id="2" name="Picture 4">
              <a:extLst>
                <a:ext uri="{FF2B5EF4-FFF2-40B4-BE49-F238E27FC236}">
                  <a16:creationId xmlns:a16="http://schemas.microsoft.com/office/drawing/2014/main" id="{C4B6F66F-F134-577E-D9A3-9F4AE662DD1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 bwMode="auto">
            <a:xfrm>
              <a:off x="6262033" y="2372220"/>
              <a:ext cx="685800" cy="6265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93E8FB6-BD07-7C70-4F97-87F4182AA23A}"/>
                </a:ext>
              </a:extLst>
            </p:cNvPr>
            <p:cNvSpPr txBox="1"/>
            <p:nvPr/>
          </p:nvSpPr>
          <p:spPr>
            <a:xfrm>
              <a:off x="5795275" y="2998775"/>
              <a:ext cx="161931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600" dirty="0"/>
                <a:t>Foundry Project 1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7F4A9C0-B188-0AC9-C825-2CFD10E6AA69}"/>
              </a:ext>
            </a:extLst>
          </p:cNvPr>
          <p:cNvGrpSpPr/>
          <p:nvPr/>
        </p:nvGrpSpPr>
        <p:grpSpPr>
          <a:xfrm>
            <a:off x="5813927" y="3376020"/>
            <a:ext cx="1619316" cy="965109"/>
            <a:chOff x="5795275" y="3520672"/>
            <a:chExt cx="1619316" cy="96510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2670C6B-0034-D45C-3CD3-1611D245FA9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 bwMode="auto">
            <a:xfrm>
              <a:off x="6262033" y="3520672"/>
              <a:ext cx="685800" cy="6265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20AAFF-8E16-117F-1E79-66AFC254A79D}"/>
                </a:ext>
              </a:extLst>
            </p:cNvPr>
            <p:cNvSpPr txBox="1"/>
            <p:nvPr/>
          </p:nvSpPr>
          <p:spPr>
            <a:xfrm>
              <a:off x="5795275" y="4147227"/>
              <a:ext cx="161931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600" dirty="0"/>
                <a:t>Foundry Project 2</a:t>
              </a:r>
            </a:p>
          </p:txBody>
        </p:sp>
      </p:grp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BF49BB0-EFDD-818F-030E-AA903BBBA84F}"/>
              </a:ext>
            </a:extLst>
          </p:cNvPr>
          <p:cNvSpPr/>
          <p:nvPr/>
        </p:nvSpPr>
        <p:spPr>
          <a:xfrm>
            <a:off x="7663831" y="2367083"/>
            <a:ext cx="1721162" cy="62655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Connections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4E1DE3B-9DF7-2463-46AD-7F077C353A0D}"/>
              </a:ext>
            </a:extLst>
          </p:cNvPr>
          <p:cNvSpPr/>
          <p:nvPr/>
        </p:nvSpPr>
        <p:spPr>
          <a:xfrm>
            <a:off x="7701135" y="3520671"/>
            <a:ext cx="1721162" cy="62655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 Deployments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3CC971B-2964-BC31-ADF8-6E40B1867783}"/>
              </a:ext>
            </a:extLst>
          </p:cNvPr>
          <p:cNvSpPr/>
          <p:nvPr/>
        </p:nvSpPr>
        <p:spPr>
          <a:xfrm>
            <a:off x="7701135" y="4669123"/>
            <a:ext cx="1721162" cy="626556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EAF7B14-9580-BEEA-DB52-19C266F7F4C7}"/>
              </a:ext>
            </a:extLst>
          </p:cNvPr>
          <p:cNvSpPr/>
          <p:nvPr/>
        </p:nvSpPr>
        <p:spPr>
          <a:xfrm>
            <a:off x="7701135" y="5650866"/>
            <a:ext cx="1721162" cy="626556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Evaluations</a:t>
            </a:r>
            <a:endParaRPr lang="en-US" i="1" dirty="0">
              <a:solidFill>
                <a:schemeClr val="tx1"/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ED85371-8B51-CFF3-1FE0-265C42598090}"/>
              </a:ext>
            </a:extLst>
          </p:cNvPr>
          <p:cNvGrpSpPr/>
          <p:nvPr/>
        </p:nvGrpSpPr>
        <p:grpSpPr>
          <a:xfrm>
            <a:off x="3568720" y="2168184"/>
            <a:ext cx="1619316" cy="1024354"/>
            <a:chOff x="3456299" y="1815962"/>
            <a:chExt cx="1619316" cy="1024354"/>
          </a:xfrm>
        </p:grpSpPr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1D15C520-2A59-A612-7125-A2143C0116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23057" y="1815962"/>
              <a:ext cx="685800" cy="6858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E8B6378-6E50-AFF7-1343-C163470BBC1B}"/>
                </a:ext>
              </a:extLst>
            </p:cNvPr>
            <p:cNvSpPr txBox="1"/>
            <p:nvPr/>
          </p:nvSpPr>
          <p:spPr>
            <a:xfrm>
              <a:off x="3456299" y="2501762"/>
              <a:ext cx="161931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600" dirty="0"/>
                <a:t>Resource Group</a:t>
              </a:r>
            </a:p>
          </p:txBody>
        </p:sp>
      </p:grp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47CE8FD5-6872-1BC2-110D-1C7344092C1D}"/>
              </a:ext>
            </a:extLst>
          </p:cNvPr>
          <p:cNvCxnSpPr>
            <a:cxnSpLocks/>
            <a:stCxn id="6" idx="2"/>
            <a:endCxn id="9" idx="1"/>
          </p:cNvCxnSpPr>
          <p:nvPr/>
        </p:nvCxnSpPr>
        <p:spPr>
          <a:xfrm rot="16200000" flipH="1">
            <a:off x="6841724" y="4122990"/>
            <a:ext cx="641272" cy="1077550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B2443EE5-4BDC-6790-A62C-D0CD27DC3092}"/>
              </a:ext>
            </a:extLst>
          </p:cNvPr>
          <p:cNvCxnSpPr>
            <a:cxnSpLocks/>
            <a:stCxn id="6" idx="2"/>
            <a:endCxn id="14" idx="1"/>
          </p:cNvCxnSpPr>
          <p:nvPr/>
        </p:nvCxnSpPr>
        <p:spPr>
          <a:xfrm rot="16200000" flipH="1">
            <a:off x="6350853" y="4613861"/>
            <a:ext cx="1623015" cy="1077550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AE83465-FA3A-3E3A-2550-D52B687C70B3}"/>
              </a:ext>
            </a:extLst>
          </p:cNvPr>
          <p:cNvGrpSpPr/>
          <p:nvPr/>
        </p:nvGrpSpPr>
        <p:grpSpPr>
          <a:xfrm>
            <a:off x="1955050" y="2113286"/>
            <a:ext cx="1619316" cy="1049630"/>
            <a:chOff x="1187691" y="2307839"/>
            <a:chExt cx="1619316" cy="1049630"/>
          </a:xfrm>
        </p:grpSpPr>
        <p:pic>
          <p:nvPicPr>
            <p:cNvPr id="21" name="Graphic 20">
              <a:extLst>
                <a:ext uri="{FF2B5EF4-FFF2-40B4-BE49-F238E27FC236}">
                  <a16:creationId xmlns:a16="http://schemas.microsoft.com/office/drawing/2014/main" id="{C6693CC7-0634-1865-F061-9CCBC05D57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660095" y="2307839"/>
              <a:ext cx="685800" cy="68580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C8BEB24-990C-9757-0671-D3DFE71C8EBE}"/>
                </a:ext>
              </a:extLst>
            </p:cNvPr>
            <p:cNvSpPr txBox="1"/>
            <p:nvPr/>
          </p:nvSpPr>
          <p:spPr>
            <a:xfrm>
              <a:off x="1187691" y="3018915"/>
              <a:ext cx="161931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600" dirty="0"/>
                <a:t>Subscription</a:t>
              </a:r>
            </a:p>
          </p:txBody>
        </p:sp>
      </p:grp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CC386FB1-1774-DC5D-3765-16DF8A302B9D}"/>
              </a:ext>
            </a:extLst>
          </p:cNvPr>
          <p:cNvCxnSpPr>
            <a:cxnSpLocks/>
            <a:stCxn id="17" idx="2"/>
            <a:endCxn id="5" idx="1"/>
          </p:cNvCxnSpPr>
          <p:nvPr/>
        </p:nvCxnSpPr>
        <p:spPr>
          <a:xfrm rot="16200000" flipH="1">
            <a:off x="5081151" y="2489764"/>
            <a:ext cx="496760" cy="1902307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167C6D2-2F35-16D5-66CE-74B05D8B9E37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3092509" y="2511084"/>
            <a:ext cx="94296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50A9C6B-FC58-53EA-0D44-BC452807C6B9}"/>
              </a:ext>
            </a:extLst>
          </p:cNvPr>
          <p:cNvCxnSpPr>
            <a:cxnSpLocks/>
            <a:stCxn id="16" idx="3"/>
            <a:endCxn id="2" idx="1"/>
          </p:cNvCxnSpPr>
          <p:nvPr/>
        </p:nvCxnSpPr>
        <p:spPr>
          <a:xfrm>
            <a:off x="4721278" y="2511084"/>
            <a:ext cx="1540755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259E1EA-D65C-1BDA-9D85-CD408A984AD3}"/>
              </a:ext>
            </a:extLst>
          </p:cNvPr>
          <p:cNvCxnSpPr>
            <a:cxnSpLocks/>
          </p:cNvCxnSpPr>
          <p:nvPr/>
        </p:nvCxnSpPr>
        <p:spPr>
          <a:xfrm>
            <a:off x="679531" y="4596236"/>
            <a:ext cx="931923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9CF41F89-FBE4-31C3-21F8-2349601FB996}"/>
              </a:ext>
            </a:extLst>
          </p:cNvPr>
          <p:cNvSpPr txBox="1"/>
          <p:nvPr/>
        </p:nvSpPr>
        <p:spPr>
          <a:xfrm>
            <a:off x="670455" y="4210072"/>
            <a:ext cx="847138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1600" dirty="0"/>
              <a:t>Control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EA63B99-8FF9-0529-4512-654151B9E77D}"/>
              </a:ext>
            </a:extLst>
          </p:cNvPr>
          <p:cNvSpPr txBox="1"/>
          <p:nvPr/>
        </p:nvSpPr>
        <p:spPr>
          <a:xfrm>
            <a:off x="661137" y="4615720"/>
            <a:ext cx="86577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1600" dirty="0"/>
              <a:t>Data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5C7ADF6B-003E-D6A7-9899-01FA53FDA457}"/>
              </a:ext>
            </a:extLst>
          </p:cNvPr>
          <p:cNvGrpSpPr/>
          <p:nvPr/>
        </p:nvGrpSpPr>
        <p:grpSpPr>
          <a:xfrm>
            <a:off x="679531" y="2492529"/>
            <a:ext cx="828988" cy="1157322"/>
            <a:chOff x="331881" y="2824362"/>
            <a:chExt cx="828988" cy="1157322"/>
          </a:xfrm>
        </p:grpSpPr>
        <p:pic>
          <p:nvPicPr>
            <p:cNvPr id="52" name="Graphic 51" descr="User with solid fill">
              <a:extLst>
                <a:ext uri="{FF2B5EF4-FFF2-40B4-BE49-F238E27FC236}">
                  <a16:creationId xmlns:a16="http://schemas.microsoft.com/office/drawing/2014/main" id="{B3D81693-BB64-A497-270E-9A2851ADE7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3475" y="2824362"/>
              <a:ext cx="685800" cy="685800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1939B83-E494-1DB5-C3F0-D5B7180AA5A1}"/>
                </a:ext>
              </a:extLst>
            </p:cNvPr>
            <p:cNvSpPr txBox="1"/>
            <p:nvPr/>
          </p:nvSpPr>
          <p:spPr>
            <a:xfrm>
              <a:off x="331881" y="3396909"/>
              <a:ext cx="828988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600" dirty="0"/>
                <a:t>User 1</a:t>
              </a:r>
            </a:p>
            <a:p>
              <a:pPr algn="ctr"/>
              <a:r>
                <a:rPr lang="en-US" sz="1600" dirty="0"/>
                <a:t>(Owner)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55BAA03-F96C-39F3-908F-71B7887ADDE8}"/>
              </a:ext>
            </a:extLst>
          </p:cNvPr>
          <p:cNvGrpSpPr/>
          <p:nvPr/>
        </p:nvGrpSpPr>
        <p:grpSpPr>
          <a:xfrm>
            <a:off x="10184996" y="2492529"/>
            <a:ext cx="1585164" cy="1157322"/>
            <a:chOff x="-46207" y="2824362"/>
            <a:chExt cx="1585164" cy="1157322"/>
          </a:xfrm>
        </p:grpSpPr>
        <p:pic>
          <p:nvPicPr>
            <p:cNvPr id="56" name="Graphic 55" descr="User with solid fill">
              <a:extLst>
                <a:ext uri="{FF2B5EF4-FFF2-40B4-BE49-F238E27FC236}">
                  <a16:creationId xmlns:a16="http://schemas.microsoft.com/office/drawing/2014/main" id="{5F5E7F59-1B23-5351-7FD4-E481C8237E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3475" y="2824362"/>
              <a:ext cx="685800" cy="685800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C2452159-F863-B515-5DCC-F19F9EBD4C36}"/>
                </a:ext>
              </a:extLst>
            </p:cNvPr>
            <p:cNvSpPr txBox="1"/>
            <p:nvPr/>
          </p:nvSpPr>
          <p:spPr>
            <a:xfrm>
              <a:off x="-46207" y="3396909"/>
              <a:ext cx="1585164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600" dirty="0"/>
                <a:t>User 2</a:t>
              </a:r>
            </a:p>
            <a:p>
              <a:pPr algn="ctr"/>
              <a:r>
                <a:rPr lang="en-US" sz="1600" dirty="0"/>
                <a:t>(Azure AI Owner)</a:t>
              </a:r>
            </a:p>
          </p:txBody>
        </p:sp>
      </p:grpSp>
      <p:sp>
        <p:nvSpPr>
          <p:cNvPr id="58" name="Left Brace 57">
            <a:extLst>
              <a:ext uri="{FF2B5EF4-FFF2-40B4-BE49-F238E27FC236}">
                <a16:creationId xmlns:a16="http://schemas.microsoft.com/office/drawing/2014/main" id="{D8D78FC8-8AB6-8CAC-38AD-3B0EC572131E}"/>
              </a:ext>
            </a:extLst>
          </p:cNvPr>
          <p:cNvSpPr/>
          <p:nvPr/>
        </p:nvSpPr>
        <p:spPr>
          <a:xfrm>
            <a:off x="1407362" y="1616764"/>
            <a:ext cx="417906" cy="2908853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Left Brace 61">
            <a:extLst>
              <a:ext uri="{FF2B5EF4-FFF2-40B4-BE49-F238E27FC236}">
                <a16:creationId xmlns:a16="http://schemas.microsoft.com/office/drawing/2014/main" id="{B88A8D39-724D-212D-169A-1301E4883DC0}"/>
              </a:ext>
            </a:extLst>
          </p:cNvPr>
          <p:cNvSpPr/>
          <p:nvPr/>
        </p:nvSpPr>
        <p:spPr>
          <a:xfrm rot="10800000">
            <a:off x="9980051" y="1981200"/>
            <a:ext cx="417906" cy="4658138"/>
          </a:xfrm>
          <a:prstGeom prst="leftBrace">
            <a:avLst>
              <a:gd name="adj1" fmla="val 8333"/>
              <a:gd name="adj2" fmla="val 7705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6970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raphic 22">
            <a:extLst>
              <a:ext uri="{FF2B5EF4-FFF2-40B4-BE49-F238E27FC236}">
                <a16:creationId xmlns:a16="http://schemas.microsoft.com/office/drawing/2014/main" id="{DA88F6D7-4C9A-4185-3D36-7EB0922EE2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3470" y="1708181"/>
            <a:ext cx="685800" cy="685800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726C5A85-790B-25A5-93E5-BFC1714EB9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13470" y="3522041"/>
            <a:ext cx="685800" cy="685800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6F2CBAE6-3682-C7A5-095F-B47294275D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65557" y="3522041"/>
            <a:ext cx="685800" cy="6858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744DB5A-CC57-F1A8-E429-B66BEEC007AF}"/>
              </a:ext>
            </a:extLst>
          </p:cNvPr>
          <p:cNvSpPr txBox="1"/>
          <p:nvPr/>
        </p:nvSpPr>
        <p:spPr>
          <a:xfrm>
            <a:off x="6659823" y="2473787"/>
            <a:ext cx="993092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Cosmos DB</a:t>
            </a:r>
          </a:p>
          <a:p>
            <a:pPr algn="ctr" defTabSz="914400"/>
            <a:r>
              <a:rPr lang="en-US" sz="1600" dirty="0">
                <a:latin typeface="+mj-lt"/>
              </a:rPr>
              <a:t>(Vector Data)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95D7447-BD22-D2C6-40B9-7995CB109180}"/>
              </a:ext>
            </a:extLst>
          </p:cNvPr>
          <p:cNvSpPr txBox="1"/>
          <p:nvPr/>
        </p:nvSpPr>
        <p:spPr>
          <a:xfrm>
            <a:off x="6475765" y="4207841"/>
            <a:ext cx="1361205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AI Search</a:t>
            </a:r>
          </a:p>
          <a:p>
            <a:pPr algn="ctr" defTabSz="914400"/>
            <a:r>
              <a:rPr lang="en-US" sz="1600" dirty="0">
                <a:latin typeface="+mj-lt"/>
              </a:rPr>
              <a:t>(Indexed Content)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D88BA5D-AF5C-BD20-022B-994D0191FC68}"/>
              </a:ext>
            </a:extLst>
          </p:cNvPr>
          <p:cNvSpPr txBox="1"/>
          <p:nvPr/>
        </p:nvSpPr>
        <p:spPr>
          <a:xfrm>
            <a:off x="4197584" y="4206755"/>
            <a:ext cx="1221745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Storage Account</a:t>
            </a:r>
          </a:p>
          <a:p>
            <a:pPr algn="ctr" defTabSz="914400"/>
            <a:r>
              <a:rPr lang="en-US" sz="1600" dirty="0">
                <a:latin typeface="+mj-lt"/>
              </a:rPr>
              <a:t>(Data Lake)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588F750-AAF4-DA5E-DD5C-8929A68CF8E7}"/>
              </a:ext>
            </a:extLst>
          </p:cNvPr>
          <p:cNvCxnSpPr>
            <a:cxnSpLocks/>
            <a:stCxn id="24" idx="0"/>
            <a:endCxn id="27" idx="2"/>
          </p:cNvCxnSpPr>
          <p:nvPr/>
        </p:nvCxnSpPr>
        <p:spPr>
          <a:xfrm flipH="1" flipV="1">
            <a:off x="7156369" y="2966230"/>
            <a:ext cx="1" cy="55581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3" name="Graphic 32">
            <a:extLst>
              <a:ext uri="{FF2B5EF4-FFF2-40B4-BE49-F238E27FC236}">
                <a16:creationId xmlns:a16="http://schemas.microsoft.com/office/drawing/2014/main" id="{8F0C0947-C1EB-B5EF-FD9E-D7EF4D3625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2117644" y="3522041"/>
            <a:ext cx="685800" cy="685800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43E140A-36A7-4878-E24B-DCAA226DE6DF}"/>
              </a:ext>
            </a:extLst>
          </p:cNvPr>
          <p:cNvSpPr txBox="1"/>
          <p:nvPr/>
        </p:nvSpPr>
        <p:spPr>
          <a:xfrm>
            <a:off x="1913952" y="4206755"/>
            <a:ext cx="1093184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Data Factory</a:t>
            </a:r>
          </a:p>
          <a:p>
            <a:pPr algn="ctr" defTabSz="914400"/>
            <a:r>
              <a:rPr lang="en-US" sz="1600" dirty="0">
                <a:latin typeface="+mj-lt"/>
              </a:rPr>
              <a:t>(ELT Pipelines)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0B14887-F904-9314-8BE7-8163DAC58D11}"/>
              </a:ext>
            </a:extLst>
          </p:cNvPr>
          <p:cNvCxnSpPr>
            <a:cxnSpLocks/>
            <a:stCxn id="33" idx="3"/>
            <a:endCxn id="26" idx="1"/>
          </p:cNvCxnSpPr>
          <p:nvPr/>
        </p:nvCxnSpPr>
        <p:spPr>
          <a:xfrm>
            <a:off x="2803444" y="3864941"/>
            <a:ext cx="1662113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477D93D-D115-B266-EB48-15C4DDE59387}"/>
              </a:ext>
            </a:extLst>
          </p:cNvPr>
          <p:cNvCxnSpPr>
            <a:cxnSpLocks/>
            <a:stCxn id="26" idx="3"/>
            <a:endCxn id="24" idx="1"/>
          </p:cNvCxnSpPr>
          <p:nvPr/>
        </p:nvCxnSpPr>
        <p:spPr>
          <a:xfrm>
            <a:off x="5151357" y="3864941"/>
            <a:ext cx="1662113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217BDEA-C10B-A321-428F-0C1826880F36}"/>
              </a:ext>
            </a:extLst>
          </p:cNvPr>
          <p:cNvCxnSpPr>
            <a:cxnSpLocks/>
            <a:stCxn id="24" idx="3"/>
            <a:endCxn id="48" idx="1"/>
          </p:cNvCxnSpPr>
          <p:nvPr/>
        </p:nvCxnSpPr>
        <p:spPr>
          <a:xfrm>
            <a:off x="7499270" y="3864941"/>
            <a:ext cx="149933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158D239-5F5F-C9C7-726D-66FD0BA23F18}"/>
              </a:ext>
            </a:extLst>
          </p:cNvPr>
          <p:cNvCxnSpPr>
            <a:cxnSpLocks/>
          </p:cNvCxnSpPr>
          <p:nvPr/>
        </p:nvCxnSpPr>
        <p:spPr>
          <a:xfrm flipV="1">
            <a:off x="9347120" y="2966230"/>
            <a:ext cx="2" cy="55581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700DCB8-4817-4DCD-4A1A-A83089C25977}"/>
              </a:ext>
            </a:extLst>
          </p:cNvPr>
          <p:cNvSpPr txBox="1"/>
          <p:nvPr/>
        </p:nvSpPr>
        <p:spPr>
          <a:xfrm>
            <a:off x="1884489" y="2473787"/>
            <a:ext cx="1152110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Enterprise Data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381B268-3003-9E19-6433-B1769E5D8438}"/>
              </a:ext>
            </a:extLst>
          </p:cNvPr>
          <p:cNvCxnSpPr>
            <a:cxnSpLocks/>
            <a:stCxn id="39" idx="2"/>
            <a:endCxn id="33" idx="0"/>
          </p:cNvCxnSpPr>
          <p:nvPr/>
        </p:nvCxnSpPr>
        <p:spPr>
          <a:xfrm>
            <a:off x="2460544" y="2720008"/>
            <a:ext cx="0" cy="80203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Picture 40" descr="A blue paper with white text&#10;&#10;AI-generated content may be incorrect.">
            <a:extLst>
              <a:ext uri="{FF2B5EF4-FFF2-40B4-BE49-F238E27FC236}">
                <a16:creationId xmlns:a16="http://schemas.microsoft.com/office/drawing/2014/main" id="{78714A7F-3440-9910-18BB-B2A338E04862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rgbClr val="C03BC4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7644" y="1708181"/>
            <a:ext cx="685800" cy="685800"/>
          </a:xfrm>
          <a:prstGeom prst="rect">
            <a:avLst/>
          </a:prstGeom>
        </p:spPr>
      </p:pic>
      <p:pic>
        <p:nvPicPr>
          <p:cNvPr id="46" name="Graphic 45">
            <a:extLst>
              <a:ext uri="{FF2B5EF4-FFF2-40B4-BE49-F238E27FC236}">
                <a16:creationId xmlns:a16="http://schemas.microsoft.com/office/drawing/2014/main" id="{AB28493D-0059-A8C8-7A3A-F22A5AB63E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004220" y="1787987"/>
            <a:ext cx="685800" cy="68580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A13B9753-C103-20D5-C8E5-2E3B09911743}"/>
              </a:ext>
            </a:extLst>
          </p:cNvPr>
          <p:cNvSpPr txBox="1"/>
          <p:nvPr/>
        </p:nvSpPr>
        <p:spPr>
          <a:xfrm>
            <a:off x="8739902" y="2472701"/>
            <a:ext cx="1214435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App Service</a:t>
            </a:r>
          </a:p>
          <a:p>
            <a:pPr algn="ctr" defTabSz="914400"/>
            <a:r>
              <a:rPr lang="en-US" sz="1600" dirty="0">
                <a:latin typeface="+mj-lt"/>
              </a:rPr>
              <a:t>(Web Front End)</a:t>
            </a:r>
          </a:p>
        </p:txBody>
      </p:sp>
      <p:pic>
        <p:nvPicPr>
          <p:cNvPr id="48" name="Picture 4">
            <a:extLst>
              <a:ext uri="{FF2B5EF4-FFF2-40B4-BE49-F238E27FC236}">
                <a16:creationId xmlns:a16="http://schemas.microsoft.com/office/drawing/2014/main" id="{846CAA7C-59A7-6ED0-F3C6-FAC25B8BD9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998607" y="3551663"/>
            <a:ext cx="685800" cy="626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A2812E0E-399D-5F4A-E5DE-C3088B2B364D}"/>
              </a:ext>
            </a:extLst>
          </p:cNvPr>
          <p:cNvSpPr txBox="1"/>
          <p:nvPr/>
        </p:nvSpPr>
        <p:spPr>
          <a:xfrm>
            <a:off x="8687482" y="4206754"/>
            <a:ext cx="1308050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 defTabSz="914400"/>
            <a:r>
              <a:rPr lang="en-US" sz="1600" dirty="0">
                <a:latin typeface="+mj-lt"/>
              </a:rPr>
              <a:t>Foundry</a:t>
            </a:r>
          </a:p>
          <a:p>
            <a:pPr algn="ctr" defTabSz="914400"/>
            <a:r>
              <a:rPr lang="en-US" sz="1600" dirty="0">
                <a:latin typeface="+mj-lt"/>
              </a:rPr>
              <a:t>(Model Endpoint)</a:t>
            </a:r>
          </a:p>
        </p:txBody>
      </p:sp>
    </p:spTree>
    <p:extLst>
      <p:ext uri="{BB962C8B-B14F-4D97-AF65-F5344CB8AC3E}">
        <p14:creationId xmlns:p14="http://schemas.microsoft.com/office/powerpoint/2010/main" val="32843862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5B739FE7-2246-5963-2AC5-DF353DF80AF5}"/>
              </a:ext>
            </a:extLst>
          </p:cNvPr>
          <p:cNvSpPr/>
          <p:nvPr/>
        </p:nvSpPr>
        <p:spPr>
          <a:xfrm>
            <a:off x="881270" y="583095"/>
            <a:ext cx="8772939" cy="4346714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B660B63C-09DD-0672-6A76-9FC031CC40AD}"/>
              </a:ext>
            </a:extLst>
          </p:cNvPr>
          <p:cNvSpPr/>
          <p:nvPr/>
        </p:nvSpPr>
        <p:spPr>
          <a:xfrm>
            <a:off x="1186013" y="1276687"/>
            <a:ext cx="2135650" cy="1113144"/>
          </a:xfrm>
          <a:prstGeom prst="roundRect">
            <a:avLst>
              <a:gd name="adj" fmla="val 7057"/>
            </a:avLst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B256D0C8-6D5F-3DF0-974A-AC2D409C4C71}"/>
              </a:ext>
            </a:extLst>
          </p:cNvPr>
          <p:cNvSpPr/>
          <p:nvPr/>
        </p:nvSpPr>
        <p:spPr>
          <a:xfrm>
            <a:off x="1190646" y="2857090"/>
            <a:ext cx="2135650" cy="1844262"/>
          </a:xfrm>
          <a:prstGeom prst="roundRect">
            <a:avLst>
              <a:gd name="adj" fmla="val 7057"/>
            </a:avLst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6" name="Rectangle: Rounded Corners 125">
            <a:extLst>
              <a:ext uri="{FF2B5EF4-FFF2-40B4-BE49-F238E27FC236}">
                <a16:creationId xmlns:a16="http://schemas.microsoft.com/office/drawing/2014/main" id="{E00E257B-19AE-B887-3359-DF44D492371C}"/>
              </a:ext>
            </a:extLst>
          </p:cNvPr>
          <p:cNvSpPr/>
          <p:nvPr/>
        </p:nvSpPr>
        <p:spPr>
          <a:xfrm>
            <a:off x="4131464" y="921026"/>
            <a:ext cx="5158310" cy="3678939"/>
          </a:xfrm>
          <a:prstGeom prst="roundRect">
            <a:avLst>
              <a:gd name="adj" fmla="val 7057"/>
            </a:avLst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1" name="Rectangle: Rounded Corners 120">
            <a:extLst>
              <a:ext uri="{FF2B5EF4-FFF2-40B4-BE49-F238E27FC236}">
                <a16:creationId xmlns:a16="http://schemas.microsoft.com/office/drawing/2014/main" id="{0CFAD763-9ECE-AD01-238D-19C4ED35E331}"/>
              </a:ext>
            </a:extLst>
          </p:cNvPr>
          <p:cNvSpPr/>
          <p:nvPr/>
        </p:nvSpPr>
        <p:spPr>
          <a:xfrm>
            <a:off x="1380090" y="396843"/>
            <a:ext cx="1674544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i="1" dirty="0">
              <a:solidFill>
                <a:schemeClr val="tx1"/>
              </a:solidFill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3B93B79-850C-6A6D-CBA3-A9171CE21D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81464" y="417295"/>
            <a:ext cx="320040" cy="3200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BFE259C-496D-FB7F-A56A-6611BF758BEB}"/>
              </a:ext>
            </a:extLst>
          </p:cNvPr>
          <p:cNvSpPr txBox="1"/>
          <p:nvPr/>
        </p:nvSpPr>
        <p:spPr>
          <a:xfrm>
            <a:off x="1801504" y="423427"/>
            <a:ext cx="1179425" cy="30777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400" dirty="0"/>
              <a:t>Virtual Network</a:t>
            </a:r>
          </a:p>
        </p:txBody>
      </p:sp>
      <p:pic>
        <p:nvPicPr>
          <p:cNvPr id="16" name="Picture 4">
            <a:extLst>
              <a:ext uri="{FF2B5EF4-FFF2-40B4-BE49-F238E27FC236}">
                <a16:creationId xmlns:a16="http://schemas.microsoft.com/office/drawing/2014/main" id="{949EEC85-A237-5DF3-D606-80C2DF202C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510484" y="4110586"/>
            <a:ext cx="320040" cy="292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12003DF-998C-AD89-20DF-2AFA18ED40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2864" y="1755719"/>
            <a:ext cx="548640" cy="400930"/>
          </a:xfrm>
          <a:prstGeom prst="rect">
            <a:avLst/>
          </a:prstGeom>
        </p:spPr>
      </p:pic>
      <p:grpSp>
        <p:nvGrpSpPr>
          <p:cNvPr id="137" name="Group 136">
            <a:extLst>
              <a:ext uri="{FF2B5EF4-FFF2-40B4-BE49-F238E27FC236}">
                <a16:creationId xmlns:a16="http://schemas.microsoft.com/office/drawing/2014/main" id="{350C9520-3238-A9C3-3114-71C06533A119}"/>
              </a:ext>
            </a:extLst>
          </p:cNvPr>
          <p:cNvGrpSpPr/>
          <p:nvPr/>
        </p:nvGrpSpPr>
        <p:grpSpPr>
          <a:xfrm>
            <a:off x="1321040" y="1028329"/>
            <a:ext cx="1899240" cy="523220"/>
            <a:chOff x="1321040" y="1028329"/>
            <a:chExt cx="1899240" cy="523220"/>
          </a:xfrm>
        </p:grpSpPr>
        <p:sp>
          <p:nvSpPr>
            <p:cNvPr id="131" name="Rectangle: Rounded Corners 130">
              <a:extLst>
                <a:ext uri="{FF2B5EF4-FFF2-40B4-BE49-F238E27FC236}">
                  <a16:creationId xmlns:a16="http://schemas.microsoft.com/office/drawing/2014/main" id="{8D9BDFD9-F516-F6CB-048E-7C74A2CAF37B}"/>
                </a:ext>
              </a:extLst>
            </p:cNvPr>
            <p:cNvSpPr/>
            <p:nvPr/>
          </p:nvSpPr>
          <p:spPr>
            <a:xfrm>
              <a:off x="1321040" y="1060941"/>
              <a:ext cx="1871886" cy="46778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i="1" dirty="0">
                <a:solidFill>
                  <a:schemeClr val="tx1"/>
                </a:solidFill>
              </a:endParaRP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DF5D223-3A9A-5F8F-7A8A-4A08012768A8}"/>
                </a:ext>
              </a:extLst>
            </p:cNvPr>
            <p:cNvGrpSpPr/>
            <p:nvPr/>
          </p:nvGrpSpPr>
          <p:grpSpPr>
            <a:xfrm>
              <a:off x="1375448" y="1028329"/>
              <a:ext cx="1844832" cy="523220"/>
              <a:chOff x="1481464" y="1015077"/>
              <a:chExt cx="1844832" cy="52322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9BE39DAF-719A-41C5-4FB7-FE18513C1E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481464" y="1175341"/>
                <a:ext cx="320040" cy="202692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8B90F55-759B-D4F8-4D5E-D83C999C2D9A}"/>
                  </a:ext>
                </a:extLst>
              </p:cNvPr>
              <p:cNvSpPr txBox="1"/>
              <p:nvPr/>
            </p:nvSpPr>
            <p:spPr>
              <a:xfrm>
                <a:off x="1801504" y="1015077"/>
                <a:ext cx="1524792" cy="523220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sz="1400" dirty="0"/>
                  <a:t>Application Gateway Subnet</a:t>
                </a:r>
              </a:p>
            </p:txBody>
          </p: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12903A7-FF51-7F77-6469-3FAF2CD8F4FC}"/>
              </a:ext>
            </a:extLst>
          </p:cNvPr>
          <p:cNvGrpSpPr/>
          <p:nvPr/>
        </p:nvGrpSpPr>
        <p:grpSpPr>
          <a:xfrm>
            <a:off x="5452680" y="1045313"/>
            <a:ext cx="1577340" cy="523220"/>
            <a:chOff x="3712402" y="1745366"/>
            <a:chExt cx="1577340" cy="523220"/>
          </a:xfrm>
        </p:grpSpPr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8D726B11-E696-8C2A-E8DC-2D9E6819097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712402" y="1828721"/>
              <a:ext cx="320040" cy="296037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EBCDBEC-8951-33D5-F902-ACE677199C41}"/>
                </a:ext>
              </a:extLst>
            </p:cNvPr>
            <p:cNvSpPr txBox="1"/>
            <p:nvPr/>
          </p:nvSpPr>
          <p:spPr>
            <a:xfrm>
              <a:off x="3996856" y="1745366"/>
              <a:ext cx="1292886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App Service Private Endpoint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82D1C1E-5798-626B-E279-99CE7BDC53B6}"/>
              </a:ext>
            </a:extLst>
          </p:cNvPr>
          <p:cNvGrpSpPr/>
          <p:nvPr/>
        </p:nvGrpSpPr>
        <p:grpSpPr>
          <a:xfrm>
            <a:off x="7510484" y="1137543"/>
            <a:ext cx="1612926" cy="338759"/>
            <a:chOff x="3714916" y="2625077"/>
            <a:chExt cx="1612926" cy="338759"/>
          </a:xfrm>
        </p:grpSpPr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2DF14C84-D88B-1359-B5A1-4876FDDFB7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714916" y="2643796"/>
              <a:ext cx="320040" cy="320040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E200700-B7B4-C541-1BF3-78D998CDBB95}"/>
                </a:ext>
              </a:extLst>
            </p:cNvPr>
            <p:cNvSpPr txBox="1"/>
            <p:nvPr/>
          </p:nvSpPr>
          <p:spPr>
            <a:xfrm>
              <a:off x="4034956" y="2625077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App Service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0C045FD-6766-5A94-70B3-8DA9F8FEB0A4}"/>
              </a:ext>
            </a:extLst>
          </p:cNvPr>
          <p:cNvGrpSpPr/>
          <p:nvPr/>
        </p:nvGrpSpPr>
        <p:grpSpPr>
          <a:xfrm>
            <a:off x="7510484" y="1905109"/>
            <a:ext cx="1612926" cy="320040"/>
            <a:chOff x="5589167" y="2647782"/>
            <a:chExt cx="1612926" cy="320040"/>
          </a:xfrm>
        </p:grpSpPr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50EDEDA9-E6B1-E607-8A92-92258869A5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589167" y="2647782"/>
              <a:ext cx="320040" cy="320040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FA524CA-1B60-B242-1324-3ED8896F2F2E}"/>
                </a:ext>
              </a:extLst>
            </p:cNvPr>
            <p:cNvSpPr txBox="1"/>
            <p:nvPr/>
          </p:nvSpPr>
          <p:spPr>
            <a:xfrm>
              <a:off x="5909207" y="2650788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Cosmos DB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3B9BB4E-B905-0CB9-277B-85BAADA50989}"/>
              </a:ext>
            </a:extLst>
          </p:cNvPr>
          <p:cNvGrpSpPr/>
          <p:nvPr/>
        </p:nvGrpSpPr>
        <p:grpSpPr>
          <a:xfrm>
            <a:off x="5452680" y="1792557"/>
            <a:ext cx="1577340" cy="523220"/>
            <a:chOff x="3615856" y="1719932"/>
            <a:chExt cx="1577340" cy="523220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BFBF4AEB-38D6-4D48-0BFB-3F76E05117B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615856" y="1787987"/>
              <a:ext cx="320040" cy="296037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2D5FC44-2847-47B3-B5F0-A896DACABDF6}"/>
                </a:ext>
              </a:extLst>
            </p:cNvPr>
            <p:cNvSpPr txBox="1"/>
            <p:nvPr/>
          </p:nvSpPr>
          <p:spPr>
            <a:xfrm>
              <a:off x="3900310" y="1719932"/>
              <a:ext cx="1292886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Cosmos DB Private Endpoint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A476DF8-6561-67E7-3D89-D9B3FDF1242D}"/>
              </a:ext>
            </a:extLst>
          </p:cNvPr>
          <p:cNvGrpSpPr/>
          <p:nvPr/>
        </p:nvGrpSpPr>
        <p:grpSpPr>
          <a:xfrm>
            <a:off x="5452680" y="2539801"/>
            <a:ext cx="1577340" cy="523220"/>
            <a:chOff x="3615856" y="1719932"/>
            <a:chExt cx="1577340" cy="523220"/>
          </a:xfrm>
        </p:grpSpPr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177137F8-069A-FAF7-EE40-593E56D62B1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615856" y="1787987"/>
              <a:ext cx="320040" cy="296037"/>
            </a:xfrm>
            <a:prstGeom prst="rect">
              <a:avLst/>
            </a:prstGeom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0A341B5-23FE-4784-7CFC-D50BBF98410F}"/>
                </a:ext>
              </a:extLst>
            </p:cNvPr>
            <p:cNvSpPr txBox="1"/>
            <p:nvPr/>
          </p:nvSpPr>
          <p:spPr>
            <a:xfrm>
              <a:off x="3900310" y="1719932"/>
              <a:ext cx="1292886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AI Search</a:t>
              </a:r>
            </a:p>
            <a:p>
              <a:r>
                <a:rPr lang="en-US" sz="1400" dirty="0"/>
                <a:t>Private Endpoint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C0978656-8144-5C7E-6597-3865724A0D0C}"/>
              </a:ext>
            </a:extLst>
          </p:cNvPr>
          <p:cNvGrpSpPr/>
          <p:nvPr/>
        </p:nvGrpSpPr>
        <p:grpSpPr>
          <a:xfrm>
            <a:off x="7510484" y="2632270"/>
            <a:ext cx="1612926" cy="327161"/>
            <a:chOff x="7510484" y="2577492"/>
            <a:chExt cx="1612926" cy="327161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405487C9-3635-91C2-E2DC-89676C43AF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510484" y="2584613"/>
              <a:ext cx="320040" cy="32004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7D756F6-F91A-9FCB-11D6-6A83ABFA5B43}"/>
                </a:ext>
              </a:extLst>
            </p:cNvPr>
            <p:cNvSpPr txBox="1"/>
            <p:nvPr/>
          </p:nvSpPr>
          <p:spPr>
            <a:xfrm>
              <a:off x="7830524" y="2577492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AI Search</a:t>
              </a:r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11B29D99-D83B-A626-8F89-0B77278B615F}"/>
              </a:ext>
            </a:extLst>
          </p:cNvPr>
          <p:cNvGrpSpPr/>
          <p:nvPr/>
        </p:nvGrpSpPr>
        <p:grpSpPr>
          <a:xfrm>
            <a:off x="7518125" y="3388238"/>
            <a:ext cx="1605285" cy="320040"/>
            <a:chOff x="7518125" y="3342339"/>
            <a:chExt cx="1605285" cy="320040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8C8B4BEF-B87F-0A18-B81F-1548B1D604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518125" y="3342339"/>
              <a:ext cx="320040" cy="320040"/>
            </a:xfrm>
            <a:prstGeom prst="rect">
              <a:avLst/>
            </a:prstGeom>
          </p:spPr>
        </p:pic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69AC331-30A4-E5F0-7C54-64CBFD64EA1C}"/>
                </a:ext>
              </a:extLst>
            </p:cNvPr>
            <p:cNvSpPr txBox="1"/>
            <p:nvPr/>
          </p:nvSpPr>
          <p:spPr>
            <a:xfrm>
              <a:off x="7830524" y="3347105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Storage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D2ABDD84-A755-70A1-D347-AFE1DCC995A6}"/>
              </a:ext>
            </a:extLst>
          </p:cNvPr>
          <p:cNvGrpSpPr/>
          <p:nvPr/>
        </p:nvGrpSpPr>
        <p:grpSpPr>
          <a:xfrm>
            <a:off x="5452680" y="3287045"/>
            <a:ext cx="1577340" cy="523220"/>
            <a:chOff x="3615856" y="1719932"/>
            <a:chExt cx="1577340" cy="523220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30393C1C-23A1-2DAC-6E64-D1B3C511206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615856" y="1787987"/>
              <a:ext cx="320040" cy="296037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294EA2D-1F0D-9D28-2C24-9FB6C779FC36}"/>
                </a:ext>
              </a:extLst>
            </p:cNvPr>
            <p:cNvSpPr txBox="1"/>
            <p:nvPr/>
          </p:nvSpPr>
          <p:spPr>
            <a:xfrm>
              <a:off x="3900310" y="1719932"/>
              <a:ext cx="1292886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Storage</a:t>
              </a:r>
            </a:p>
            <a:p>
              <a:r>
                <a:rPr lang="en-US" sz="1400" dirty="0"/>
                <a:t>Private Endpoint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DFE024C-DAB8-B72B-DC23-BA0686CDA72C}"/>
              </a:ext>
            </a:extLst>
          </p:cNvPr>
          <p:cNvGrpSpPr/>
          <p:nvPr/>
        </p:nvGrpSpPr>
        <p:grpSpPr>
          <a:xfrm>
            <a:off x="5452680" y="3995172"/>
            <a:ext cx="1577340" cy="523220"/>
            <a:chOff x="3615856" y="1719932"/>
            <a:chExt cx="1577340" cy="523220"/>
          </a:xfrm>
        </p:grpSpPr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D26523C4-F538-FF7C-C8DE-4F54FC817DA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615856" y="1787987"/>
              <a:ext cx="320040" cy="296037"/>
            </a:xfrm>
            <a:prstGeom prst="rect">
              <a:avLst/>
            </a:prstGeom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31F74EB5-2B0A-82A1-6CFD-EA1768B3BF42}"/>
                </a:ext>
              </a:extLst>
            </p:cNvPr>
            <p:cNvSpPr txBox="1"/>
            <p:nvPr/>
          </p:nvSpPr>
          <p:spPr>
            <a:xfrm>
              <a:off x="3900310" y="1719932"/>
              <a:ext cx="1292886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Foundry Project</a:t>
              </a:r>
            </a:p>
            <a:p>
              <a:r>
                <a:rPr lang="en-US" sz="1400" dirty="0"/>
                <a:t>Private Endpoint</a:t>
              </a:r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81DB0B48-F3FF-B288-EEE4-FB45743221CD}"/>
              </a:ext>
            </a:extLst>
          </p:cNvPr>
          <p:cNvSpPr txBox="1"/>
          <p:nvPr/>
        </p:nvSpPr>
        <p:spPr>
          <a:xfrm>
            <a:off x="7830524" y="4077120"/>
            <a:ext cx="1292886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dirty="0"/>
              <a:t>Foundry Project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B331272-C744-E719-FBFC-75D17D396CDF}"/>
              </a:ext>
            </a:extLst>
          </p:cNvPr>
          <p:cNvSpPr txBox="1"/>
          <p:nvPr/>
        </p:nvSpPr>
        <p:spPr>
          <a:xfrm>
            <a:off x="1801504" y="1694574"/>
            <a:ext cx="1524792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dirty="0"/>
              <a:t>Application Gateway with Azure WAF</a:t>
            </a: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11CAA6B5-AFBC-4CAE-643E-E2841AF5860D}"/>
              </a:ext>
            </a:extLst>
          </p:cNvPr>
          <p:cNvGrpSpPr/>
          <p:nvPr/>
        </p:nvGrpSpPr>
        <p:grpSpPr>
          <a:xfrm>
            <a:off x="1481464" y="3355100"/>
            <a:ext cx="1613710" cy="307777"/>
            <a:chOff x="1481464" y="3470577"/>
            <a:chExt cx="1613710" cy="307777"/>
          </a:xfrm>
        </p:grpSpPr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2890EEA4-94CB-A224-5AD4-1E74449876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481464" y="3479448"/>
              <a:ext cx="320040" cy="290036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9D011512-C001-DA6B-3D45-3AB77D5C50B4}"/>
                </a:ext>
              </a:extLst>
            </p:cNvPr>
            <p:cNvSpPr txBox="1"/>
            <p:nvPr/>
          </p:nvSpPr>
          <p:spPr>
            <a:xfrm>
              <a:off x="1802288" y="3470577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Virtual Interface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466ECAD-3377-3465-2235-67AADAF4AEA3}"/>
              </a:ext>
            </a:extLst>
          </p:cNvPr>
          <p:cNvGrpSpPr/>
          <p:nvPr/>
        </p:nvGrpSpPr>
        <p:grpSpPr>
          <a:xfrm>
            <a:off x="1481464" y="4059542"/>
            <a:ext cx="1613710" cy="352044"/>
            <a:chOff x="1481464" y="4110586"/>
            <a:chExt cx="1613710" cy="352044"/>
          </a:xfrm>
        </p:grpSpPr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9D129243-6FC6-CBA6-8366-97EFE77185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81464" y="4110586"/>
              <a:ext cx="320040" cy="352044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66AB5E6-F7A0-094F-6817-3A1960CDF9B5}"/>
                </a:ext>
              </a:extLst>
            </p:cNvPr>
            <p:cNvSpPr txBox="1"/>
            <p:nvPr/>
          </p:nvSpPr>
          <p:spPr>
            <a:xfrm>
              <a:off x="1802288" y="4127518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Firewall</a:t>
              </a:r>
            </a:p>
          </p:txBody>
        </p:sp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114E9224-4836-8CD4-4580-B5C59A0E5DB0}"/>
              </a:ext>
            </a:extLst>
          </p:cNvPr>
          <p:cNvGrpSpPr/>
          <p:nvPr/>
        </p:nvGrpSpPr>
        <p:grpSpPr>
          <a:xfrm>
            <a:off x="1481464" y="5145555"/>
            <a:ext cx="1612926" cy="320040"/>
            <a:chOff x="1481464" y="5049320"/>
            <a:chExt cx="1612926" cy="320040"/>
          </a:xfrm>
        </p:grpSpPr>
        <p:pic>
          <p:nvPicPr>
            <p:cNvPr id="67" name="Graphic 66" descr="World with solid fill">
              <a:extLst>
                <a:ext uri="{FF2B5EF4-FFF2-40B4-BE49-F238E27FC236}">
                  <a16:creationId xmlns:a16="http://schemas.microsoft.com/office/drawing/2014/main" id="{B57D7265-5B7E-43FE-E7DE-F2EC08F025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481464" y="5049320"/>
              <a:ext cx="320040" cy="320040"/>
            </a:xfrm>
            <a:prstGeom prst="rect">
              <a:avLst/>
            </a:prstGeom>
          </p:spPr>
        </p:pic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F7A14DAA-DCAA-FE52-2C67-BBE4B4C92F65}"/>
                </a:ext>
              </a:extLst>
            </p:cNvPr>
            <p:cNvSpPr txBox="1"/>
            <p:nvPr/>
          </p:nvSpPr>
          <p:spPr>
            <a:xfrm>
              <a:off x="1801504" y="5049320"/>
              <a:ext cx="129288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400" dirty="0"/>
                <a:t>Public Internet</a:t>
              </a:r>
            </a:p>
          </p:txBody>
        </p:sp>
      </p:grp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1EC634F-81EC-7565-6034-6FDE32B1092C}"/>
              </a:ext>
            </a:extLst>
          </p:cNvPr>
          <p:cNvCxnSpPr>
            <a:cxnSpLocks/>
            <a:stCxn id="59" idx="2"/>
            <a:endCxn id="61" idx="0"/>
          </p:cNvCxnSpPr>
          <p:nvPr/>
        </p:nvCxnSpPr>
        <p:spPr>
          <a:xfrm>
            <a:off x="1641484" y="3654007"/>
            <a:ext cx="0" cy="405535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C4A6C42-96DD-ED96-C600-CCCF5E1EC01C}"/>
              </a:ext>
            </a:extLst>
          </p:cNvPr>
          <p:cNvCxnSpPr>
            <a:cxnSpLocks/>
            <a:stCxn id="61" idx="2"/>
            <a:endCxn id="67" idx="0"/>
          </p:cNvCxnSpPr>
          <p:nvPr/>
        </p:nvCxnSpPr>
        <p:spPr>
          <a:xfrm>
            <a:off x="1641484" y="4411586"/>
            <a:ext cx="0" cy="73396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6F3B745A-5E42-6A2F-AC94-C88D48DDC261}"/>
              </a:ext>
            </a:extLst>
          </p:cNvPr>
          <p:cNvCxnSpPr>
            <a:cxnSpLocks/>
            <a:stCxn id="139" idx="3"/>
            <a:endCxn id="37" idx="1"/>
          </p:cNvCxnSpPr>
          <p:nvPr/>
        </p:nvCxnSpPr>
        <p:spPr>
          <a:xfrm flipV="1">
            <a:off x="4759350" y="2008631"/>
            <a:ext cx="693330" cy="75201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01315127-A472-6F6C-A811-9C83B98A9B0C}"/>
              </a:ext>
            </a:extLst>
          </p:cNvPr>
          <p:cNvCxnSpPr>
            <a:cxnSpLocks/>
            <a:stCxn id="139" idx="3"/>
            <a:endCxn id="42" idx="1"/>
          </p:cNvCxnSpPr>
          <p:nvPr/>
        </p:nvCxnSpPr>
        <p:spPr>
          <a:xfrm flipV="1">
            <a:off x="4759350" y="2755875"/>
            <a:ext cx="693330" cy="476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64DA150E-05B6-53AC-9CBC-9CA6F7A328A2}"/>
              </a:ext>
            </a:extLst>
          </p:cNvPr>
          <p:cNvCxnSpPr>
            <a:cxnSpLocks/>
            <a:stCxn id="139" idx="3"/>
            <a:endCxn id="47" idx="1"/>
          </p:cNvCxnSpPr>
          <p:nvPr/>
        </p:nvCxnSpPr>
        <p:spPr>
          <a:xfrm>
            <a:off x="4759350" y="2760641"/>
            <a:ext cx="693330" cy="74247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75500B1-E35A-5F0A-E4D6-499293776931}"/>
              </a:ext>
            </a:extLst>
          </p:cNvPr>
          <p:cNvCxnSpPr>
            <a:cxnSpLocks/>
            <a:stCxn id="139" idx="3"/>
            <a:endCxn id="54" idx="1"/>
          </p:cNvCxnSpPr>
          <p:nvPr/>
        </p:nvCxnSpPr>
        <p:spPr>
          <a:xfrm>
            <a:off x="4759350" y="2760641"/>
            <a:ext cx="693330" cy="145060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B4C793B9-737A-1E5D-F2B5-8B59FA715B06}"/>
              </a:ext>
            </a:extLst>
          </p:cNvPr>
          <p:cNvCxnSpPr>
            <a:cxnSpLocks/>
            <a:stCxn id="55" idx="3"/>
            <a:endCxn id="16" idx="1"/>
          </p:cNvCxnSpPr>
          <p:nvPr/>
        </p:nvCxnSpPr>
        <p:spPr>
          <a:xfrm>
            <a:off x="7030020" y="4256782"/>
            <a:ext cx="480464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5C162AB1-9507-49E4-3B7C-2105CDE11F9B}"/>
              </a:ext>
            </a:extLst>
          </p:cNvPr>
          <p:cNvCxnSpPr>
            <a:cxnSpLocks/>
            <a:stCxn id="48" idx="3"/>
            <a:endCxn id="14" idx="1"/>
          </p:cNvCxnSpPr>
          <p:nvPr/>
        </p:nvCxnSpPr>
        <p:spPr>
          <a:xfrm flipV="1">
            <a:off x="7030020" y="3548258"/>
            <a:ext cx="488105" cy="397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FA7A1A37-D98B-2431-45A6-B967BC5814A8}"/>
              </a:ext>
            </a:extLst>
          </p:cNvPr>
          <p:cNvCxnSpPr>
            <a:cxnSpLocks/>
            <a:stCxn id="43" idx="3"/>
            <a:endCxn id="13" idx="1"/>
          </p:cNvCxnSpPr>
          <p:nvPr/>
        </p:nvCxnSpPr>
        <p:spPr>
          <a:xfrm flipV="1">
            <a:off x="7030020" y="2799411"/>
            <a:ext cx="480464" cy="200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CE3731F-69E5-07E3-AF09-F174CD210325}"/>
              </a:ext>
            </a:extLst>
          </p:cNvPr>
          <p:cNvCxnSpPr>
            <a:cxnSpLocks/>
            <a:stCxn id="38" idx="3"/>
            <a:endCxn id="12" idx="1"/>
          </p:cNvCxnSpPr>
          <p:nvPr/>
        </p:nvCxnSpPr>
        <p:spPr>
          <a:xfrm>
            <a:off x="7030020" y="2054167"/>
            <a:ext cx="480464" cy="1096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CCD4ACBD-F7EE-76FC-1120-4DFB8E9DD351}"/>
              </a:ext>
            </a:extLst>
          </p:cNvPr>
          <p:cNvCxnSpPr>
            <a:cxnSpLocks/>
            <a:stCxn id="31" idx="3"/>
            <a:endCxn id="15" idx="1"/>
          </p:cNvCxnSpPr>
          <p:nvPr/>
        </p:nvCxnSpPr>
        <p:spPr>
          <a:xfrm>
            <a:off x="7030020" y="1306923"/>
            <a:ext cx="480464" cy="9359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63358344-9742-3010-DD53-BC3788EAEBB6}"/>
              </a:ext>
            </a:extLst>
          </p:cNvPr>
          <p:cNvCxnSpPr>
            <a:cxnSpLocks/>
            <a:stCxn id="126" idx="2"/>
            <a:endCxn id="122" idx="3"/>
          </p:cNvCxnSpPr>
          <p:nvPr/>
        </p:nvCxnSpPr>
        <p:spPr>
          <a:xfrm rot="5400000" flipH="1">
            <a:off x="4608086" y="2497432"/>
            <a:ext cx="820744" cy="3384323"/>
          </a:xfrm>
          <a:prstGeom prst="bentConnector4">
            <a:avLst>
              <a:gd name="adj1" fmla="val -15743"/>
              <a:gd name="adj2" fmla="val 88104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4F600B21-4F03-2F00-2223-C8FC118A72D1}"/>
              </a:ext>
            </a:extLst>
          </p:cNvPr>
          <p:cNvCxnSpPr>
            <a:cxnSpLocks/>
            <a:stCxn id="139" idx="3"/>
            <a:endCxn id="30" idx="1"/>
          </p:cNvCxnSpPr>
          <p:nvPr/>
        </p:nvCxnSpPr>
        <p:spPr>
          <a:xfrm flipV="1">
            <a:off x="4759350" y="1276687"/>
            <a:ext cx="693330" cy="148395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8" name="Picture 117">
            <a:extLst>
              <a:ext uri="{FF2B5EF4-FFF2-40B4-BE49-F238E27FC236}">
                <a16:creationId xmlns:a16="http://schemas.microsoft.com/office/drawing/2014/main" id="{9B2F920E-82BE-A7E1-ABA4-ED328DBA866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37660" y="4246138"/>
            <a:ext cx="285750" cy="276225"/>
          </a:xfrm>
          <a:prstGeom prst="rect">
            <a:avLst/>
          </a:prstGeom>
        </p:spPr>
      </p:pic>
      <p:pic>
        <p:nvPicPr>
          <p:cNvPr id="119" name="Picture 118">
            <a:extLst>
              <a:ext uri="{FF2B5EF4-FFF2-40B4-BE49-F238E27FC236}">
                <a16:creationId xmlns:a16="http://schemas.microsoft.com/office/drawing/2014/main" id="{3BAE4344-8AEC-9BF7-00A4-BDE679BE10E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71077" y="1317045"/>
            <a:ext cx="285750" cy="276225"/>
          </a:xfrm>
          <a:prstGeom prst="rect">
            <a:avLst/>
          </a:prstGeom>
        </p:spPr>
      </p:pic>
      <p:grpSp>
        <p:nvGrpSpPr>
          <p:cNvPr id="136" name="Group 135">
            <a:extLst>
              <a:ext uri="{FF2B5EF4-FFF2-40B4-BE49-F238E27FC236}">
                <a16:creationId xmlns:a16="http://schemas.microsoft.com/office/drawing/2014/main" id="{E750F6D1-582A-DA69-A264-A01C97220C43}"/>
              </a:ext>
            </a:extLst>
          </p:cNvPr>
          <p:cNvGrpSpPr/>
          <p:nvPr/>
        </p:nvGrpSpPr>
        <p:grpSpPr>
          <a:xfrm>
            <a:off x="1321040" y="2593737"/>
            <a:ext cx="1899240" cy="523220"/>
            <a:chOff x="5303318" y="5780075"/>
            <a:chExt cx="1899240" cy="523220"/>
          </a:xfrm>
        </p:grpSpPr>
        <p:sp>
          <p:nvSpPr>
            <p:cNvPr id="132" name="Rectangle: Rounded Corners 131">
              <a:extLst>
                <a:ext uri="{FF2B5EF4-FFF2-40B4-BE49-F238E27FC236}">
                  <a16:creationId xmlns:a16="http://schemas.microsoft.com/office/drawing/2014/main" id="{5C24D62E-8541-6F4A-247B-89180CF623B0}"/>
                </a:ext>
              </a:extLst>
            </p:cNvPr>
            <p:cNvSpPr/>
            <p:nvPr/>
          </p:nvSpPr>
          <p:spPr>
            <a:xfrm>
              <a:off x="5303318" y="5812687"/>
              <a:ext cx="1871886" cy="46778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i="1" dirty="0">
                <a:solidFill>
                  <a:schemeClr val="tx1"/>
                </a:solidFill>
              </a:endParaRPr>
            </a:p>
          </p:txBody>
        </p: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E76D97CA-1E05-395D-C479-7118FA28DFB3}"/>
                </a:ext>
              </a:extLst>
            </p:cNvPr>
            <p:cNvGrpSpPr/>
            <p:nvPr/>
          </p:nvGrpSpPr>
          <p:grpSpPr>
            <a:xfrm>
              <a:off x="5357726" y="5780075"/>
              <a:ext cx="1844832" cy="523220"/>
              <a:chOff x="1481464" y="1015077"/>
              <a:chExt cx="1844832" cy="523220"/>
            </a:xfrm>
          </p:grpSpPr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64B82A41-9F17-B43B-1DDA-F7D796552C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481464" y="1175341"/>
                <a:ext cx="320040" cy="202692"/>
              </a:xfrm>
              <a:prstGeom prst="rect">
                <a:avLst/>
              </a:prstGeom>
            </p:spPr>
          </p:pic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61769A20-9C78-F726-6A35-1E875B09D31F}"/>
                  </a:ext>
                </a:extLst>
              </p:cNvPr>
              <p:cNvSpPr txBox="1"/>
              <p:nvPr/>
            </p:nvSpPr>
            <p:spPr>
              <a:xfrm>
                <a:off x="1801504" y="1015077"/>
                <a:ext cx="1524792" cy="523220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sz="1400" dirty="0"/>
                  <a:t>Agent Integration</a:t>
                </a:r>
              </a:p>
              <a:p>
                <a:r>
                  <a:rPr lang="en-US" sz="1400" dirty="0"/>
                  <a:t>Subnet</a:t>
                </a:r>
              </a:p>
            </p:txBody>
          </p:sp>
        </p:grpSp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45D67EF5-AEC1-087B-AF71-536B6BC5F225}"/>
              </a:ext>
            </a:extLst>
          </p:cNvPr>
          <p:cNvGrpSpPr/>
          <p:nvPr/>
        </p:nvGrpSpPr>
        <p:grpSpPr>
          <a:xfrm>
            <a:off x="3494250" y="2494135"/>
            <a:ext cx="1265100" cy="523220"/>
            <a:chOff x="5303318" y="5780075"/>
            <a:chExt cx="1265100" cy="523220"/>
          </a:xfrm>
        </p:grpSpPr>
        <p:sp>
          <p:nvSpPr>
            <p:cNvPr id="139" name="Rectangle: Rounded Corners 138">
              <a:extLst>
                <a:ext uri="{FF2B5EF4-FFF2-40B4-BE49-F238E27FC236}">
                  <a16:creationId xmlns:a16="http://schemas.microsoft.com/office/drawing/2014/main" id="{9C46303A-E37D-595C-2C4F-53396BA800A9}"/>
                </a:ext>
              </a:extLst>
            </p:cNvPr>
            <p:cNvSpPr/>
            <p:nvPr/>
          </p:nvSpPr>
          <p:spPr>
            <a:xfrm>
              <a:off x="5303318" y="5812687"/>
              <a:ext cx="1265100" cy="467788"/>
            </a:xfrm>
            <a:prstGeom prst="roundRect">
              <a:avLst/>
            </a:prstGeom>
            <a:solidFill>
              <a:srgbClr val="B2D4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i="1" dirty="0">
                <a:solidFill>
                  <a:schemeClr val="tx1"/>
                </a:solidFill>
              </a:endParaRPr>
            </a:p>
          </p:txBody>
        </p: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4C641854-6324-80DC-F090-6A6F68EFD060}"/>
                </a:ext>
              </a:extLst>
            </p:cNvPr>
            <p:cNvGrpSpPr/>
            <p:nvPr/>
          </p:nvGrpSpPr>
          <p:grpSpPr>
            <a:xfrm>
              <a:off x="5357726" y="5780075"/>
              <a:ext cx="1044328" cy="523220"/>
              <a:chOff x="1481464" y="1015077"/>
              <a:chExt cx="1044328" cy="523220"/>
            </a:xfrm>
          </p:grpSpPr>
          <p:pic>
            <p:nvPicPr>
              <p:cNvPr id="141" name="Picture 140">
                <a:extLst>
                  <a:ext uri="{FF2B5EF4-FFF2-40B4-BE49-F238E27FC236}">
                    <a16:creationId xmlns:a16="http://schemas.microsoft.com/office/drawing/2014/main" id="{A036AE5E-9B84-2AAF-F6C6-0FAD995570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481464" y="1175341"/>
                <a:ext cx="320040" cy="202692"/>
              </a:xfrm>
              <a:prstGeom prst="rect">
                <a:avLst/>
              </a:prstGeom>
            </p:spPr>
          </p:pic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CD93B747-454B-9E99-C007-067E6EBF6F88}"/>
                  </a:ext>
                </a:extLst>
              </p:cNvPr>
              <p:cNvSpPr txBox="1"/>
              <p:nvPr/>
            </p:nvSpPr>
            <p:spPr>
              <a:xfrm>
                <a:off x="1801504" y="1015077"/>
                <a:ext cx="724288" cy="523220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sz="1400" dirty="0"/>
                  <a:t>General</a:t>
                </a:r>
              </a:p>
              <a:p>
                <a:r>
                  <a:rPr lang="en-US" sz="1400" dirty="0"/>
                  <a:t>Subnet</a:t>
                </a:r>
              </a:p>
            </p:txBody>
          </p:sp>
        </p:grpSp>
      </p:grp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EC3D493D-09FE-16F4-C694-39FBCFBEAA0E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3326296" y="1956184"/>
            <a:ext cx="509475" cy="570563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non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84294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F0DECF4-D97F-50C4-2BC6-FF6779833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3498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D578BC-5D7D-5C4C-8F29-72399D893A54}"/>
              </a:ext>
            </a:extLst>
          </p:cNvPr>
          <p:cNvSpPr txBox="1"/>
          <p:nvPr/>
        </p:nvSpPr>
        <p:spPr>
          <a:xfrm>
            <a:off x="5920557" y="385224"/>
            <a:ext cx="60971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Style Guide: </a:t>
            </a:r>
            <a:r>
              <a:rPr lang="en-US" dirty="0">
                <a:hlinkClick r:id="rId3"/>
              </a:rPr>
              <a:t>https://oreillymedia.github.io/production-resources/illustrations/</a:t>
            </a: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738677-70D9-CDFB-3CCB-A0A1A69FA2EC}"/>
              </a:ext>
            </a:extLst>
          </p:cNvPr>
          <p:cNvSpPr txBox="1"/>
          <p:nvPr/>
        </p:nvSpPr>
        <p:spPr>
          <a:xfrm>
            <a:off x="7173532" y="1822360"/>
            <a:ext cx="3167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ardian Sans Cond Medium" panose="020B0603030202060203" pitchFamily="34" charset="0"/>
              </a:rPr>
              <a:t>Fonts: Guardian Sans Cond Medium </a:t>
            </a:r>
          </a:p>
        </p:txBody>
      </p:sp>
    </p:spTree>
    <p:extLst>
      <p:ext uri="{BB962C8B-B14F-4D97-AF65-F5344CB8AC3E}">
        <p14:creationId xmlns:p14="http://schemas.microsoft.com/office/powerpoint/2010/main" val="1650268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O'Reilly Media">
      <a:majorFont>
        <a:latin typeface="Guardian Sans Cond Medium"/>
        <a:ea typeface=""/>
        <a:cs typeface=""/>
      </a:majorFont>
      <a:minorFont>
        <a:latin typeface="Guardian Sans Cond Regular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13640</TotalTime>
  <Words>1110</Words>
  <Application>Microsoft Office PowerPoint</Application>
  <PresentationFormat>Widescreen</PresentationFormat>
  <Paragraphs>357</Paragraphs>
  <Slides>25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Aptos</vt:lpstr>
      <vt:lpstr>Arial</vt:lpstr>
      <vt:lpstr>Cambria Math</vt:lpstr>
      <vt:lpstr>Guardian Sans Cond Medium</vt:lpstr>
      <vt:lpstr>Guardian Sans Cond Regular</vt:lpstr>
      <vt:lpstr>Office Theme</vt:lpstr>
      <vt:lpstr>Building Agentic Solutions with Microsoft Foundry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Colby Ford</dc:creator>
  <cp:lastModifiedBy>Colby Ford</cp:lastModifiedBy>
  <cp:revision>26</cp:revision>
  <dcterms:created xsi:type="dcterms:W3CDTF">2026-01-26T17:17:07Z</dcterms:created>
  <dcterms:modified xsi:type="dcterms:W3CDTF">2026-05-04T17:06:22Z</dcterms:modified>
</cp:coreProperties>
</file>