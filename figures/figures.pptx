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0"/>
  </p:notesMasterIdLst>
  <p:sldIdLst>
    <p:sldId id="258" r:id="rId2"/>
    <p:sldId id="256" r:id="rId3"/>
    <p:sldId id="263" r:id="rId4"/>
    <p:sldId id="260" r:id="rId5"/>
    <p:sldId id="259" r:id="rId6"/>
    <p:sldId id="261" r:id="rId7"/>
    <p:sldId id="268" r:id="rId8"/>
    <p:sldId id="275" r:id="rId9"/>
    <p:sldId id="262" r:id="rId10"/>
    <p:sldId id="279" r:id="rId11"/>
    <p:sldId id="278" r:id="rId12"/>
    <p:sldId id="277" r:id="rId13"/>
    <p:sldId id="264" r:id="rId14"/>
    <p:sldId id="265" r:id="rId15"/>
    <p:sldId id="267" r:id="rId16"/>
    <p:sldId id="280" r:id="rId17"/>
    <p:sldId id="271" r:id="rId18"/>
    <p:sldId id="272" r:id="rId19"/>
    <p:sldId id="273" r:id="rId20"/>
    <p:sldId id="281" r:id="rId21"/>
    <p:sldId id="269" r:id="rId22"/>
    <p:sldId id="274" r:id="rId23"/>
    <p:sldId id="270" r:id="rId24"/>
    <p:sldId id="284" r:id="rId25"/>
    <p:sldId id="282" r:id="rId26"/>
    <p:sldId id="283" r:id="rId27"/>
    <p:sldId id="285" r:id="rId28"/>
    <p:sldId id="257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  <p14:sldId id="268"/>
            <p14:sldId id="275"/>
          </p14:sldIdLst>
        </p14:section>
        <p14:section name="Knowledge Bases" id="{06E034E2-AFC7-4A28-B1B0-B4E2903C9A55}">
          <p14:sldIdLst>
            <p14:sldId id="262"/>
            <p14:sldId id="279"/>
            <p14:sldId id="278"/>
            <p14:sldId id="277"/>
            <p14:sldId id="264"/>
          </p14:sldIdLst>
        </p14:section>
        <p14:section name="Fine-Tuning" id="{0654DAA0-6DAF-4D93-901D-DE1F25DE20A5}">
          <p14:sldIdLst>
            <p14:sldId id="265"/>
            <p14:sldId id="267"/>
          </p14:sldIdLst>
        </p14:section>
        <p14:section name="Workflows" id="{F124E500-37B7-4919-B26F-2DBCF3957E81}">
          <p14:sldIdLst>
            <p14:sldId id="280"/>
          </p14:sldIdLst>
        </p14:section>
        <p14:section name="Edge Deployment" id="{751363D7-BD1F-4E68-8906-25A659F6AF95}">
          <p14:sldIdLst>
            <p14:sldId id="271"/>
            <p14:sldId id="272"/>
            <p14:sldId id="273"/>
          </p14:sldIdLst>
        </p14:section>
        <p14:section name="Governance" id="{038CE4AA-62CD-47A2-8E40-F6F0DFCCB854}">
          <p14:sldIdLst>
            <p14:sldId id="281"/>
            <p14:sldId id="269"/>
            <p14:sldId id="274"/>
            <p14:sldId id="270"/>
          </p14:sldIdLst>
        </p14:section>
        <p14:section name="Conclusion" id="{02F95322-1659-4331-9A74-3CC42BA10F6A}">
          <p14:sldIdLst>
            <p14:sldId id="284"/>
            <p14:sldId id="282"/>
            <p14:sldId id="283"/>
            <p14:sldId id="285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F1F8"/>
    <a:srgbClr val="B0D3EA"/>
    <a:srgbClr val="B2D4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2044" autoAdjust="0"/>
  </p:normalViewPr>
  <p:slideViewPr>
    <p:cSldViewPr snapToGrid="0">
      <p:cViewPr>
        <p:scale>
          <a:sx n="100" d="100"/>
          <a:sy n="100" d="100"/>
        </p:scale>
        <p:origin x="1812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6.svg"/><Relationship Id="rId7" Type="http://schemas.openxmlformats.org/officeDocument/2006/relationships/image" Target="../media/image40.svg"/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svg"/><Relationship Id="rId4" Type="http://schemas.openxmlformats.org/officeDocument/2006/relationships/image" Target="../media/image37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616801" y="1509556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867128" y="1324891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3597491" y="2813019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7206977" y="2813018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10429" y="1788181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310429" y="2843153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310429" y="3898125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1264891" y="2375950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1197116" y="3495327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1422336" y="4483046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731418" y="1327464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5837714" y="1859375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4429169" y="1510771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4269575" y="1663194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6575830" y="1511752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7077773" y="1663193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2689860" y="3246466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941659" y="3246465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5546929" y="3059668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5379542" y="3429000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280" y="4799453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279013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640093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AFB654-7A06-C3A4-7E7E-0CD359D6C0E5}"/>
              </a:ext>
            </a:extLst>
          </p:cNvPr>
          <p:cNvSpPr/>
          <p:nvPr/>
        </p:nvSpPr>
        <p:spPr>
          <a:xfrm>
            <a:off x="1293967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6E8FED-E7D9-C8F7-A2EF-4BE21234B54B}"/>
              </a:ext>
            </a:extLst>
          </p:cNvPr>
          <p:cNvSpPr/>
          <p:nvPr/>
        </p:nvSpPr>
        <p:spPr>
          <a:xfrm>
            <a:off x="129396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06C5B-8FC5-D569-2AE0-03636CF0CCD1}"/>
              </a:ext>
            </a:extLst>
          </p:cNvPr>
          <p:cNvSpPr/>
          <p:nvPr/>
        </p:nvSpPr>
        <p:spPr>
          <a:xfrm>
            <a:off x="480553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341166-D50F-198F-0E6D-17DCEC0EA317}"/>
              </a:ext>
            </a:extLst>
          </p:cNvPr>
          <p:cNvSpPr/>
          <p:nvPr/>
        </p:nvSpPr>
        <p:spPr>
          <a:xfrm>
            <a:off x="4805536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82E7744-3205-3D14-6BE9-883217B14999}"/>
              </a:ext>
            </a:extLst>
          </p:cNvPr>
          <p:cNvSpPr/>
          <p:nvPr/>
        </p:nvSpPr>
        <p:spPr>
          <a:xfrm>
            <a:off x="8317108" y="87809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A39C3D-9111-F29C-AB9D-1E650F4C0C60}"/>
              </a:ext>
            </a:extLst>
          </p:cNvPr>
          <p:cNvSpPr/>
          <p:nvPr/>
        </p:nvSpPr>
        <p:spPr>
          <a:xfrm>
            <a:off x="8317108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035EDB-7D42-FD80-A64D-1B444CF1F6E4}"/>
              </a:ext>
            </a:extLst>
          </p:cNvPr>
          <p:cNvSpPr txBox="1"/>
          <p:nvPr/>
        </p:nvSpPr>
        <p:spPr>
          <a:xfrm>
            <a:off x="2059509" y="397565"/>
            <a:ext cx="104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Sequential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CBC3F8-8300-3DAD-0BC5-425AB5841CE3}"/>
              </a:ext>
            </a:extLst>
          </p:cNvPr>
          <p:cNvSpPr txBox="1"/>
          <p:nvPr/>
        </p:nvSpPr>
        <p:spPr>
          <a:xfrm>
            <a:off x="9054373" y="397565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Group Chat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CDE82-B9BA-575A-4838-57123640C602}"/>
              </a:ext>
            </a:extLst>
          </p:cNvPr>
          <p:cNvSpPr txBox="1"/>
          <p:nvPr/>
        </p:nvSpPr>
        <p:spPr>
          <a:xfrm>
            <a:off x="5386865" y="397565"/>
            <a:ext cx="141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in Loop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C72ADD-5624-A5AF-C90C-8D288A445042}"/>
              </a:ext>
            </a:extLst>
          </p:cNvPr>
          <p:cNvSpPr/>
          <p:nvPr/>
        </p:nvSpPr>
        <p:spPr>
          <a:xfrm>
            <a:off x="1907431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E24462-6792-9F65-B196-3AAC33E7B93E}"/>
              </a:ext>
            </a:extLst>
          </p:cNvPr>
          <p:cNvSpPr/>
          <p:nvPr/>
        </p:nvSpPr>
        <p:spPr>
          <a:xfrm>
            <a:off x="1907431" y="3966493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3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7113AE-C3C2-85C7-0E3A-0BAF3433488F}"/>
              </a:ext>
            </a:extLst>
          </p:cNvPr>
          <p:cNvSpPr/>
          <p:nvPr/>
        </p:nvSpPr>
        <p:spPr>
          <a:xfrm>
            <a:off x="1907431" y="2771990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CB94AA-C467-6DED-59A5-34F72F9BE893}"/>
              </a:ext>
            </a:extLst>
          </p:cNvPr>
          <p:cNvSpPr/>
          <p:nvPr/>
        </p:nvSpPr>
        <p:spPr>
          <a:xfrm>
            <a:off x="8935485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Orchestrator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(Route by Context)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6050253-1AB3-63EB-84EB-ACEE2400BBF8}"/>
              </a:ext>
            </a:extLst>
          </p:cNvPr>
          <p:cNvSpPr/>
          <p:nvPr/>
        </p:nvSpPr>
        <p:spPr>
          <a:xfrm>
            <a:off x="5421458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pic>
        <p:nvPicPr>
          <p:cNvPr id="18" name="Graphic 17" descr="User with solid fill">
            <a:extLst>
              <a:ext uri="{FF2B5EF4-FFF2-40B4-BE49-F238E27FC236}">
                <a16:creationId xmlns:a16="http://schemas.microsoft.com/office/drawing/2014/main" id="{1B9F9BDD-1142-BCE0-EDD8-ADD84DF939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2726" y="3841197"/>
            <a:ext cx="685800" cy="6858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EF4AA4-B888-18BB-6FB5-C6F9288B2265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6093542" y="1249877"/>
            <a:ext cx="2457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76B6AE-D465-4915-3E1B-D83CE01572FB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6093542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11E7CA-0A5C-9A5B-E02F-FE87A8E49E61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2579515" y="1249877"/>
            <a:ext cx="4915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BE0972-B87A-4DA1-1F47-7D690864B492}"/>
              </a:ext>
            </a:extLst>
          </p:cNvPr>
          <p:cNvSpPr txBox="1"/>
          <p:nvPr/>
        </p:nvSpPr>
        <p:spPr>
          <a:xfrm>
            <a:off x="6344228" y="4416172"/>
            <a:ext cx="8427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Approves or</a:t>
            </a:r>
          </a:p>
          <a:p>
            <a:pPr algn="ctr"/>
            <a:r>
              <a:rPr lang="en-US" sz="1200" dirty="0"/>
              <a:t>Clarifies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9C84E05-C87E-751E-D39B-0EB80D386D6F}"/>
              </a:ext>
            </a:extLst>
          </p:cNvPr>
          <p:cNvCxnSpPr>
            <a:cxnSpLocks/>
            <a:endCxn id="18" idx="0"/>
          </p:cNvCxnSpPr>
          <p:nvPr/>
        </p:nvCxnSpPr>
        <p:spPr>
          <a:xfrm rot="16200000" flipH="1">
            <a:off x="6422641" y="3498212"/>
            <a:ext cx="412200" cy="2737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C9E4D5-9A27-41B0-A6B7-325376A8EEA9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2579515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5EE7C03-9562-EF4D-00EA-CB265A4C9A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579515" y="3638884"/>
            <a:ext cx="0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025382F-8D45-D2AE-35A9-8B1AFA65118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2579515" y="4833387"/>
            <a:ext cx="4915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D068019-47A3-33D3-84C8-9F7C60B24399}"/>
              </a:ext>
            </a:extLst>
          </p:cNvPr>
          <p:cNvSpPr txBox="1"/>
          <p:nvPr/>
        </p:nvSpPr>
        <p:spPr>
          <a:xfrm>
            <a:off x="6479406" y="3355943"/>
            <a:ext cx="366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yes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2AEDFC-0FEB-1CDF-3F9F-2B7FB5A2FC99}"/>
              </a:ext>
            </a:extLst>
          </p:cNvPr>
          <p:cNvSpPr txBox="1"/>
          <p:nvPr/>
        </p:nvSpPr>
        <p:spPr>
          <a:xfrm>
            <a:off x="5386865" y="3355943"/>
            <a:ext cx="325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294098A-677B-10E2-34C5-5C1BE2219448}"/>
              </a:ext>
            </a:extLst>
          </p:cNvPr>
          <p:cNvCxnSpPr>
            <a:cxnSpLocks/>
          </p:cNvCxnSpPr>
          <p:nvPr/>
        </p:nvCxnSpPr>
        <p:spPr>
          <a:xfrm>
            <a:off x="5700145" y="3428997"/>
            <a:ext cx="0" cy="172605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9C40B7-FA41-0814-7C87-B0B00357906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765625" y="4877837"/>
            <a:ext cx="1" cy="27721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9F808D75-E976-70B5-1E8C-92954997F27F}"/>
              </a:ext>
            </a:extLst>
          </p:cNvPr>
          <p:cNvSpPr/>
          <p:nvPr/>
        </p:nvSpPr>
        <p:spPr>
          <a:xfrm>
            <a:off x="5231894" y="2771990"/>
            <a:ext cx="1723296" cy="866894"/>
          </a:xfrm>
          <a:prstGeom prst="flowChartDecision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Review?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0F91184-A0B5-338B-04D3-73E6BC57562B}"/>
              </a:ext>
            </a:extLst>
          </p:cNvPr>
          <p:cNvSpPr/>
          <p:nvPr/>
        </p:nvSpPr>
        <p:spPr>
          <a:xfrm>
            <a:off x="831710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A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B01557F-ABD2-BE16-968B-EB3184C63AF1}"/>
              </a:ext>
            </a:extLst>
          </p:cNvPr>
          <p:cNvSpPr/>
          <p:nvPr/>
        </p:nvSpPr>
        <p:spPr>
          <a:xfrm>
            <a:off x="921131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B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F63535-DF4C-4B17-E76D-AF2692CD0174}"/>
              </a:ext>
            </a:extLst>
          </p:cNvPr>
          <p:cNvSpPr/>
          <p:nvPr/>
        </p:nvSpPr>
        <p:spPr>
          <a:xfrm>
            <a:off x="10105530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C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1F33F15-6730-7F83-7184-1EFFB0E840B2}"/>
              </a:ext>
            </a:extLst>
          </p:cNvPr>
          <p:cNvCxnSpPr>
            <a:cxnSpLocks/>
            <a:stCxn id="14" idx="2"/>
            <a:endCxn id="61" idx="0"/>
          </p:cNvCxnSpPr>
          <p:nvPr/>
        </p:nvCxnSpPr>
        <p:spPr>
          <a:xfrm>
            <a:off x="9607569" y="2444380"/>
            <a:ext cx="0" cy="50340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4BA7FA0-175B-997D-9DFD-C48975209D2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9607569" y="1247424"/>
            <a:ext cx="2" cy="3300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712FCF4-FA2C-A1B7-F6E3-C494DB41694C}"/>
              </a:ext>
            </a:extLst>
          </p:cNvPr>
          <p:cNvCxnSpPr>
            <a:cxnSpLocks/>
            <a:stCxn id="14" idx="2"/>
            <a:endCxn id="60" idx="0"/>
          </p:cNvCxnSpPr>
          <p:nvPr/>
        </p:nvCxnSpPr>
        <p:spPr>
          <a:xfrm rot="5400000">
            <a:off x="8908762" y="2248977"/>
            <a:ext cx="503405" cy="8942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6BE40E8-80D9-F923-B31B-4EB673E02EF8}"/>
              </a:ext>
            </a:extLst>
          </p:cNvPr>
          <p:cNvCxnSpPr>
            <a:cxnSpLocks/>
            <a:stCxn id="14" idx="2"/>
            <a:endCxn id="62" idx="0"/>
          </p:cNvCxnSpPr>
          <p:nvPr/>
        </p:nvCxnSpPr>
        <p:spPr>
          <a:xfrm rot="16200000" flipH="1">
            <a:off x="9802973" y="2248975"/>
            <a:ext cx="503405" cy="8942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3F73E562-451E-ACE6-539E-D86109028F4E}"/>
              </a:ext>
            </a:extLst>
          </p:cNvPr>
          <p:cNvCxnSpPr>
            <a:cxnSpLocks/>
            <a:stCxn id="60" idx="2"/>
            <a:endCxn id="7" idx="0"/>
          </p:cNvCxnSpPr>
          <p:nvPr/>
        </p:nvCxnSpPr>
        <p:spPr>
          <a:xfrm rot="16200000" flipH="1">
            <a:off x="8396438" y="3949863"/>
            <a:ext cx="1528055" cy="8942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DE881DF3-FDE1-E2F0-A9A6-2EF92D0A6A22}"/>
              </a:ext>
            </a:extLst>
          </p:cNvPr>
          <p:cNvCxnSpPr>
            <a:cxnSpLocks/>
            <a:stCxn id="62" idx="2"/>
            <a:endCxn id="7" idx="0"/>
          </p:cNvCxnSpPr>
          <p:nvPr/>
        </p:nvCxnSpPr>
        <p:spPr>
          <a:xfrm rot="5400000">
            <a:off x="9290650" y="3949864"/>
            <a:ext cx="1528055" cy="8942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57C5348-A8B7-BB09-4C4A-BB5E1799E7CD}"/>
              </a:ext>
            </a:extLst>
          </p:cNvPr>
          <p:cNvCxnSpPr>
            <a:cxnSpLocks/>
            <a:stCxn id="61" idx="2"/>
            <a:endCxn id="7" idx="0"/>
          </p:cNvCxnSpPr>
          <p:nvPr/>
        </p:nvCxnSpPr>
        <p:spPr>
          <a:xfrm>
            <a:off x="9607569" y="3632942"/>
            <a:ext cx="2" cy="15280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5120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CB0691-4F4F-B36F-1292-BDF4D6F64E6F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C2B664-F030-F1F9-F28B-DCC5EEC01A16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On-Device Inference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53C473-9B29-E37D-A715-ED5C1E1CE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571618"/>
              </p:ext>
            </p:extLst>
          </p:nvPr>
        </p:nvGraphicFramePr>
        <p:xfrm>
          <a:off x="3122928" y="2208569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No per-token costs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Low latency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Works Offline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F5A509-0B8F-7811-0487-C9575E6398F1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65C37-35DD-9952-1CFD-D128D2081A33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Customization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3E63C08-E18D-B389-2582-B89833A5B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26545"/>
              </p:ext>
            </p:extLst>
          </p:nvPr>
        </p:nvGraphicFramePr>
        <p:xfrm>
          <a:off x="3122928" y="3443461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Download from Foundry models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Pull other models from Hugging Face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Optimize for your machine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7007C4-3061-A8D2-7F2E-AC6DBB9E5633}"/>
              </a:ext>
            </a:extLst>
          </p:cNvPr>
          <p:cNvSpPr/>
          <p:nvPr/>
        </p:nvSpPr>
        <p:spPr>
          <a:xfrm>
            <a:off x="2933282" y="4527781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E10519-9789-FE60-F956-7F35469179EF}"/>
              </a:ext>
            </a:extLst>
          </p:cNvPr>
          <p:cNvSpPr/>
          <p:nvPr/>
        </p:nvSpPr>
        <p:spPr>
          <a:xfrm>
            <a:off x="4805538" y="434311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 Integration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679DA3-8983-1774-D4AD-BD0BA5945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394595"/>
              </p:ext>
            </p:extLst>
          </p:nvPr>
        </p:nvGraphicFramePr>
        <p:xfrm>
          <a:off x="3122929" y="4787355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SDKs for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Javascript</a:t>
                      </a:r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, Python, &amp; C#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OpenAI-compatible API format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Interactive chat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via the CLI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ABD033-95C1-DE14-1371-DDB65914500E}"/>
              </a:ext>
            </a:extLst>
          </p:cNvPr>
          <p:cNvSpPr/>
          <p:nvPr/>
        </p:nvSpPr>
        <p:spPr>
          <a:xfrm>
            <a:off x="2584694" y="2174798"/>
            <a:ext cx="4982297" cy="246864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F47915-E3BB-FBA3-7676-86FE48083972}"/>
              </a:ext>
            </a:extLst>
          </p:cNvPr>
          <p:cNvCxnSpPr>
            <a:cxnSpLocks/>
            <a:stCxn id="20" idx="1"/>
            <a:endCxn id="12" idx="3"/>
          </p:cNvCxnSpPr>
          <p:nvPr/>
        </p:nvCxnSpPr>
        <p:spPr>
          <a:xfrm flipH="1">
            <a:off x="7281103" y="2888337"/>
            <a:ext cx="795151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DEEFD6-4A89-56D2-D306-6B0F392F03A2}"/>
              </a:ext>
            </a:extLst>
          </p:cNvPr>
          <p:cNvGrpSpPr/>
          <p:nvPr/>
        </p:nvGrpSpPr>
        <p:grpSpPr>
          <a:xfrm>
            <a:off x="2870578" y="2444894"/>
            <a:ext cx="4410525" cy="1928450"/>
            <a:chOff x="4432935" y="2463266"/>
            <a:chExt cx="4410525" cy="19284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D235446-172F-6EEA-DCA9-68B84AE458F0}"/>
                </a:ext>
              </a:extLst>
            </p:cNvPr>
            <p:cNvSpPr/>
            <p:nvPr/>
          </p:nvSpPr>
          <p:spPr>
            <a:xfrm>
              <a:off x="4432936" y="2466285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Local Service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(Core C API)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C6BE8AC-19F7-DD20-EE5B-659AF29F464A}"/>
                </a:ext>
              </a:extLst>
            </p:cNvPr>
            <p:cNvSpPr/>
            <p:nvPr/>
          </p:nvSpPr>
          <p:spPr>
            <a:xfrm>
              <a:off x="5966114" y="2463266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ONNX Runtime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197549C-A069-ABFE-9697-3B84E0F4C460}"/>
                </a:ext>
              </a:extLst>
            </p:cNvPr>
            <p:cNvSpPr/>
            <p:nvPr/>
          </p:nvSpPr>
          <p:spPr>
            <a:xfrm>
              <a:off x="4432935" y="3524822"/>
              <a:ext cx="4410525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Cache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EAD17B7-C4B2-FCB0-6649-6E63B0A81515}"/>
                </a:ext>
              </a:extLst>
            </p:cNvPr>
            <p:cNvSpPr/>
            <p:nvPr/>
          </p:nvSpPr>
          <p:spPr>
            <a:xfrm>
              <a:off x="7499292" y="2473262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Management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120D170-1949-EC3F-DB51-93C17FCF7505}"/>
                </a:ext>
              </a:extLst>
            </p:cNvPr>
            <p:cNvSpPr/>
            <p:nvPr/>
          </p:nvSpPr>
          <p:spPr>
            <a:xfrm>
              <a:off x="6102328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2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0451BAB-C34E-4650-515B-63F461663ED0}"/>
                </a:ext>
              </a:extLst>
            </p:cNvPr>
            <p:cNvSpPr/>
            <p:nvPr/>
          </p:nvSpPr>
          <p:spPr>
            <a:xfrm>
              <a:off x="7635507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3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5626C3B-43F8-65F9-6D86-F7B15D95C526}"/>
                </a:ext>
              </a:extLst>
            </p:cNvPr>
            <p:cNvSpPr/>
            <p:nvPr/>
          </p:nvSpPr>
          <p:spPr>
            <a:xfrm>
              <a:off x="4569151" y="3945117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1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3CFB2EF-0BF7-6736-3257-3868777206B9}"/>
              </a:ext>
            </a:extLst>
          </p:cNvPr>
          <p:cNvSpPr/>
          <p:nvPr/>
        </p:nvSpPr>
        <p:spPr>
          <a:xfrm>
            <a:off x="3785379" y="446575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Local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EC0C0-D10C-CDBC-F226-4707993BA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140" y="4444678"/>
            <a:ext cx="411480" cy="4114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B03222-4598-AD0F-7004-E5BF69B4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254" y="2545437"/>
            <a:ext cx="750647" cy="685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ACAD34-655D-6D96-E9CE-9A30055341BD}"/>
              </a:ext>
            </a:extLst>
          </p:cNvPr>
          <p:cNvSpPr txBox="1"/>
          <p:nvPr/>
        </p:nvSpPr>
        <p:spPr>
          <a:xfrm>
            <a:off x="7613977" y="3183284"/>
            <a:ext cx="1675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Microsoft Foundry</a:t>
            </a:r>
          </a:p>
          <a:p>
            <a:pPr algn="ctr"/>
            <a:r>
              <a:rPr lang="en-US" dirty="0"/>
              <a:t>Model Catalog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D49B3AD-DB92-B552-129E-23875F3C5E8A}"/>
              </a:ext>
            </a:extLst>
          </p:cNvPr>
          <p:cNvSpPr/>
          <p:nvPr/>
        </p:nvSpPr>
        <p:spPr>
          <a:xfrm>
            <a:off x="2584694" y="800167"/>
            <a:ext cx="4982297" cy="941185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E1E4223-18B0-0270-B46F-77DE56377983}"/>
              </a:ext>
            </a:extLst>
          </p:cNvPr>
          <p:cNvSpPr/>
          <p:nvPr/>
        </p:nvSpPr>
        <p:spPr>
          <a:xfrm>
            <a:off x="3785377" y="61550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Developer Experience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047E8E3-E96F-F9CC-2C1A-9F31EC67F570}"/>
              </a:ext>
            </a:extLst>
          </p:cNvPr>
          <p:cNvSpPr/>
          <p:nvPr/>
        </p:nvSpPr>
        <p:spPr>
          <a:xfrm>
            <a:off x="4403757" y="1064612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SDKs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549E190-6268-5A77-8C6B-DAEBDEFAD43C}"/>
              </a:ext>
            </a:extLst>
          </p:cNvPr>
          <p:cNvSpPr/>
          <p:nvPr/>
        </p:nvSpPr>
        <p:spPr>
          <a:xfrm>
            <a:off x="5985374" y="106461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0DFE1C6-902A-9B22-61A5-FE9656C8C7D0}"/>
              </a:ext>
            </a:extLst>
          </p:cNvPr>
          <p:cNvSpPr/>
          <p:nvPr/>
        </p:nvSpPr>
        <p:spPr>
          <a:xfrm>
            <a:off x="2822140" y="1062776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REST Web 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78B64DB-9DDF-AAC1-D30D-EC498B479ED1}"/>
              </a:ext>
            </a:extLst>
          </p:cNvPr>
          <p:cNvCxnSpPr>
            <a:cxnSpLocks/>
          </p:cNvCxnSpPr>
          <p:nvPr/>
        </p:nvCxnSpPr>
        <p:spPr>
          <a:xfrm flipV="1">
            <a:off x="4282872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C56010-06B3-9647-A302-F7EA6C749369}"/>
              </a:ext>
            </a:extLst>
          </p:cNvPr>
          <p:cNvCxnSpPr>
            <a:cxnSpLocks/>
          </p:cNvCxnSpPr>
          <p:nvPr/>
        </p:nvCxnSpPr>
        <p:spPr>
          <a:xfrm flipV="1">
            <a:off x="5853254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B841E0E-9A0C-0AF0-73DC-3D01CB1B600C}"/>
              </a:ext>
            </a:extLst>
          </p:cNvPr>
          <p:cNvSpPr txBox="1"/>
          <p:nvPr/>
        </p:nvSpPr>
        <p:spPr>
          <a:xfrm>
            <a:off x="5985374" y="1795687"/>
            <a:ext cx="1015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Named Pipes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935555-E192-F7FA-B5DB-71FBC3D6CE7B}"/>
              </a:ext>
            </a:extLst>
          </p:cNvPr>
          <p:cNvSpPr txBox="1"/>
          <p:nvPr/>
        </p:nvSpPr>
        <p:spPr>
          <a:xfrm>
            <a:off x="3328515" y="180143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/>
              <a:t>HTTP Calls</a:t>
            </a:r>
          </a:p>
        </p:txBody>
      </p:sp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CA1E36B-6F8B-78EC-D1DA-00A7BA890F0C}"/>
              </a:ext>
            </a:extLst>
          </p:cNvPr>
          <p:cNvGrpSpPr/>
          <p:nvPr/>
        </p:nvGrpSpPr>
        <p:grpSpPr>
          <a:xfrm>
            <a:off x="573747" y="1716157"/>
            <a:ext cx="10253279" cy="3589047"/>
            <a:chOff x="112514" y="1046426"/>
            <a:chExt cx="8240279" cy="35425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E48D362-580F-42C1-3153-EC52D854BB7E}"/>
                </a:ext>
              </a:extLst>
            </p:cNvPr>
            <p:cNvSpPr/>
            <p:nvPr/>
          </p:nvSpPr>
          <p:spPr>
            <a:xfrm>
              <a:off x="542776" y="1046427"/>
              <a:ext cx="1525630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Weight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/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blipFill>
                  <a:blip r:embed="rId2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D7E328-0589-1816-BDBA-AD0FE42F5688}"/>
                </a:ext>
              </a:extLst>
            </p:cNvPr>
            <p:cNvSpPr txBox="1"/>
            <p:nvPr/>
          </p:nvSpPr>
          <p:spPr>
            <a:xfrm>
              <a:off x="549126" y="1639593"/>
              <a:ext cx="152563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Stored as a 32-bit number (FP32)*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E40183-A35F-5E76-740F-108817A55AEF}"/>
                </a:ext>
              </a:extLst>
            </p:cNvPr>
            <p:cNvSpPr/>
            <p:nvPr/>
          </p:nvSpPr>
          <p:spPr>
            <a:xfrm>
              <a:off x="278148" y="2328864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4-bit Quantization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/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/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/>
                    <a:t>A 4-bit quantized value can represent 2</a:t>
                  </a:r>
                  <a:r>
                    <a:rPr lang="en-US" sz="1100" baseline="30000" dirty="0"/>
                    <a:t>4</a:t>
                  </a:r>
                  <a:r>
                    <a:rPr lang="en-US" sz="1100" dirty="0"/>
                    <a:t>=16 discrete levels.</a:t>
                  </a:r>
                </a:p>
                <a:p>
                  <a:r>
                    <a:rPr lang="en-US" sz="1100" dirty="0"/>
                    <a:t>Where: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lang="en-US" sz="1100" dirty="0"/>
                    <a:t> is the scale factor (how much one quantization level represents)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sz="1100" dirty="0"/>
                    <a:t>is an integer between [-8,+7] (16 levels total).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)∈{−8,−7,−6,…,6,7}</m:t>
                      </m:r>
                    </m:oMath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blipFill>
                  <a:blip r:embed="rId4"/>
                  <a:stretch>
                    <a:fillRect b="-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000436-35AE-15BA-7C56-0E053A1C98DD}"/>
                </a:ext>
              </a:extLst>
            </p:cNvPr>
            <p:cNvSpPr/>
            <p:nvPr/>
          </p:nvSpPr>
          <p:spPr>
            <a:xfrm>
              <a:off x="2886939" y="1046426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Map the Scale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/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1.0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≈0.1429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7FC42-5EAE-C0DF-2B08-6B125B6DB5B2}"/>
                </a:ext>
              </a:extLst>
            </p:cNvPr>
            <p:cNvSpPr txBox="1"/>
            <p:nvPr/>
          </p:nvSpPr>
          <p:spPr>
            <a:xfrm>
              <a:off x="2886938" y="1930258"/>
              <a:ext cx="2757871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Let’s say the weights in this tensor range from [-1.0,+1.0]. Denominator is the max weight in the [-8,+7] quant range (so, 7).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AF1B14-4056-FBF2-F6CB-B18A101C05C6}"/>
                </a:ext>
              </a:extLst>
            </p:cNvPr>
            <p:cNvSpPr/>
            <p:nvPr/>
          </p:nvSpPr>
          <p:spPr>
            <a:xfrm>
              <a:off x="2886937" y="2967524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Quantize the Value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/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0.37</m:t>
                            </m:r>
                          </m:e>
                        </m:d>
                        <m:r>
                          <a:rPr lang="en-US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0.1429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2.59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blipFill>
                  <a:blip r:embed="rId6"/>
                  <a:stretch>
                    <a:fillRect b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F26E49-C806-D5AE-946D-FC847BA33CA6}"/>
                </a:ext>
              </a:extLst>
            </p:cNvPr>
            <p:cNvSpPr txBox="1"/>
            <p:nvPr/>
          </p:nvSpPr>
          <p:spPr>
            <a:xfrm>
              <a:off x="2886939" y="4158127"/>
              <a:ext cx="27578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Integer representation (4-bit) is: 3</a:t>
              </a:r>
            </a:p>
            <a:p>
              <a:pPr algn="ctr"/>
              <a:r>
                <a:rPr lang="en-US" sz="1100" dirty="0"/>
                <a:t>(binary: 0011)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A08310A7-EEE8-F6F6-64C4-407BEAE69530}"/>
                </a:ext>
              </a:extLst>
            </p:cNvPr>
            <p:cNvCxnSpPr>
              <a:cxnSpLocks/>
              <a:stCxn id="13" idx="3"/>
              <a:endCxn id="18" idx="1"/>
            </p:cNvCxnSpPr>
            <p:nvPr/>
          </p:nvCxnSpPr>
          <p:spPr>
            <a:xfrm flipV="1">
              <a:off x="5644808" y="1183343"/>
              <a:ext cx="818539" cy="19210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0F04CE8-49AC-5CFE-206A-9C293D4CF620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2345735" y="1183342"/>
              <a:ext cx="541204" cy="128243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7FF09C-A29A-A499-A2B3-672C34E3A06E}"/>
                </a:ext>
              </a:extLst>
            </p:cNvPr>
            <p:cNvSpPr/>
            <p:nvPr/>
          </p:nvSpPr>
          <p:spPr>
            <a:xfrm>
              <a:off x="6463347" y="1046427"/>
              <a:ext cx="1711303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De-Quantize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/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l-PL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)=0.1429×3=0.4287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blipFill>
                  <a:blip r:embed="rId7"/>
                  <a:stretch>
                    <a:fillRect t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9C600D-70A1-925D-4FF1-E2B23D5A1F91}"/>
                </a:ext>
              </a:extLst>
            </p:cNvPr>
            <p:cNvSpPr txBox="1"/>
            <p:nvPr/>
          </p:nvSpPr>
          <p:spPr>
            <a:xfrm>
              <a:off x="6463345" y="2227691"/>
              <a:ext cx="171130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Reconstruct the original model weight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E68490-F7D3-8A4D-DB15-5F77430143DC}"/>
                </a:ext>
              </a:extLst>
            </p:cNvPr>
            <p:cNvSpPr/>
            <p:nvPr/>
          </p:nvSpPr>
          <p:spPr>
            <a:xfrm>
              <a:off x="6285205" y="2967525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Error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/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error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l-PL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=0.37−0.4287=−0.0587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blipFill>
                  <a:blip r:embed="rId8"/>
                  <a:stretch>
                    <a:fillRect t="-20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E99888-98F6-40AA-8A60-0DCC4BFB49C2}"/>
                </a:ext>
              </a:extLst>
            </p:cNvPr>
            <p:cNvSpPr txBox="1"/>
            <p:nvPr/>
          </p:nvSpPr>
          <p:spPr>
            <a:xfrm>
              <a:off x="6285206" y="4090401"/>
              <a:ext cx="20675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The reconstructed model weight is</a:t>
              </a:r>
            </a:p>
            <a:p>
              <a:pPr algn="ctr"/>
              <a:r>
                <a:rPr lang="en-US" sz="1100" dirty="0"/>
                <a:t>off by -0.0587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7909FA-F299-55CF-6779-57473690681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1311942" y="1928908"/>
              <a:ext cx="0" cy="3999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8213CC-FC4F-80C2-D898-9041F2C3C40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4265873" y="2361146"/>
              <a:ext cx="1" cy="606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F869889-41FC-A3CD-DF46-A7147E3D45E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7318998" y="2501521"/>
              <a:ext cx="1" cy="466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94D3DA75-530C-7F8C-9F2D-5A7A12B26CC8}"/>
              </a:ext>
            </a:extLst>
          </p:cNvPr>
          <p:cNvGrpSpPr/>
          <p:nvPr/>
        </p:nvGrpSpPr>
        <p:grpSpPr>
          <a:xfrm>
            <a:off x="2742318" y="1761898"/>
            <a:ext cx="6707363" cy="3334204"/>
            <a:chOff x="2626805" y="1138961"/>
            <a:chExt cx="6707363" cy="333420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2E1BAB5-E274-763D-6C88-4CAF97E3D6C2}"/>
                </a:ext>
              </a:extLst>
            </p:cNvPr>
            <p:cNvSpPr/>
            <p:nvPr/>
          </p:nvSpPr>
          <p:spPr>
            <a:xfrm>
              <a:off x="262680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Input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2354587-DCA6-E904-8F29-6F6BFBBEFBD3}"/>
                </a:ext>
              </a:extLst>
            </p:cNvPr>
            <p:cNvSpPr/>
            <p:nvPr/>
          </p:nvSpPr>
          <p:spPr>
            <a:xfrm>
              <a:off x="526111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Tool Call &amp; Response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88989B2-FAE5-E38B-FFE5-3D8A1AFD67E2}"/>
                </a:ext>
              </a:extLst>
            </p:cNvPr>
            <p:cNvSpPr/>
            <p:nvPr/>
          </p:nvSpPr>
          <p:spPr>
            <a:xfrm>
              <a:off x="789542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 Output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F1DA7FB-B4E6-70FC-E344-8A1F141B58BC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406554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76E5D172-00CA-4800-2437-6E2B4EBDF04D}"/>
                </a:ext>
              </a:extLst>
            </p:cNvPr>
            <p:cNvSpPr/>
            <p:nvPr/>
          </p:nvSpPr>
          <p:spPr>
            <a:xfrm>
              <a:off x="3460475" y="1138963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Check for harmful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E30DE5-D8B0-6032-35C8-AA4A209F9440}"/>
                </a:ext>
              </a:extLst>
            </p:cNvPr>
            <p:cNvCxnSpPr>
              <a:cxnSpLocks/>
              <a:stCxn id="16" idx="2"/>
              <a:endCxn id="25" idx="0"/>
            </p:cNvCxnSpPr>
            <p:nvPr/>
          </p:nvCxnSpPr>
          <p:spPr>
            <a:xfrm>
              <a:off x="4417945" y="2067341"/>
              <a:ext cx="1215" cy="670142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C640152-4738-174F-FD99-7D55FC76F495}"/>
                </a:ext>
              </a:extLst>
            </p:cNvPr>
            <p:cNvSpPr/>
            <p:nvPr/>
          </p:nvSpPr>
          <p:spPr>
            <a:xfrm>
              <a:off x="3836948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Limit off-task or malicious tool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E8A49B1-D71B-5EA0-3F20-96427E390C88}"/>
                </a:ext>
              </a:extLst>
            </p:cNvPr>
            <p:cNvSpPr/>
            <p:nvPr/>
          </p:nvSpPr>
          <p:spPr>
            <a:xfrm>
              <a:off x="6096000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Remove sensitive info from reasoning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4AFC691-A3D6-2FFA-81BA-8C7DE54F75B0}"/>
                </a:ext>
              </a:extLst>
            </p:cNvPr>
            <p:cNvSpPr/>
            <p:nvPr/>
          </p:nvSpPr>
          <p:spPr>
            <a:xfrm>
              <a:off x="435058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0B510AA-FF5C-95FD-3DCF-B2FFD06A3D55}"/>
                </a:ext>
              </a:extLst>
            </p:cNvPr>
            <p:cNvSpPr/>
            <p:nvPr/>
          </p:nvSpPr>
          <p:spPr>
            <a:xfrm>
              <a:off x="472583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BF217B-83BA-289D-E5E5-4473C0B1D346}"/>
                </a:ext>
              </a:extLst>
            </p:cNvPr>
            <p:cNvCxnSpPr>
              <a:cxnSpLocks/>
              <a:stCxn id="28" idx="4"/>
              <a:endCxn id="20" idx="0"/>
            </p:cNvCxnSpPr>
            <p:nvPr/>
          </p:nvCxnSpPr>
          <p:spPr>
            <a:xfrm>
              <a:off x="4794418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0973632-01B6-A0BB-7642-2574628EF338}"/>
                </a:ext>
              </a:extLst>
            </p:cNvPr>
            <p:cNvCxnSpPr>
              <a:cxnSpLocks/>
              <a:stCxn id="21" idx="0"/>
              <a:endCxn id="48" idx="4"/>
            </p:cNvCxnSpPr>
            <p:nvPr/>
          </p:nvCxnSpPr>
          <p:spPr>
            <a:xfrm flipV="1">
              <a:off x="7053470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9F8E829-F3C4-30FE-28E1-43304C61F284}"/>
                </a:ext>
              </a:extLst>
            </p:cNvPr>
            <p:cNvSpPr/>
            <p:nvPr/>
          </p:nvSpPr>
          <p:spPr>
            <a:xfrm>
              <a:off x="6471258" y="1138961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Last checks &amp; annotations before response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B411845-759C-7B36-5B9F-4D89DD0FB430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669985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5A50184-1911-57A0-BC51-2E2FCC6E2FB1}"/>
                </a:ext>
              </a:extLst>
            </p:cNvPr>
            <p:cNvSpPr/>
            <p:nvPr/>
          </p:nvSpPr>
          <p:spPr>
            <a:xfrm>
              <a:off x="698489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DBFB7B5-4EF5-73EA-6169-E38F3155B0DA}"/>
                </a:ext>
              </a:extLst>
            </p:cNvPr>
            <p:cNvSpPr/>
            <p:nvPr/>
          </p:nvSpPr>
          <p:spPr>
            <a:xfrm>
              <a:off x="736014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5D2FED-027D-2E87-5FF7-B06AF88F9EE2}"/>
                </a:ext>
              </a:extLst>
            </p:cNvPr>
            <p:cNvCxnSpPr>
              <a:cxnSpLocks/>
              <a:stCxn id="49" idx="0"/>
              <a:endCxn id="46" idx="2"/>
            </p:cNvCxnSpPr>
            <p:nvPr/>
          </p:nvCxnSpPr>
          <p:spPr>
            <a:xfrm flipV="1">
              <a:off x="7428728" y="2067339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931436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67BA-66DD-B140-5528-856BCA34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3"/>
            <a:ext cx="12192000" cy="665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9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65E1-5DF3-2FE1-BF1F-36B02D0F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0F888E-6C37-17E1-670D-996346E7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4427"/>
            <a:ext cx="12192000" cy="442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02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7DA2-6815-DE2B-768E-FDE43E3CE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78980" cy="386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5023E-4451-73EF-7EF8-DE3379C3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493186"/>
            <a:ext cx="9357360" cy="32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16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2CE8B92-0FBB-60F0-A0EE-D6AFE5D15B09}"/>
              </a:ext>
            </a:extLst>
          </p:cNvPr>
          <p:cNvSpPr/>
          <p:nvPr/>
        </p:nvSpPr>
        <p:spPr>
          <a:xfrm>
            <a:off x="358855" y="3658434"/>
            <a:ext cx="8891162" cy="292334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8230BA4-DB8E-C294-E0A5-63D3EE9E71FE}"/>
              </a:ext>
            </a:extLst>
          </p:cNvPr>
          <p:cNvSpPr/>
          <p:nvPr/>
        </p:nvSpPr>
        <p:spPr>
          <a:xfrm>
            <a:off x="358855" y="153614"/>
            <a:ext cx="8891162" cy="343351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1F33519-CE18-B69F-489D-3645A1E07D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28300" y="1598778"/>
            <a:ext cx="685800" cy="6858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D25F84F-12D9-933D-383D-DF47935E14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4061" y="1598778"/>
            <a:ext cx="685800" cy="685800"/>
          </a:xfrm>
          <a:prstGeom prst="rect">
            <a:avLst/>
          </a:prstGeom>
        </p:spPr>
      </p:pic>
      <p:pic>
        <p:nvPicPr>
          <p:cNvPr id="8" name="Graphic 7" descr="User with solid fill">
            <a:extLst>
              <a:ext uri="{FF2B5EF4-FFF2-40B4-BE49-F238E27FC236}">
                <a16:creationId xmlns:a16="http://schemas.microsoft.com/office/drawing/2014/main" id="{45C5B597-FDA1-220F-DA15-C49967066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6732" y="1598778"/>
            <a:ext cx="685800" cy="685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85A3F3-6DF2-4004-4A04-AFA22E2C0073}"/>
              </a:ext>
            </a:extLst>
          </p:cNvPr>
          <p:cNvSpPr txBox="1"/>
          <p:nvPr/>
        </p:nvSpPr>
        <p:spPr>
          <a:xfrm>
            <a:off x="2032152" y="2183544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68BB52E-7BF9-9935-FCC4-98115B42BF97}"/>
              </a:ext>
            </a:extLst>
          </p:cNvPr>
          <p:cNvSpPr/>
          <p:nvPr/>
        </p:nvSpPr>
        <p:spPr>
          <a:xfrm>
            <a:off x="533713" y="1685704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Now…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1DAF99-B97C-87DD-26D0-B8648A52F7C4}"/>
              </a:ext>
            </a:extLst>
          </p:cNvPr>
          <p:cNvSpPr txBox="1"/>
          <p:nvPr/>
        </p:nvSpPr>
        <p:spPr>
          <a:xfrm>
            <a:off x="4150971" y="2183544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63E150-DB3F-44DE-67E4-D87E6220AC23}"/>
              </a:ext>
            </a:extLst>
          </p:cNvPr>
          <p:cNvSpPr txBox="1"/>
          <p:nvPr/>
        </p:nvSpPr>
        <p:spPr>
          <a:xfrm>
            <a:off x="6002012" y="2183544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62598B43-CEC1-5766-C927-CEC15C1A0AAE}"/>
              </a:ext>
            </a:extLst>
          </p:cNvPr>
          <p:cNvSpPr/>
          <p:nvPr/>
        </p:nvSpPr>
        <p:spPr>
          <a:xfrm>
            <a:off x="1770288" y="366015"/>
            <a:ext cx="2885222" cy="1012578"/>
          </a:xfrm>
          <a:prstGeom prst="wedgeRoundRectCallout">
            <a:avLst>
              <a:gd name="adj1" fmla="val -29100"/>
              <a:gd name="adj2" fmla="val 75797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Write some code to train a machine learning model.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I only know Python.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1CB169-6E50-27F5-F297-9515C4A19049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2652532" y="1941678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BD5D59-D6BD-C3BA-C313-5F1EA656DB47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>
            <a:off x="4829861" y="1941678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251CF955-9DB1-0FA1-7E20-6549D911EBF7}"/>
              </a:ext>
            </a:extLst>
          </p:cNvPr>
          <p:cNvSpPr/>
          <p:nvPr/>
        </p:nvSpPr>
        <p:spPr>
          <a:xfrm>
            <a:off x="3785978" y="2794741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from </a:t>
            </a:r>
            <a:r>
              <a:rPr lang="en-US" dirty="0" err="1">
                <a:solidFill>
                  <a:schemeClr val="tx1"/>
                </a:solidFill>
              </a:rPr>
              <a:t>sklearn</a:t>
            </a:r>
            <a:r>
              <a:rPr lang="en-US" dirty="0">
                <a:solidFill>
                  <a:schemeClr val="tx1"/>
                </a:solidFill>
              </a:rPr>
              <a:t> import …</a:t>
            </a:r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171105D8-27A4-BFED-D2CD-C8DA37000511}"/>
              </a:ext>
            </a:extLst>
          </p:cNvPr>
          <p:cNvSpPr/>
          <p:nvPr/>
        </p:nvSpPr>
        <p:spPr>
          <a:xfrm>
            <a:off x="6096000" y="765945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753D523-5D17-25C2-3E2E-562DC19F42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28300" y="4640152"/>
            <a:ext cx="685800" cy="6858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FAF1C6E-95B5-32B1-E2B3-661500DADB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4061" y="4640152"/>
            <a:ext cx="685800" cy="685800"/>
          </a:xfrm>
          <a:prstGeom prst="rect">
            <a:avLst/>
          </a:prstGeom>
        </p:spPr>
      </p:pic>
      <p:pic>
        <p:nvPicPr>
          <p:cNvPr id="30" name="Graphic 29" descr="User with solid fill">
            <a:extLst>
              <a:ext uri="{FF2B5EF4-FFF2-40B4-BE49-F238E27FC236}">
                <a16:creationId xmlns:a16="http://schemas.microsoft.com/office/drawing/2014/main" id="{3CFE110E-8813-1FA4-CDD3-2ADB30FCF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6732" y="4640152"/>
            <a:ext cx="685800" cy="6858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5FBFC99-2660-1276-0EE8-A4D1E458FAB8}"/>
              </a:ext>
            </a:extLst>
          </p:cNvPr>
          <p:cNvSpPr txBox="1"/>
          <p:nvPr/>
        </p:nvSpPr>
        <p:spPr>
          <a:xfrm>
            <a:off x="2032152" y="522491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FBB97D8-567B-2FB3-A77F-4142991A4776}"/>
              </a:ext>
            </a:extLst>
          </p:cNvPr>
          <p:cNvSpPr/>
          <p:nvPr/>
        </p:nvSpPr>
        <p:spPr>
          <a:xfrm>
            <a:off x="533713" y="5119217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Later…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FF3AF-6386-1815-7F4B-10773FA4310B}"/>
              </a:ext>
            </a:extLst>
          </p:cNvPr>
          <p:cNvSpPr txBox="1"/>
          <p:nvPr/>
        </p:nvSpPr>
        <p:spPr>
          <a:xfrm>
            <a:off x="4150971" y="5224918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12CBF8-29C7-89CD-7A59-406C49225BBD}"/>
              </a:ext>
            </a:extLst>
          </p:cNvPr>
          <p:cNvSpPr txBox="1"/>
          <p:nvPr/>
        </p:nvSpPr>
        <p:spPr>
          <a:xfrm>
            <a:off x="6002012" y="5224918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35EC79D-0288-3ED4-7298-811262B903D5}"/>
              </a:ext>
            </a:extLst>
          </p:cNvPr>
          <p:cNvSpPr/>
          <p:nvPr/>
        </p:nvSpPr>
        <p:spPr>
          <a:xfrm>
            <a:off x="1770288" y="3807319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Help me generate a plot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for this dataset.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F506EE-BB26-240B-042A-A2A65C8D06D4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2652532" y="4983052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74A5733-2C01-3E27-7090-45BD5FB15200}"/>
              </a:ext>
            </a:extLst>
          </p:cNvPr>
          <p:cNvCxnSpPr>
            <a:cxnSpLocks/>
            <a:stCxn id="28" idx="1"/>
            <a:endCxn id="29" idx="3"/>
          </p:cNvCxnSpPr>
          <p:nvPr/>
        </p:nvCxnSpPr>
        <p:spPr>
          <a:xfrm flipH="1">
            <a:off x="4829861" y="4983052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peech Bubble: Rectangle with Corners Rounded 37">
            <a:extLst>
              <a:ext uri="{FF2B5EF4-FFF2-40B4-BE49-F238E27FC236}">
                <a16:creationId xmlns:a16="http://schemas.microsoft.com/office/drawing/2014/main" id="{5D85D6AC-48CF-AC5D-C137-4856B7B2D135}"/>
              </a:ext>
            </a:extLst>
          </p:cNvPr>
          <p:cNvSpPr/>
          <p:nvPr/>
        </p:nvSpPr>
        <p:spPr>
          <a:xfrm>
            <a:off x="3785978" y="5836115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import </a:t>
            </a:r>
            <a:r>
              <a:rPr lang="en-US" dirty="0" err="1">
                <a:solidFill>
                  <a:schemeClr val="tx1"/>
                </a:solidFill>
              </a:rPr>
              <a:t>matplotlib.pyplot</a:t>
            </a:r>
            <a:r>
              <a:rPr lang="en-US" dirty="0">
                <a:solidFill>
                  <a:schemeClr val="tx1"/>
                </a:solidFill>
              </a:rPr>
              <a:t> as </a:t>
            </a:r>
            <a:r>
              <a:rPr lang="en-US" dirty="0" err="1">
                <a:solidFill>
                  <a:schemeClr val="tx1"/>
                </a:solidFill>
              </a:rPr>
              <a:t>plt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949128A9-77EC-8D4B-219D-7A28229C8AC4}"/>
              </a:ext>
            </a:extLst>
          </p:cNvPr>
          <p:cNvSpPr/>
          <p:nvPr/>
        </p:nvSpPr>
        <p:spPr>
          <a:xfrm>
            <a:off x="6096000" y="3807319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</p:spTree>
    <p:extLst>
      <p:ext uri="{BB962C8B-B14F-4D97-AF65-F5344CB8AC3E}">
        <p14:creationId xmlns:p14="http://schemas.microsoft.com/office/powerpoint/2010/main" val="2395708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D09C6FBE-9D75-48BF-C42A-6E39ED978517}"/>
              </a:ext>
            </a:extLst>
          </p:cNvPr>
          <p:cNvSpPr/>
          <p:nvPr/>
        </p:nvSpPr>
        <p:spPr>
          <a:xfrm>
            <a:off x="8773764" y="3207730"/>
            <a:ext cx="237446" cy="184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D559C0-7BA5-7BA3-7991-88FE92F6985E}"/>
              </a:ext>
            </a:extLst>
          </p:cNvPr>
          <p:cNvSpPr/>
          <p:nvPr/>
        </p:nvSpPr>
        <p:spPr>
          <a:xfrm>
            <a:off x="4028921" y="2284412"/>
            <a:ext cx="4982297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9A92FF-932E-7204-6E1B-ADC372951728}"/>
              </a:ext>
            </a:extLst>
          </p:cNvPr>
          <p:cNvSpPr/>
          <p:nvPr/>
        </p:nvSpPr>
        <p:spPr>
          <a:xfrm>
            <a:off x="5229604" y="20997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Governance Layers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BB68683-7AE1-4C22-DB0B-68CB410C7950}"/>
              </a:ext>
            </a:extLst>
          </p:cNvPr>
          <p:cNvSpPr/>
          <p:nvPr/>
        </p:nvSpPr>
        <p:spPr>
          <a:xfrm>
            <a:off x="5847981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Identity &amp; Trust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8AEFC57-5299-7BF2-954C-A15A60632198}"/>
              </a:ext>
            </a:extLst>
          </p:cNvPr>
          <p:cNvSpPr/>
          <p:nvPr/>
        </p:nvSpPr>
        <p:spPr>
          <a:xfrm>
            <a:off x="7429595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 Injection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B277EF-2BCD-7572-3C0B-F3829ECED8EE}"/>
              </a:ext>
            </a:extLst>
          </p:cNvPr>
          <p:cNvSpPr/>
          <p:nvPr/>
        </p:nvSpPr>
        <p:spPr>
          <a:xfrm>
            <a:off x="4266367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Policy Engine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5AB78B-DEA8-01BB-75CC-60343D2DE3B9}"/>
              </a:ext>
            </a:extLst>
          </p:cNvPr>
          <p:cNvSpPr/>
          <p:nvPr/>
        </p:nvSpPr>
        <p:spPr>
          <a:xfrm>
            <a:off x="811982" y="2284411"/>
            <a:ext cx="2854044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8DED82-D37E-2CA9-B8B6-14C77E79F870}"/>
              </a:ext>
            </a:extLst>
          </p:cNvPr>
          <p:cNvSpPr/>
          <p:nvPr/>
        </p:nvSpPr>
        <p:spPr>
          <a:xfrm>
            <a:off x="1210903" y="2099745"/>
            <a:ext cx="2056202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Framework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21B9E34-2525-7477-715C-A94A9F092864}"/>
              </a:ext>
            </a:extLst>
          </p:cNvPr>
          <p:cNvSpPr/>
          <p:nvPr/>
        </p:nvSpPr>
        <p:spPr>
          <a:xfrm>
            <a:off x="5068128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Execution Sandbox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85910-FAAE-B9BC-5504-BD859B072DB3}"/>
              </a:ext>
            </a:extLst>
          </p:cNvPr>
          <p:cNvSpPr/>
          <p:nvPr/>
        </p:nvSpPr>
        <p:spPr>
          <a:xfrm>
            <a:off x="6627846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Audit Log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A45A0-4DC2-9B66-4AC8-0E24961EFEB3}"/>
              </a:ext>
            </a:extLst>
          </p:cNvPr>
          <p:cNvSpPr/>
          <p:nvPr/>
        </p:nvSpPr>
        <p:spPr>
          <a:xfrm>
            <a:off x="1024326" y="2653741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OpenAI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EEFFF0A-9698-34DD-AD36-A33BA15E0A7B}"/>
              </a:ext>
            </a:extLst>
          </p:cNvPr>
          <p:cNvSpPr/>
          <p:nvPr/>
        </p:nvSpPr>
        <p:spPr>
          <a:xfrm>
            <a:off x="2340512" y="2653742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LangChain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11102-2E81-9A03-3E50-0FB0D2507B7A}"/>
              </a:ext>
            </a:extLst>
          </p:cNvPr>
          <p:cNvSpPr/>
          <p:nvPr/>
        </p:nvSpPr>
        <p:spPr>
          <a:xfrm>
            <a:off x="1024326" y="3392394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CrewAI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B7AD7D0-AC7D-3A60-DE81-097E439CC0BD}"/>
              </a:ext>
            </a:extLst>
          </p:cNvPr>
          <p:cNvSpPr/>
          <p:nvPr/>
        </p:nvSpPr>
        <p:spPr>
          <a:xfrm>
            <a:off x="2340512" y="3399767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AutoGen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768D8C-D005-708F-D0B3-75FFA74EC39C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>
            <a:off x="3666026" y="3192980"/>
            <a:ext cx="36289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9BB7F5A3-619C-4929-B9EE-4A61A71FD193}"/>
              </a:ext>
            </a:extLst>
          </p:cNvPr>
          <p:cNvCxnSpPr>
            <a:cxnSpLocks/>
            <a:stCxn id="29" idx="3"/>
            <a:endCxn id="20" idx="2"/>
          </p:cNvCxnSpPr>
          <p:nvPr/>
        </p:nvCxnSpPr>
        <p:spPr>
          <a:xfrm flipV="1">
            <a:off x="9011210" y="2749759"/>
            <a:ext cx="567259" cy="5503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FF3F189-78F8-E2E6-3BB4-7D68189CF0D7}"/>
              </a:ext>
            </a:extLst>
          </p:cNvPr>
          <p:cNvCxnSpPr>
            <a:cxnSpLocks/>
            <a:stCxn id="29" idx="3"/>
            <a:endCxn id="34" idx="2"/>
          </p:cNvCxnSpPr>
          <p:nvPr/>
        </p:nvCxnSpPr>
        <p:spPr>
          <a:xfrm>
            <a:off x="9011210" y="3300062"/>
            <a:ext cx="567259" cy="5244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1FFC1EC-BE44-BACF-7FF6-36B59D23C045}"/>
              </a:ext>
            </a:extLst>
          </p:cNvPr>
          <p:cNvGrpSpPr/>
          <p:nvPr/>
        </p:nvGrpSpPr>
        <p:grpSpPr>
          <a:xfrm>
            <a:off x="9578469" y="2280728"/>
            <a:ext cx="1344168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216307B9-4BD8-168F-42F0-5B3FE0C4D8B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Execute Tool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B6A576D1-C568-D323-02BC-80D25B9907E2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✓Allow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5783BEB-2611-7D95-DFA0-145D65E89C30}"/>
              </a:ext>
            </a:extLst>
          </p:cNvPr>
          <p:cNvGrpSpPr/>
          <p:nvPr/>
        </p:nvGrpSpPr>
        <p:grpSpPr>
          <a:xfrm>
            <a:off x="9578469" y="3355524"/>
            <a:ext cx="1344168" cy="746025"/>
            <a:chOff x="9333303" y="1474489"/>
            <a:chExt cx="1344168" cy="746025"/>
          </a:xfrm>
        </p:grpSpPr>
        <p:sp>
          <p:nvSpPr>
            <p:cNvPr id="34" name="Rectangle: Top Corners Rounded 33">
              <a:extLst>
                <a:ext uri="{FF2B5EF4-FFF2-40B4-BE49-F238E27FC236}">
                  <a16:creationId xmlns:a16="http://schemas.microsoft.com/office/drawing/2014/main" id="{CC177FAA-2FF8-49CA-1C5D-DC1D03EF165E}"/>
                </a:ext>
              </a:extLst>
            </p:cNvPr>
            <p:cNvSpPr/>
            <p:nvPr/>
          </p:nvSpPr>
          <p:spPr>
            <a:xfrm>
              <a:off x="9333303" y="1666525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Block &amp; Log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0E8F2DE-1F77-929B-EE42-882361C60C5D}"/>
                </a:ext>
              </a:extLst>
            </p:cNvPr>
            <p:cNvSpPr/>
            <p:nvPr/>
          </p:nvSpPr>
          <p:spPr>
            <a:xfrm>
              <a:off x="9333303" y="1474489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✗Deny 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67704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F80C86E-58D4-B174-1E73-0A50246E20A4}"/>
              </a:ext>
            </a:extLst>
          </p:cNvPr>
          <p:cNvSpPr/>
          <p:nvPr/>
        </p:nvSpPr>
        <p:spPr>
          <a:xfrm>
            <a:off x="815009" y="1480931"/>
            <a:ext cx="3657600" cy="36576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C98AF7-F22C-249A-306C-516F719A4DD5}"/>
              </a:ext>
            </a:extLst>
          </p:cNvPr>
          <p:cNvSpPr/>
          <p:nvPr/>
        </p:nvSpPr>
        <p:spPr>
          <a:xfrm>
            <a:off x="1272209" y="1938131"/>
            <a:ext cx="2743200" cy="27432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C548FE-C725-F21F-EECE-27D62F1F833A}"/>
              </a:ext>
            </a:extLst>
          </p:cNvPr>
          <p:cNvSpPr/>
          <p:nvPr/>
        </p:nvSpPr>
        <p:spPr>
          <a:xfrm>
            <a:off x="1729409" y="2395331"/>
            <a:ext cx="1828800" cy="1828800"/>
          </a:xfrm>
          <a:prstGeom prst="ellipse">
            <a:avLst/>
          </a:prstGeom>
          <a:solidFill>
            <a:srgbClr val="B0D3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415412-7E1B-2ECC-0786-4A6132CDD673}"/>
              </a:ext>
            </a:extLst>
          </p:cNvPr>
          <p:cNvSpPr/>
          <p:nvPr/>
        </p:nvSpPr>
        <p:spPr>
          <a:xfrm>
            <a:off x="2186609" y="2852531"/>
            <a:ext cx="914400" cy="9144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189114-68FB-4B8E-BF07-F84D9A019160}"/>
              </a:ext>
            </a:extLst>
          </p:cNvPr>
          <p:cNvSpPr/>
          <p:nvPr/>
        </p:nvSpPr>
        <p:spPr>
          <a:xfrm>
            <a:off x="2506649" y="31725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051D7B-1B88-BB29-E835-7E9AD2C81E13}"/>
              </a:ext>
            </a:extLst>
          </p:cNvPr>
          <p:cNvSpPr/>
          <p:nvPr/>
        </p:nvSpPr>
        <p:spPr>
          <a:xfrm>
            <a:off x="2506649" y="38583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17C1FB-B9B0-A544-018A-40F5602ADB75}"/>
              </a:ext>
            </a:extLst>
          </p:cNvPr>
          <p:cNvSpPr/>
          <p:nvPr/>
        </p:nvSpPr>
        <p:spPr>
          <a:xfrm>
            <a:off x="2506649" y="43062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BB3504-9CE8-67D2-DD11-EDFB3DF1A9D2}"/>
              </a:ext>
            </a:extLst>
          </p:cNvPr>
          <p:cNvSpPr/>
          <p:nvPr/>
        </p:nvSpPr>
        <p:spPr>
          <a:xfrm>
            <a:off x="2506649" y="47634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E7B39-0D6E-2F49-E761-6510D66859F7}"/>
              </a:ext>
            </a:extLst>
          </p:cNvPr>
          <p:cNvGrpSpPr/>
          <p:nvPr/>
        </p:nvGrpSpPr>
        <p:grpSpPr>
          <a:xfrm>
            <a:off x="4792648" y="2325322"/>
            <a:ext cx="1818401" cy="746025"/>
            <a:chOff x="9154399" y="2746626"/>
            <a:chExt cx="1344168" cy="746025"/>
          </a:xfrm>
        </p:grpSpPr>
        <p:sp>
          <p:nvSpPr>
            <p:cNvPr id="14" name="Rectangle: Top Corners Rounded 13">
              <a:extLst>
                <a:ext uri="{FF2B5EF4-FFF2-40B4-BE49-F238E27FC236}">
                  <a16:creationId xmlns:a16="http://schemas.microsoft.com/office/drawing/2014/main" id="{147BB980-3222-2816-AA45-8F53BFAB799C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Vetted, can write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C9488A8-8BEB-7C4B-06D7-BBA89E69E3A4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Supervisor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61399A9-7756-5106-74E4-8039284BD6F9}"/>
              </a:ext>
            </a:extLst>
          </p:cNvPr>
          <p:cNvGrpSpPr/>
          <p:nvPr/>
        </p:nvGrpSpPr>
        <p:grpSpPr>
          <a:xfrm>
            <a:off x="4792649" y="1480931"/>
            <a:ext cx="1818401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B9C15A88-3F88-44B9-1AC2-BB1472D41859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Policy engine only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8B1ED5E-7029-8479-1352-ACFBF15B5279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Kernel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13D34C-09BE-AB71-4F6E-A98DED831C08}"/>
              </a:ext>
            </a:extLst>
          </p:cNvPr>
          <p:cNvGrpSpPr/>
          <p:nvPr/>
        </p:nvGrpSpPr>
        <p:grpSpPr>
          <a:xfrm>
            <a:off x="4792648" y="3169714"/>
            <a:ext cx="1818401" cy="746025"/>
            <a:chOff x="9154399" y="2746626"/>
            <a:chExt cx="1344168" cy="746025"/>
          </a:xfrm>
        </p:grpSpPr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52FD50CD-760C-883D-C943-5372574A74F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Standard agent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FF9C8C6-191E-39B7-1611-4972B37E34D0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9062568-FA8E-F589-1C12-98954AC4D417}"/>
              </a:ext>
            </a:extLst>
          </p:cNvPr>
          <p:cNvGrpSpPr/>
          <p:nvPr/>
        </p:nvGrpSpPr>
        <p:grpSpPr>
          <a:xfrm>
            <a:off x="4792647" y="4014105"/>
            <a:ext cx="1818401" cy="746025"/>
            <a:chOff x="9154399" y="2746626"/>
            <a:chExt cx="1344168" cy="746025"/>
          </a:xfrm>
        </p:grpSpPr>
        <p:sp>
          <p:nvSpPr>
            <p:cNvPr id="26" name="Rectangle: Top Corners Rounded 25">
              <a:extLst>
                <a:ext uri="{FF2B5EF4-FFF2-40B4-BE49-F238E27FC236}">
                  <a16:creationId xmlns:a16="http://schemas.microsoft.com/office/drawing/2014/main" id="{7A6B1112-EEBD-21AA-3321-692ED735351E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Sandbox, read-only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B723828-D5F7-AD98-0255-8EF3A2D01ACD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Untrusted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A9A562-A639-0290-4A8F-2191FEFD3543}"/>
              </a:ext>
            </a:extLst>
          </p:cNvPr>
          <p:cNvCxnSpPr>
            <a:cxnSpLocks/>
            <a:stCxn id="21" idx="1"/>
            <a:endCxn id="9" idx="6"/>
          </p:cNvCxnSpPr>
          <p:nvPr/>
        </p:nvCxnSpPr>
        <p:spPr>
          <a:xfrm flipH="1">
            <a:off x="2780969" y="1596344"/>
            <a:ext cx="2011680" cy="17133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979D161-0A00-5FB8-B949-F291626722CB}"/>
              </a:ext>
            </a:extLst>
          </p:cNvPr>
          <p:cNvCxnSpPr>
            <a:cxnSpLocks/>
            <a:stCxn id="15" idx="1"/>
            <a:endCxn id="10" idx="6"/>
          </p:cNvCxnSpPr>
          <p:nvPr/>
        </p:nvCxnSpPr>
        <p:spPr>
          <a:xfrm flipH="1">
            <a:off x="2780969" y="2440735"/>
            <a:ext cx="2011679" cy="155479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3C74887-A269-0023-3251-BF5F26080FE7}"/>
              </a:ext>
            </a:extLst>
          </p:cNvPr>
          <p:cNvCxnSpPr>
            <a:cxnSpLocks/>
            <a:stCxn id="24" idx="1"/>
            <a:endCxn id="11" idx="6"/>
          </p:cNvCxnSpPr>
          <p:nvPr/>
        </p:nvCxnSpPr>
        <p:spPr>
          <a:xfrm flipH="1">
            <a:off x="2780969" y="3285127"/>
            <a:ext cx="2011679" cy="115827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D1CCDD-6A9B-27D0-1997-3B216D317AAC}"/>
              </a:ext>
            </a:extLst>
          </p:cNvPr>
          <p:cNvCxnSpPr>
            <a:cxnSpLocks/>
            <a:stCxn id="27" idx="1"/>
            <a:endCxn id="12" idx="6"/>
          </p:cNvCxnSpPr>
          <p:nvPr/>
        </p:nvCxnSpPr>
        <p:spPr>
          <a:xfrm flipH="1">
            <a:off x="2780969" y="4129518"/>
            <a:ext cx="2011678" cy="77108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9345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DA88F6D7-4C9A-4185-3D36-7EB0922EE2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3470" y="1708181"/>
            <a:ext cx="685800" cy="6858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726C5A85-790B-25A5-93E5-BFC1714EB9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13470" y="3522041"/>
            <a:ext cx="685800" cy="6858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6F2CBAE6-3682-C7A5-095F-B47294275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5557" y="3522041"/>
            <a:ext cx="685800" cy="6858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744DB5A-CC57-F1A8-E429-B66BEEC007AF}"/>
              </a:ext>
            </a:extLst>
          </p:cNvPr>
          <p:cNvSpPr txBox="1"/>
          <p:nvPr/>
        </p:nvSpPr>
        <p:spPr>
          <a:xfrm>
            <a:off x="6659823" y="2473787"/>
            <a:ext cx="99309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Cosmos DB</a:t>
            </a:r>
          </a:p>
          <a:p>
            <a:pPr algn="ctr" defTabSz="914400"/>
            <a:r>
              <a:rPr lang="en-US" sz="1600" dirty="0">
                <a:latin typeface="+mj-lt"/>
              </a:rPr>
              <a:t>(Vector Data)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5D7447-BD22-D2C6-40B9-7995CB109180}"/>
              </a:ext>
            </a:extLst>
          </p:cNvPr>
          <p:cNvSpPr txBox="1"/>
          <p:nvPr/>
        </p:nvSpPr>
        <p:spPr>
          <a:xfrm>
            <a:off x="6475765" y="4207841"/>
            <a:ext cx="136120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AI Search</a:t>
            </a:r>
          </a:p>
          <a:p>
            <a:pPr algn="ctr" defTabSz="914400"/>
            <a:r>
              <a:rPr lang="en-US" sz="1600" dirty="0">
                <a:latin typeface="+mj-lt"/>
              </a:rPr>
              <a:t>(Indexed Content)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88BA5D-AF5C-BD20-022B-994D0191FC68}"/>
              </a:ext>
            </a:extLst>
          </p:cNvPr>
          <p:cNvSpPr txBox="1"/>
          <p:nvPr/>
        </p:nvSpPr>
        <p:spPr>
          <a:xfrm>
            <a:off x="4197584" y="4206755"/>
            <a:ext cx="122174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Storage Account</a:t>
            </a:r>
          </a:p>
          <a:p>
            <a:pPr algn="ctr" defTabSz="914400"/>
            <a:r>
              <a:rPr lang="en-US" sz="1600" dirty="0">
                <a:latin typeface="+mj-lt"/>
              </a:rPr>
              <a:t>(Data Lake)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88F750-AAF4-DA5E-DD5C-8929A68CF8E7}"/>
              </a:ext>
            </a:extLst>
          </p:cNvPr>
          <p:cNvCxnSpPr>
            <a:cxnSpLocks/>
            <a:stCxn id="24" idx="0"/>
            <a:endCxn id="27" idx="2"/>
          </p:cNvCxnSpPr>
          <p:nvPr/>
        </p:nvCxnSpPr>
        <p:spPr>
          <a:xfrm flipH="1" flipV="1">
            <a:off x="7156369" y="2966230"/>
            <a:ext cx="1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Graphic 32">
            <a:extLst>
              <a:ext uri="{FF2B5EF4-FFF2-40B4-BE49-F238E27FC236}">
                <a16:creationId xmlns:a16="http://schemas.microsoft.com/office/drawing/2014/main" id="{8F0C0947-C1EB-B5EF-FD9E-D7EF4D3625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117644" y="3522041"/>
            <a:ext cx="685800" cy="6858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43E140A-36A7-4878-E24B-DCAA226DE6DF}"/>
              </a:ext>
            </a:extLst>
          </p:cNvPr>
          <p:cNvSpPr txBox="1"/>
          <p:nvPr/>
        </p:nvSpPr>
        <p:spPr>
          <a:xfrm>
            <a:off x="1913952" y="4206755"/>
            <a:ext cx="1093184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Data Factory</a:t>
            </a:r>
          </a:p>
          <a:p>
            <a:pPr algn="ctr" defTabSz="914400"/>
            <a:r>
              <a:rPr lang="en-US" sz="1600" dirty="0">
                <a:latin typeface="+mj-lt"/>
              </a:rPr>
              <a:t>(ELT Pipelines)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0B14887-F904-9314-8BE7-8163DAC58D11}"/>
              </a:ext>
            </a:extLst>
          </p:cNvPr>
          <p:cNvCxnSpPr>
            <a:cxnSpLocks/>
            <a:stCxn id="33" idx="3"/>
            <a:endCxn id="26" idx="1"/>
          </p:cNvCxnSpPr>
          <p:nvPr/>
        </p:nvCxnSpPr>
        <p:spPr>
          <a:xfrm>
            <a:off x="2803444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477D93D-D115-B266-EB48-15C4DDE59387}"/>
              </a:ext>
            </a:extLst>
          </p:cNvPr>
          <p:cNvCxnSpPr>
            <a:cxnSpLocks/>
            <a:stCxn id="26" idx="3"/>
            <a:endCxn id="24" idx="1"/>
          </p:cNvCxnSpPr>
          <p:nvPr/>
        </p:nvCxnSpPr>
        <p:spPr>
          <a:xfrm>
            <a:off x="5151357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217BDEA-C10B-A321-428F-0C1826880F36}"/>
              </a:ext>
            </a:extLst>
          </p:cNvPr>
          <p:cNvCxnSpPr>
            <a:cxnSpLocks/>
            <a:stCxn id="24" idx="3"/>
            <a:endCxn id="48" idx="1"/>
          </p:cNvCxnSpPr>
          <p:nvPr/>
        </p:nvCxnSpPr>
        <p:spPr>
          <a:xfrm>
            <a:off x="7499270" y="3864941"/>
            <a:ext cx="149933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158D239-5F5F-C9C7-726D-66FD0BA23F18}"/>
              </a:ext>
            </a:extLst>
          </p:cNvPr>
          <p:cNvCxnSpPr>
            <a:cxnSpLocks/>
          </p:cNvCxnSpPr>
          <p:nvPr/>
        </p:nvCxnSpPr>
        <p:spPr>
          <a:xfrm flipV="1">
            <a:off x="9347120" y="2966230"/>
            <a:ext cx="2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700DCB8-4817-4DCD-4A1A-A83089C25977}"/>
              </a:ext>
            </a:extLst>
          </p:cNvPr>
          <p:cNvSpPr txBox="1"/>
          <p:nvPr/>
        </p:nvSpPr>
        <p:spPr>
          <a:xfrm>
            <a:off x="1884489" y="2473787"/>
            <a:ext cx="1152110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Enterprise Data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381B268-3003-9E19-6433-B1769E5D8438}"/>
              </a:ext>
            </a:extLst>
          </p:cNvPr>
          <p:cNvCxnSpPr>
            <a:cxnSpLocks/>
            <a:stCxn id="39" idx="2"/>
            <a:endCxn id="33" idx="0"/>
          </p:cNvCxnSpPr>
          <p:nvPr/>
        </p:nvCxnSpPr>
        <p:spPr>
          <a:xfrm>
            <a:off x="2460544" y="2720008"/>
            <a:ext cx="0" cy="80203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A blue paper with white text&#10;&#10;AI-generated content may be incorrect.">
            <a:extLst>
              <a:ext uri="{FF2B5EF4-FFF2-40B4-BE49-F238E27FC236}">
                <a16:creationId xmlns:a16="http://schemas.microsoft.com/office/drawing/2014/main" id="{78714A7F-3440-9910-18BB-B2A338E04862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rgbClr val="C03BC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644" y="1708181"/>
            <a:ext cx="685800" cy="685800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AB28493D-0059-A8C8-7A3A-F22A5AB63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04220" y="1787987"/>
            <a:ext cx="685800" cy="6858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13B9753-C103-20D5-C8E5-2E3B09911743}"/>
              </a:ext>
            </a:extLst>
          </p:cNvPr>
          <p:cNvSpPr txBox="1"/>
          <p:nvPr/>
        </p:nvSpPr>
        <p:spPr>
          <a:xfrm>
            <a:off x="8739902" y="2472701"/>
            <a:ext cx="121443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App Service</a:t>
            </a:r>
          </a:p>
          <a:p>
            <a:pPr algn="ctr" defTabSz="914400"/>
            <a:r>
              <a:rPr lang="en-US" sz="1600" dirty="0">
                <a:latin typeface="+mj-lt"/>
              </a:rPr>
              <a:t>(Web Front End)</a:t>
            </a:r>
          </a:p>
        </p:txBody>
      </p:sp>
      <p:pic>
        <p:nvPicPr>
          <p:cNvPr id="48" name="Picture 4">
            <a:extLst>
              <a:ext uri="{FF2B5EF4-FFF2-40B4-BE49-F238E27FC236}">
                <a16:creationId xmlns:a16="http://schemas.microsoft.com/office/drawing/2014/main" id="{846CAA7C-59A7-6ED0-F3C6-FAC25B8BD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998607" y="3551663"/>
            <a:ext cx="685800" cy="626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2812E0E-399D-5F4A-E5DE-C3088B2B364D}"/>
              </a:ext>
            </a:extLst>
          </p:cNvPr>
          <p:cNvSpPr txBox="1"/>
          <p:nvPr/>
        </p:nvSpPr>
        <p:spPr>
          <a:xfrm>
            <a:off x="8687482" y="4206754"/>
            <a:ext cx="1308050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Foundry</a:t>
            </a:r>
          </a:p>
          <a:p>
            <a:pPr algn="ctr" defTabSz="914400"/>
            <a:r>
              <a:rPr lang="en-US" sz="1600" dirty="0">
                <a:latin typeface="+mj-lt"/>
              </a:rPr>
              <a:t>(Model Endpoint)</a:t>
            </a:r>
          </a:p>
        </p:txBody>
      </p:sp>
    </p:spTree>
    <p:extLst>
      <p:ext uri="{BB962C8B-B14F-4D97-AF65-F5344CB8AC3E}">
        <p14:creationId xmlns:p14="http://schemas.microsoft.com/office/powerpoint/2010/main" val="3284386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13445</TotalTime>
  <Words>968</Words>
  <Application>Microsoft Office PowerPoint</Application>
  <PresentationFormat>Widescreen</PresentationFormat>
  <Paragraphs>305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Arial</vt:lpstr>
      <vt:lpstr>Cambria Math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20</cp:revision>
  <dcterms:created xsi:type="dcterms:W3CDTF">2026-01-26T17:17:07Z</dcterms:created>
  <dcterms:modified xsi:type="dcterms:W3CDTF">2026-04-24T15:02:14Z</dcterms:modified>
</cp:coreProperties>
</file>