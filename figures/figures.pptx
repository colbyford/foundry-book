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58" r:id="rId2"/>
    <p:sldId id="256" r:id="rId3"/>
    <p:sldId id="263" r:id="rId4"/>
    <p:sldId id="260" r:id="rId5"/>
    <p:sldId id="259" r:id="rId6"/>
    <p:sldId id="261" r:id="rId7"/>
    <p:sldId id="268" r:id="rId8"/>
    <p:sldId id="275" r:id="rId9"/>
    <p:sldId id="262" r:id="rId10"/>
    <p:sldId id="279" r:id="rId11"/>
    <p:sldId id="278" r:id="rId12"/>
    <p:sldId id="277" r:id="rId13"/>
    <p:sldId id="264" r:id="rId14"/>
    <p:sldId id="265" r:id="rId15"/>
    <p:sldId id="267" r:id="rId16"/>
    <p:sldId id="269" r:id="rId17"/>
    <p:sldId id="274" r:id="rId18"/>
    <p:sldId id="270" r:id="rId19"/>
    <p:sldId id="271" r:id="rId20"/>
    <p:sldId id="272" r:id="rId21"/>
    <p:sldId id="273" r:id="rId22"/>
    <p:sldId id="25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8037C5F-3BC8-4326-882B-11E8D97D6574}">
          <p14:sldIdLst>
            <p14:sldId id="258"/>
          </p14:sldIdLst>
        </p14:section>
        <p14:section name="Introduction" id="{33616E34-919B-4477-A71B-4790522F5760}">
          <p14:sldIdLst>
            <p14:sldId id="256"/>
            <p14:sldId id="263"/>
          </p14:sldIdLst>
        </p14:section>
        <p14:section name="Model Deployment" id="{4FFEF0E2-5833-4089-8860-99F4B2E194C0}">
          <p14:sldIdLst>
            <p14:sldId id="260"/>
            <p14:sldId id="259"/>
          </p14:sldIdLst>
        </p14:section>
        <p14:section name="Agent Deployment" id="{D332562B-3ADB-4CCE-A1B8-55DF9B490E3B}">
          <p14:sldIdLst>
            <p14:sldId id="261"/>
            <p14:sldId id="268"/>
            <p14:sldId id="275"/>
          </p14:sldIdLst>
        </p14:section>
        <p14:section name="Knowledge Bases" id="{06E034E2-AFC7-4A28-B1B0-B4E2903C9A55}">
          <p14:sldIdLst>
            <p14:sldId id="262"/>
            <p14:sldId id="279"/>
            <p14:sldId id="278"/>
            <p14:sldId id="277"/>
            <p14:sldId id="264"/>
          </p14:sldIdLst>
        </p14:section>
        <p14:section name="Fine-Tuning" id="{0654DAA0-6DAF-4D93-901D-DE1F25DE20A5}">
          <p14:sldIdLst>
            <p14:sldId id="265"/>
            <p14:sldId id="267"/>
          </p14:sldIdLst>
        </p14:section>
        <p14:section name="Governance" id="{038CE4AA-62CD-47A2-8E40-F6F0DFCCB854}">
          <p14:sldIdLst>
            <p14:sldId id="269"/>
            <p14:sldId id="274"/>
            <p14:sldId id="270"/>
            <p14:sldId id="271"/>
            <p14:sldId id="272"/>
            <p14:sldId id="273"/>
          </p14:sldIdLst>
        </p14:section>
        <p14:section name="Examples" id="{2CEADF37-2C1D-4DE6-BB08-5D838E707A1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D4EB"/>
    <a:srgbClr val="B0D3EA"/>
    <a:srgbClr val="E5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2044" autoAdjust="0"/>
  </p:normalViewPr>
  <p:slideViewPr>
    <p:cSldViewPr snapToGrid="0">
      <p:cViewPr>
        <p:scale>
          <a:sx n="125" d="100"/>
          <a:sy n="125" d="100"/>
        </p:scale>
        <p:origin x="852" y="-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BB0E5-6D8D-4DEE-B75F-67010CF2307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549D2C-39EA-4769-BF7E-31FE52D82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i-services/multi-service-resource?toc=%2Fazure%2Fai-foundry%2Ftoc.json&amp;bc=%2Fazure%2Fai-foundry%2Fbreadcrumb%2Ftoc.json&amp;view=foundry-classic&amp;preserve-view=true&amp;pivots=azportal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Create a Foundry resource - Foundry Tools | Microsoft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5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Text:</a:t>
            </a:r>
          </a:p>
          <a:p>
            <a:endParaRPr lang="en-US" dirty="0"/>
          </a:p>
          <a:p>
            <a:r>
              <a:rPr lang="en-US" dirty="0"/>
              <a:t>colby@TUPLE-01:~$ </a:t>
            </a:r>
            <a:r>
              <a:rPr lang="en-US" dirty="0" err="1"/>
              <a:t>az</a:t>
            </a:r>
            <a:r>
              <a:rPr lang="en-US" dirty="0"/>
              <a:t> login</a:t>
            </a:r>
          </a:p>
          <a:p>
            <a:endParaRPr lang="en-US" dirty="0"/>
          </a:p>
          <a:p>
            <a:r>
              <a:rPr lang="en-US" dirty="0"/>
              <a:t>Retrieving tenants and subscriptions for the selection...</a:t>
            </a:r>
          </a:p>
          <a:p>
            <a:endParaRPr lang="en-US" dirty="0"/>
          </a:p>
          <a:p>
            <a:r>
              <a:rPr lang="en-US" dirty="0"/>
              <a:t>[Tenant and subscription selection]</a:t>
            </a:r>
          </a:p>
          <a:p>
            <a:endParaRPr lang="en-US" dirty="0"/>
          </a:p>
          <a:p>
            <a:r>
              <a:rPr lang="en-US" dirty="0"/>
              <a:t>No     Subscription name            Subscription ID                       Tenant</a:t>
            </a:r>
          </a:p>
          <a:p>
            <a:r>
              <a:rPr lang="en-US" dirty="0"/>
              <a:t>-----  ---------------------------  ------------------------------------  ----------------------</a:t>
            </a:r>
          </a:p>
          <a:p>
            <a:r>
              <a:rPr lang="en-US" dirty="0"/>
              <a:t>[1]    abc-prod-001                 d3c301c7-a8a5-417a-999b-71c166ab9ea1  Acme Inc Default Directory</a:t>
            </a:r>
          </a:p>
          <a:p>
            <a:r>
              <a:rPr lang="en-US" dirty="0"/>
              <a:t>[2]    abc-dev-001                  6283eb64-e04b-4c65-8360-e29ddf7ced32  Acme Inc Default Directory</a:t>
            </a:r>
          </a:p>
          <a:p>
            <a:r>
              <a:rPr lang="en-US" dirty="0"/>
              <a:t>[3]    </a:t>
            </a:r>
            <a:r>
              <a:rPr lang="en-US" dirty="0" err="1"/>
              <a:t>dev_subscription</a:t>
            </a:r>
            <a:r>
              <a:rPr lang="en-US" dirty="0"/>
              <a:t>             21f436e1-bf10-4e17-9482-701611ba96e3  &lt;Tuple&gt;</a:t>
            </a:r>
          </a:p>
          <a:p>
            <a:r>
              <a:rPr lang="en-US" dirty="0"/>
              <a:t>[4]    Microsoft Azure Sponsorship  716f8ad9-4f2d-48da-a905-eb77071da449  &lt;Tuple&gt;</a:t>
            </a:r>
          </a:p>
          <a:p>
            <a:r>
              <a:rPr lang="en-US" dirty="0"/>
              <a:t>[5] *  Microsoft Azure Sponsorship  bedf96c9-5241-45cc-b696-dcc91ebc089a  &lt;Tuple&gt;</a:t>
            </a:r>
          </a:p>
          <a:p>
            <a:endParaRPr lang="en-US" dirty="0"/>
          </a:p>
          <a:p>
            <a:r>
              <a:rPr lang="en-US" dirty="0"/>
              <a:t>The default is marked with an *; the default tenant is '&lt;Tuple&gt;' and subscription is 'Microsoft Azure Sponsorship' (bedf96c9-5241-45cc-b696-dcc91ebc089a).</a:t>
            </a:r>
          </a:p>
          <a:p>
            <a:endParaRPr lang="en-US" dirty="0"/>
          </a:p>
          <a:p>
            <a:r>
              <a:rPr lang="en-US" dirty="0"/>
              <a:t>Select a subscription and tenant (Type a number or Enter for no changes):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69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9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6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0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70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24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59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1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5C40-2055-49AF-9028-5DA79E75E39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9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hyperlink" Target="https://learn.microsoft.com/en-us/azure/ai-foundry/?view=foundry-classic" TargetMode="External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svg"/><Relationship Id="rId2" Type="http://schemas.openxmlformats.org/officeDocument/2006/relationships/image" Target="../media/image12.png"/><Relationship Id="rId16" Type="http://schemas.openxmlformats.org/officeDocument/2006/relationships/image" Target="../media/image2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Relationship Id="rId14" Type="http://schemas.openxmlformats.org/officeDocument/2006/relationships/image" Target="../media/image24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svg"/><Relationship Id="rId4" Type="http://schemas.openxmlformats.org/officeDocument/2006/relationships/image" Target="../media/image29.png"/><Relationship Id="rId9" Type="http://schemas.openxmlformats.org/officeDocument/2006/relationships/image" Target="../media/image3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41.svg"/><Relationship Id="rId7" Type="http://schemas.openxmlformats.org/officeDocument/2006/relationships/image" Target="../media/image28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43.svg"/><Relationship Id="rId4" Type="http://schemas.openxmlformats.org/officeDocument/2006/relationships/image" Target="../media/image42.png"/><Relationship Id="rId9" Type="http://schemas.openxmlformats.org/officeDocument/2006/relationships/image" Target="../media/image32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oreillymedia.github.io/production-resources/illustrations/" TargetMode="Externa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6990-D6F8-D6D2-CC22-6BD94E95B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Agentic Solutions with Microsoft Foundry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07718-4A92-1A92-1E11-DEFC8507A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Illustration Figures</a:t>
            </a:r>
          </a:p>
        </p:txBody>
      </p:sp>
    </p:spTree>
    <p:extLst>
      <p:ext uri="{BB962C8B-B14F-4D97-AF65-F5344CB8AC3E}">
        <p14:creationId xmlns:p14="http://schemas.microsoft.com/office/powerpoint/2010/main" val="388624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agram showing Foundry resource containing multiple projects, each with deployments and connections.">
            <a:extLst>
              <a:ext uri="{FF2B5EF4-FFF2-40B4-BE49-F238E27FC236}">
                <a16:creationId xmlns:a16="http://schemas.microsoft.com/office/drawing/2014/main" id="{12EEA84E-8776-00EF-5D97-05E8737B6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7866" y="3166424"/>
            <a:ext cx="55245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39DD77-409D-94ED-8A62-6F53CBB88ADD}"/>
              </a:ext>
            </a:extLst>
          </p:cNvPr>
          <p:cNvSpPr/>
          <p:nvPr/>
        </p:nvSpPr>
        <p:spPr>
          <a:xfrm>
            <a:off x="962568" y="732317"/>
            <a:ext cx="4456090" cy="2434107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Resource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AF0893-8AEC-1DBB-B036-2949BA0795A0}"/>
              </a:ext>
            </a:extLst>
          </p:cNvPr>
          <p:cNvSpPr/>
          <p:nvPr/>
        </p:nvSpPr>
        <p:spPr>
          <a:xfrm>
            <a:off x="2410311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E630FB-2D59-D6DB-B847-29F7E0317AFA}"/>
              </a:ext>
            </a:extLst>
          </p:cNvPr>
          <p:cNvSpPr/>
          <p:nvPr/>
        </p:nvSpPr>
        <p:spPr>
          <a:xfrm>
            <a:off x="1183452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103F9-368F-E4D0-C17C-BF0F1C74D31A}"/>
              </a:ext>
            </a:extLst>
          </p:cNvPr>
          <p:cNvSpPr/>
          <p:nvPr/>
        </p:nvSpPr>
        <p:spPr>
          <a:xfrm>
            <a:off x="4117733" y="1494888"/>
            <a:ext cx="1080042" cy="69452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2B776-2029-F35D-E69F-FB22F1454014}"/>
              </a:ext>
            </a:extLst>
          </p:cNvPr>
          <p:cNvSpPr txBox="1"/>
          <p:nvPr/>
        </p:nvSpPr>
        <p:spPr>
          <a:xfrm>
            <a:off x="3637170" y="1657482"/>
            <a:ext cx="33374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CF4078-AF58-188A-DF99-E08A01A42DFE}"/>
              </a:ext>
            </a:extLst>
          </p:cNvPr>
          <p:cNvSpPr/>
          <p:nvPr/>
        </p:nvSpPr>
        <p:spPr>
          <a:xfrm>
            <a:off x="1183452" y="2534516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 + Governance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C89E23-8123-0234-D0F1-F39C80D61B78}"/>
              </a:ext>
            </a:extLst>
          </p:cNvPr>
          <p:cNvCxnSpPr>
            <a:stCxn id="8" idx="3"/>
          </p:cNvCxnSpPr>
          <p:nvPr/>
        </p:nvCxnSpPr>
        <p:spPr>
          <a:xfrm>
            <a:off x="5197775" y="1842148"/>
            <a:ext cx="59127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373EA2-E891-EE8A-A28C-9322032A5F17}"/>
              </a:ext>
            </a:extLst>
          </p:cNvPr>
          <p:cNvSpPr txBox="1"/>
          <p:nvPr/>
        </p:nvSpPr>
        <p:spPr>
          <a:xfrm>
            <a:off x="5825155" y="1518982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Configure Identities, RBAC, Monitoring,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1F8B3-1DDB-194B-0435-0F2F79CBA773}"/>
              </a:ext>
            </a:extLst>
          </p:cNvPr>
          <p:cNvSpPr txBox="1"/>
          <p:nvPr/>
        </p:nvSpPr>
        <p:spPr>
          <a:xfrm>
            <a:off x="2183860" y="3429000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Connect to Tools and Knowledge bases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3FAC2D-AAEE-099D-6EBF-C4AE11D1CF5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190613" y="2903848"/>
            <a:ext cx="1" cy="52515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807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373B790-295F-D9C9-ECAF-274F835713B8}"/>
              </a:ext>
            </a:extLst>
          </p:cNvPr>
          <p:cNvSpPr/>
          <p:nvPr/>
        </p:nvSpPr>
        <p:spPr>
          <a:xfrm>
            <a:off x="1683600" y="1280957"/>
            <a:ext cx="8633879" cy="32986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807674-F982-3E42-18FF-10D7E9818E10}"/>
              </a:ext>
            </a:extLst>
          </p:cNvPr>
          <p:cNvSpPr/>
          <p:nvPr/>
        </p:nvSpPr>
        <p:spPr>
          <a:xfrm>
            <a:off x="3993377" y="4394954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Security, Compliance, and Governance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04FE7B-F946-B4E5-5540-DCBF24C5EE02}"/>
              </a:ext>
            </a:extLst>
          </p:cNvPr>
          <p:cNvSpPr/>
          <p:nvPr/>
        </p:nvSpPr>
        <p:spPr>
          <a:xfrm>
            <a:off x="2120712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CD72E2D-BA5E-4BD0-251B-D709E59BA6AA}"/>
              </a:ext>
            </a:extLst>
          </p:cNvPr>
          <p:cNvSpPr/>
          <p:nvPr/>
        </p:nvSpPr>
        <p:spPr>
          <a:xfrm>
            <a:off x="5547360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IQ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00E6D5-7A21-352C-E165-8534FCB5922A}"/>
              </a:ext>
            </a:extLst>
          </p:cNvPr>
          <p:cNvSpPr/>
          <p:nvPr/>
        </p:nvSpPr>
        <p:spPr>
          <a:xfrm>
            <a:off x="3834036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FF2ADF-7ABC-2B4F-15DA-147A653CA05E}"/>
              </a:ext>
            </a:extLst>
          </p:cNvPr>
          <p:cNvSpPr/>
          <p:nvPr/>
        </p:nvSpPr>
        <p:spPr>
          <a:xfrm>
            <a:off x="7260684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11A12B-43CF-B03D-9C15-EC0C073F267F}"/>
              </a:ext>
            </a:extLst>
          </p:cNvPr>
          <p:cNvSpPr/>
          <p:nvPr/>
        </p:nvSpPr>
        <p:spPr>
          <a:xfrm>
            <a:off x="8974008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9E82D6B-67A5-FB5E-86C8-E494906EBA72}"/>
              </a:ext>
            </a:extLst>
          </p:cNvPr>
          <p:cNvSpPr/>
          <p:nvPr/>
        </p:nvSpPr>
        <p:spPr>
          <a:xfrm>
            <a:off x="2120712" y="3075483"/>
            <a:ext cx="7950576" cy="52173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 Plane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A0002D-68DE-F2E3-7AE8-155E2AE2F385}"/>
              </a:ext>
            </a:extLst>
          </p:cNvPr>
          <p:cNvSpPr/>
          <p:nvPr/>
        </p:nvSpPr>
        <p:spPr>
          <a:xfrm>
            <a:off x="2120712" y="3903751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75A5F02-D45E-7075-0A8E-DE47614A9350}"/>
              </a:ext>
            </a:extLst>
          </p:cNvPr>
          <p:cNvSpPr/>
          <p:nvPr/>
        </p:nvSpPr>
        <p:spPr>
          <a:xfrm>
            <a:off x="8974008" y="3900228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Edge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9E589C-158C-8464-335B-8E038EB59CA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3217992" y="4084894"/>
            <a:ext cx="5756016" cy="352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8D6EF364-A0CD-1E0B-E3D9-D7610B0BA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6452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84812A5-BC6A-1A0C-EC5F-293C5EE93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5C2BE62-4319-90A2-F77A-43FBCCB45A92}"/>
              </a:ext>
            </a:extLst>
          </p:cNvPr>
          <p:cNvSpPr txBox="1"/>
          <p:nvPr/>
        </p:nvSpPr>
        <p:spPr>
          <a:xfrm>
            <a:off x="169992" y="63741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Microsoft Foundry documentation | Microsoft Learn</a:t>
            </a:r>
            <a:endParaRPr lang="en-US" dirty="0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2C06DA4A-A0CA-3F11-FBF2-7675DC892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748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BBE57FCA-085E-B37C-A718-A5115481F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424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DCAAB39-A56E-0DEE-C6B4-7E5D07F0EE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05387" y="3107749"/>
            <a:ext cx="457200" cy="4572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F45F68D-2016-AE28-5FB4-29299FA7298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039776" y="1698160"/>
            <a:ext cx="685800" cy="6858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20717FD-C295-A74B-1DD9-B84C288BFAF5}"/>
              </a:ext>
            </a:extLst>
          </p:cNvPr>
          <p:cNvGrpSpPr/>
          <p:nvPr/>
        </p:nvGrpSpPr>
        <p:grpSpPr>
          <a:xfrm>
            <a:off x="4468860" y="550330"/>
            <a:ext cx="3254280" cy="685800"/>
            <a:chOff x="4558421" y="553105"/>
            <a:chExt cx="3254280" cy="68580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37A2444-6EF1-C6ED-5009-47471D8E1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8421" y="553105"/>
              <a:ext cx="750646" cy="6858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155-53E9-CC0C-9CB8-93574EE705D4}"/>
                </a:ext>
              </a:extLst>
            </p:cNvPr>
            <p:cNvSpPr txBox="1"/>
            <p:nvPr/>
          </p:nvSpPr>
          <p:spPr>
            <a:xfrm>
              <a:off x="5309067" y="634395"/>
              <a:ext cx="25036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Microsoft Foundry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902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D732446-F0F6-0ACF-647A-3BC33E7C3D60}"/>
              </a:ext>
            </a:extLst>
          </p:cNvPr>
          <p:cNvSpPr/>
          <p:nvPr/>
        </p:nvSpPr>
        <p:spPr>
          <a:xfrm>
            <a:off x="962567" y="281940"/>
            <a:ext cx="10552099" cy="618743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Example Models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74ED1F-143F-F0C3-860B-D1D1A94B8038}"/>
              </a:ext>
            </a:extLst>
          </p:cNvPr>
          <p:cNvSpPr/>
          <p:nvPr/>
        </p:nvSpPr>
        <p:spPr>
          <a:xfrm>
            <a:off x="4778916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Anthropic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B92B3E5-A0FB-4F52-03FE-A3994B4A676E}"/>
              </a:ext>
            </a:extLst>
          </p:cNvPr>
          <p:cNvSpPr/>
          <p:nvPr/>
        </p:nvSpPr>
        <p:spPr>
          <a:xfrm>
            <a:off x="1553658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Azure OpenAI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E8A258-9DE7-F4AF-1449-211286E0D11E}"/>
              </a:ext>
            </a:extLst>
          </p:cNvPr>
          <p:cNvSpPr/>
          <p:nvPr/>
        </p:nvSpPr>
        <p:spPr>
          <a:xfrm>
            <a:off x="8004174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7ADCD0-E7DE-9B18-898C-7D55B783F694}"/>
              </a:ext>
            </a:extLst>
          </p:cNvPr>
          <p:cNvSpPr/>
          <p:nvPr/>
        </p:nvSpPr>
        <p:spPr>
          <a:xfrm>
            <a:off x="4778916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Mistral AI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5125DD-7A11-66B1-DDF5-ECD5D6C1F69B}"/>
              </a:ext>
            </a:extLst>
          </p:cNvPr>
          <p:cNvSpPr/>
          <p:nvPr/>
        </p:nvSpPr>
        <p:spPr>
          <a:xfrm>
            <a:off x="1553658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8433B6-E222-52DE-3420-6BC81E4D9945}"/>
              </a:ext>
            </a:extLst>
          </p:cNvPr>
          <p:cNvSpPr/>
          <p:nvPr/>
        </p:nvSpPr>
        <p:spPr>
          <a:xfrm>
            <a:off x="8004174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DeepSeek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E5EA1C-587E-4A45-E606-F67DF515B407}"/>
              </a:ext>
            </a:extLst>
          </p:cNvPr>
          <p:cNvSpPr/>
          <p:nvPr/>
        </p:nvSpPr>
        <p:spPr>
          <a:xfrm>
            <a:off x="1790700" y="1882140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gpt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1D9861-1EDA-793B-0AA0-18BFA52ACCE4}"/>
              </a:ext>
            </a:extLst>
          </p:cNvPr>
          <p:cNvSpPr/>
          <p:nvPr/>
        </p:nvSpPr>
        <p:spPr>
          <a:xfrm>
            <a:off x="1790700" y="2380687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6BFDC7A-CED3-C375-66E6-683B9E52EDD1}"/>
              </a:ext>
            </a:extLst>
          </p:cNvPr>
          <p:cNvSpPr/>
          <p:nvPr/>
        </p:nvSpPr>
        <p:spPr>
          <a:xfrm>
            <a:off x="1790700" y="2879234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sora</a:t>
            </a:r>
          </a:p>
        </p:txBody>
      </p:sp>
    </p:spTree>
    <p:extLst>
      <p:ext uri="{BB962C8B-B14F-4D97-AF65-F5344CB8AC3E}">
        <p14:creationId xmlns:p14="http://schemas.microsoft.com/office/powerpoint/2010/main" val="2145715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409C35-8811-C77F-54C2-0BC7A96CBEB6}"/>
              </a:ext>
            </a:extLst>
          </p:cNvPr>
          <p:cNvSpPr txBox="1"/>
          <p:nvPr/>
        </p:nvSpPr>
        <p:spPr>
          <a:xfrm>
            <a:off x="563218" y="54309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https://carbon.now.sh/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291CA3-97E0-03B5-F1F6-61568AF37352}"/>
              </a:ext>
            </a:extLst>
          </p:cNvPr>
          <p:cNvSpPr txBox="1"/>
          <p:nvPr/>
        </p:nvSpPr>
        <p:spPr>
          <a:xfrm>
            <a:off x="563218" y="5990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Theme: One Light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8CB0BC-0057-D455-D8D7-560FEF81B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917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22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50F46-8669-8B2D-7690-E25DD2E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41B2C3-3E54-CFD6-A752-0AC425AFFCA6}"/>
              </a:ext>
            </a:extLst>
          </p:cNvPr>
          <p:cNvSpPr/>
          <p:nvPr/>
        </p:nvSpPr>
        <p:spPr>
          <a:xfrm>
            <a:off x="8482515" y="2718435"/>
            <a:ext cx="247650" cy="247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4DF503-3BC6-84E0-6FFB-3B32B203E1CB}"/>
              </a:ext>
            </a:extLst>
          </p:cNvPr>
          <p:cNvSpPr/>
          <p:nvPr/>
        </p:nvSpPr>
        <p:spPr>
          <a:xfrm>
            <a:off x="819950" y="617219"/>
            <a:ext cx="10552099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Host (AI Application)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675B45-9C5A-DB3C-5478-881C7B1BD00F}"/>
              </a:ext>
            </a:extLst>
          </p:cNvPr>
          <p:cNvSpPr/>
          <p:nvPr/>
        </p:nvSpPr>
        <p:spPr>
          <a:xfrm>
            <a:off x="1553658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726389-504C-D4C8-91C7-AF40D8E5E559}"/>
              </a:ext>
            </a:extLst>
          </p:cNvPr>
          <p:cNvSpPr/>
          <p:nvPr/>
        </p:nvSpPr>
        <p:spPr>
          <a:xfrm>
            <a:off x="4778915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FC3ABB-2BFB-C405-42FE-2ED02F4EA5C4}"/>
              </a:ext>
            </a:extLst>
          </p:cNvPr>
          <p:cNvSpPr/>
          <p:nvPr/>
        </p:nvSpPr>
        <p:spPr>
          <a:xfrm>
            <a:off x="8004174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F4543D6-02D0-038C-12A8-DB37F7A273CE}"/>
              </a:ext>
            </a:extLst>
          </p:cNvPr>
          <p:cNvSpPr/>
          <p:nvPr/>
        </p:nvSpPr>
        <p:spPr>
          <a:xfrm>
            <a:off x="1553658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A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Local Filesystem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8DD490-0572-9417-BBD7-3FF5F8A9E3D8}"/>
              </a:ext>
            </a:extLst>
          </p:cNvPr>
          <p:cNvSpPr/>
          <p:nvPr/>
        </p:nvSpPr>
        <p:spPr>
          <a:xfrm>
            <a:off x="4778915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B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Database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4622E36-7A33-D496-1202-F85F8B8E5A75}"/>
              </a:ext>
            </a:extLst>
          </p:cNvPr>
          <p:cNvSpPr/>
          <p:nvPr/>
        </p:nvSpPr>
        <p:spPr>
          <a:xfrm>
            <a:off x="8004172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C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API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059445-29E0-0BB8-E8BA-0013ADBA930C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2870742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7BB8C0-5CB6-3A94-820B-418CFFCE9D38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6095999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EBFCBE-6607-A910-FF7B-C1762F4684EF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 flipH="1">
            <a:off x="9321256" y="1714501"/>
            <a:ext cx="2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E37A76D-0F39-82E2-974B-B04FAACABE32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 rot="16200000" flipH="1">
            <a:off x="6849202" y="961297"/>
            <a:ext cx="1003934" cy="2510341"/>
          </a:xfrm>
          <a:prstGeom prst="bentConnector3">
            <a:avLst>
              <a:gd name="adj1" fmla="val 61385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that shows an agent receiving user inputs on the left, processing them through the model and instructions in the center, and producing outputs on the right. A bidirectional arrow below the agent connects to tools, indicating the agent can call tools during processing to retrieve knowledge or take actions.">
            <a:extLst>
              <a:ext uri="{FF2B5EF4-FFF2-40B4-BE49-F238E27FC236}">
                <a16:creationId xmlns:a16="http://schemas.microsoft.com/office/drawing/2014/main" id="{84BAA02D-198C-8FEB-DDC7-5BF0DBB7B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956686" y="3748932"/>
            <a:ext cx="7589520" cy="315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D0B5B93-017C-38BF-D1E2-3FC17585D737}"/>
              </a:ext>
            </a:extLst>
          </p:cNvPr>
          <p:cNvSpPr/>
          <p:nvPr/>
        </p:nvSpPr>
        <p:spPr>
          <a:xfrm>
            <a:off x="5189220" y="609599"/>
            <a:ext cx="181356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66B249-41E8-70FF-C1BD-2C614E44E77F}"/>
              </a:ext>
            </a:extLst>
          </p:cNvPr>
          <p:cNvSpPr/>
          <p:nvPr/>
        </p:nvSpPr>
        <p:spPr>
          <a:xfrm>
            <a:off x="4272280" y="2855243"/>
            <a:ext cx="3642358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Calls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166577C-6B48-5754-383D-478B8B3FA9BD}"/>
              </a:ext>
            </a:extLst>
          </p:cNvPr>
          <p:cNvSpPr/>
          <p:nvPr/>
        </p:nvSpPr>
        <p:spPr>
          <a:xfrm>
            <a:off x="7795258" y="626664"/>
            <a:ext cx="3383280" cy="177363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BC9BDF-2C43-4EC0-746F-536C87A558E6}"/>
              </a:ext>
            </a:extLst>
          </p:cNvPr>
          <p:cNvSpPr/>
          <p:nvPr/>
        </p:nvSpPr>
        <p:spPr>
          <a:xfrm>
            <a:off x="823808" y="609599"/>
            <a:ext cx="338328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637FF2-78C8-02A4-8845-916F66F7364D}"/>
              </a:ext>
            </a:extLst>
          </p:cNvPr>
          <p:cNvSpPr/>
          <p:nvPr/>
        </p:nvSpPr>
        <p:spPr>
          <a:xfrm>
            <a:off x="5425880" y="1469801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Instructions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E14E21-FA90-20E0-BD54-1EB35C39B056}"/>
              </a:ext>
            </a:extLst>
          </p:cNvPr>
          <p:cNvSpPr/>
          <p:nvPr/>
        </p:nvSpPr>
        <p:spPr>
          <a:xfrm>
            <a:off x="5425881" y="1039700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C76365-E8A1-1FA2-FBB8-3991FB9D1D13}"/>
              </a:ext>
            </a:extLst>
          </p:cNvPr>
          <p:cNvSpPr/>
          <p:nvPr/>
        </p:nvSpPr>
        <p:spPr>
          <a:xfrm>
            <a:off x="5425879" y="1899902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pic>
        <p:nvPicPr>
          <p:cNvPr id="10" name="Graphic 9" descr="Brain with solid fill">
            <a:extLst>
              <a:ext uri="{FF2B5EF4-FFF2-40B4-BE49-F238E27FC236}">
                <a16:creationId xmlns:a16="http://schemas.microsoft.com/office/drawing/2014/main" id="{F81D149A-46A0-A0F2-40BC-1E0C0F7C34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96099" y="3296865"/>
            <a:ext cx="457200" cy="457200"/>
          </a:xfrm>
          <a:prstGeom prst="rect">
            <a:avLst/>
          </a:prstGeom>
        </p:spPr>
      </p:pic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30E2C5E-3E11-DAAD-16E3-271D6A0A4F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64859" y="3293392"/>
            <a:ext cx="457200" cy="457200"/>
          </a:xfrm>
          <a:prstGeom prst="rect">
            <a:avLst/>
          </a:prstGeom>
        </p:spPr>
      </p:pic>
      <p:pic>
        <p:nvPicPr>
          <p:cNvPr id="14" name="Graphic 13" descr="Magnifying glass with solid fill">
            <a:extLst>
              <a:ext uri="{FF2B5EF4-FFF2-40B4-BE49-F238E27FC236}">
                <a16:creationId xmlns:a16="http://schemas.microsoft.com/office/drawing/2014/main" id="{E1C69C60-7208-0B12-1452-1A5E8DB2B0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33619" y="3291732"/>
            <a:ext cx="457200" cy="457200"/>
          </a:xfrm>
          <a:prstGeom prst="rect">
            <a:avLst/>
          </a:prstGeom>
        </p:spPr>
      </p:pic>
      <p:pic>
        <p:nvPicPr>
          <p:cNvPr id="16" name="Graphic 15" descr="Table with solid fill">
            <a:extLst>
              <a:ext uri="{FF2B5EF4-FFF2-40B4-BE49-F238E27FC236}">
                <a16:creationId xmlns:a16="http://schemas.microsoft.com/office/drawing/2014/main" id="{B5676005-E079-2A3B-089C-6566A8AAC60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951350" y="1113916"/>
            <a:ext cx="457200" cy="457200"/>
          </a:xfrm>
          <a:prstGeom prst="rect">
            <a:avLst/>
          </a:prstGeom>
        </p:spPr>
      </p:pic>
      <p:pic>
        <p:nvPicPr>
          <p:cNvPr id="18" name="Graphic 17" descr="Chat bubble with solid fill">
            <a:extLst>
              <a:ext uri="{FF2B5EF4-FFF2-40B4-BE49-F238E27FC236}">
                <a16:creationId xmlns:a16="http://schemas.microsoft.com/office/drawing/2014/main" id="{3C989B8B-DED4-B55D-CC71-F1E215EF7EA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71197" y="1123949"/>
            <a:ext cx="457200" cy="457200"/>
          </a:xfrm>
          <a:prstGeom prst="rect">
            <a:avLst/>
          </a:prstGeom>
        </p:spPr>
      </p:pic>
      <p:pic>
        <p:nvPicPr>
          <p:cNvPr id="20" name="Graphic 19" descr="Speech with solid fill">
            <a:extLst>
              <a:ext uri="{FF2B5EF4-FFF2-40B4-BE49-F238E27FC236}">
                <a16:creationId xmlns:a16="http://schemas.microsoft.com/office/drawing/2014/main" id="{8F949B6B-BC5B-F17A-DDE0-890881F6E6F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02499" y="1141015"/>
            <a:ext cx="457200" cy="457200"/>
          </a:xfrm>
          <a:prstGeom prst="rect">
            <a:avLst/>
          </a:prstGeom>
        </p:spPr>
      </p:pic>
      <p:pic>
        <p:nvPicPr>
          <p:cNvPr id="22" name="Graphic 21" descr="Ringer with solid fill">
            <a:extLst>
              <a:ext uri="{FF2B5EF4-FFF2-40B4-BE49-F238E27FC236}">
                <a16:creationId xmlns:a16="http://schemas.microsoft.com/office/drawing/2014/main" id="{31B1C6DC-A0E0-5DD4-461A-CD4ED368BA0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286848" y="1123949"/>
            <a:ext cx="457200" cy="4572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FBB3EA1-6050-7099-569B-D76BD8F8006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4207088" y="1504950"/>
            <a:ext cx="982132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8013E43-9914-71DD-8256-A57FB83385BD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7002780" y="1504950"/>
            <a:ext cx="792478" cy="853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47803182-198F-F147-4FA2-48DE67FF9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560230"/>
              </p:ext>
            </p:extLst>
          </p:nvPr>
        </p:nvGraphicFramePr>
        <p:xfrm>
          <a:off x="916517" y="1571116"/>
          <a:ext cx="3197862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User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System Events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3CEFDE5-BB13-7FE2-5227-4B42AA1FC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369039"/>
              </p:ext>
            </p:extLst>
          </p:nvPr>
        </p:nvGraphicFramePr>
        <p:xfrm>
          <a:off x="4494528" y="3748932"/>
          <a:ext cx="319786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Retrieval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Actions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Memory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02E9900A-996C-DAAA-125C-D960B4466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753363"/>
              </p:ext>
            </p:extLst>
          </p:nvPr>
        </p:nvGraphicFramePr>
        <p:xfrm>
          <a:off x="8093204" y="1571116"/>
          <a:ext cx="2787388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369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39369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Structured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Output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pic>
        <p:nvPicPr>
          <p:cNvPr id="38" name="Graphic 37" descr="Chat bubble with solid fill">
            <a:extLst>
              <a:ext uri="{FF2B5EF4-FFF2-40B4-BE49-F238E27FC236}">
                <a16:creationId xmlns:a16="http://schemas.microsoft.com/office/drawing/2014/main" id="{76B4E836-5AE0-07B8-D379-E54786753A3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65246" y="1141015"/>
            <a:ext cx="457200" cy="4572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60210D5-1CB7-617C-BD88-70D36F38AC6C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flipH="1">
            <a:off x="6093459" y="2400300"/>
            <a:ext cx="2541" cy="454943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696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CEAC593-D8CD-61FE-1EC9-C96369134D92}"/>
              </a:ext>
            </a:extLst>
          </p:cNvPr>
          <p:cNvSpPr/>
          <p:nvPr/>
        </p:nvSpPr>
        <p:spPr>
          <a:xfrm>
            <a:off x="182881" y="1961989"/>
            <a:ext cx="3841894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 Foundry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C8D5DE6-7408-3D08-510F-FAA473A61DAF}"/>
              </a:ext>
            </a:extLst>
          </p:cNvPr>
          <p:cNvGrpSpPr/>
          <p:nvPr/>
        </p:nvGrpSpPr>
        <p:grpSpPr>
          <a:xfrm>
            <a:off x="492634" y="2520363"/>
            <a:ext cx="3213551" cy="870652"/>
            <a:chOff x="1094614" y="2520363"/>
            <a:chExt cx="3213551" cy="870652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A912725C-460A-B2C6-B45E-AFDA16950EF5}"/>
                </a:ext>
              </a:extLst>
            </p:cNvPr>
            <p:cNvSpPr/>
            <p:nvPr/>
          </p:nvSpPr>
          <p:spPr>
            <a:xfrm>
              <a:off x="1094614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E5663406-1A83-EB63-FD18-62122032389D}"/>
                </a:ext>
              </a:extLst>
            </p:cNvPr>
            <p:cNvSpPr/>
            <p:nvPr/>
          </p:nvSpPr>
          <p:spPr>
            <a:xfrm>
              <a:off x="2967928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MCP Client</a:t>
              </a: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06BC94-073A-00F0-7B7A-53ABD805A1C4}"/>
              </a:ext>
            </a:extLst>
          </p:cNvPr>
          <p:cNvSpPr/>
          <p:nvPr/>
        </p:nvSpPr>
        <p:spPr>
          <a:xfrm>
            <a:off x="5159832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6DD466-80C6-ABEA-A847-87533B9DAE34}"/>
              </a:ext>
            </a:extLst>
          </p:cNvPr>
          <p:cNvSpPr/>
          <p:nvPr/>
        </p:nvSpPr>
        <p:spPr>
          <a:xfrm>
            <a:off x="5692902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File Storage MCP Server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3581B78-846C-5C2B-AD8B-2A27DE6133B0}"/>
              </a:ext>
            </a:extLst>
          </p:cNvPr>
          <p:cNvSpPr/>
          <p:nvPr/>
        </p:nvSpPr>
        <p:spPr>
          <a:xfrm>
            <a:off x="5692901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Third-Party MCP Server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CA2D4C7-E2C9-BE70-32B0-9E817B3AD4C5}"/>
              </a:ext>
            </a:extLst>
          </p:cNvPr>
          <p:cNvSpPr/>
          <p:nvPr/>
        </p:nvSpPr>
        <p:spPr>
          <a:xfrm>
            <a:off x="5692900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MCP Server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9A04995-C98F-AF75-E6DC-AFDAD76B392B}"/>
              </a:ext>
            </a:extLst>
          </p:cNvPr>
          <p:cNvSpPr/>
          <p:nvPr/>
        </p:nvSpPr>
        <p:spPr>
          <a:xfrm>
            <a:off x="9067023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Services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5A15264-2CA2-94CF-802C-8F148D56ECAF}"/>
              </a:ext>
            </a:extLst>
          </p:cNvPr>
          <p:cNvSpPr/>
          <p:nvPr/>
        </p:nvSpPr>
        <p:spPr>
          <a:xfrm>
            <a:off x="9600093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Blob Storage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9FB5A06-89C1-2865-4EBC-BFD77D31C7E0}"/>
              </a:ext>
            </a:extLst>
          </p:cNvPr>
          <p:cNvSpPr/>
          <p:nvPr/>
        </p:nvSpPr>
        <p:spPr>
          <a:xfrm>
            <a:off x="9600092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SaaS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2A69AFF-6121-37F3-566A-DE1AA9EF9D38}"/>
              </a:ext>
            </a:extLst>
          </p:cNvPr>
          <p:cNvSpPr/>
          <p:nvPr/>
        </p:nvSpPr>
        <p:spPr>
          <a:xfrm>
            <a:off x="9600091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A8B2231-37D8-6CF7-3B6C-0CA623A3A20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1832871" y="2955689"/>
            <a:ext cx="53307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AF12AA-901C-45D0-7A07-FC55AAB45F61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7033138" y="1847908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39D667D-0422-43D5-28F2-605AE5941F22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7033139" y="2955689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A2CC6C4-B8F4-865E-18AE-A24BC6F4AF3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7033137" y="4063470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97CD07A-2870-7437-2F7C-3F75E24EB5CF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706185" y="1847908"/>
            <a:ext cx="1986716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18C5FA9F-3761-6651-D33F-2C24793118A2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706185" y="2955689"/>
            <a:ext cx="1986715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E6F43D-CF04-FED6-7F22-B3883E121EF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706185" y="2955689"/>
            <a:ext cx="198671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0545247-9B5D-B18C-25FF-A2F607D94783}"/>
              </a:ext>
            </a:extLst>
          </p:cNvPr>
          <p:cNvSpPr txBox="1"/>
          <p:nvPr/>
        </p:nvSpPr>
        <p:spPr>
          <a:xfrm>
            <a:off x="7920517" y="1478522"/>
            <a:ext cx="792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API Call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2CCF29-E962-3B49-3A2F-5B7C8B1E62E0}"/>
              </a:ext>
            </a:extLst>
          </p:cNvPr>
          <p:cNvSpPr txBox="1"/>
          <p:nvPr/>
        </p:nvSpPr>
        <p:spPr>
          <a:xfrm>
            <a:off x="7739820" y="2586250"/>
            <a:ext cx="1153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Python SDK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3BC4EA-D032-66AD-9B5E-0313282962E7}"/>
              </a:ext>
            </a:extLst>
          </p:cNvPr>
          <p:cNvSpPr txBox="1"/>
          <p:nvPr/>
        </p:nvSpPr>
        <p:spPr>
          <a:xfrm>
            <a:off x="7794098" y="3694030"/>
            <a:ext cx="1045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SQL Query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84FB3F3-23CB-15B6-FD3C-E0EC33E4649A}"/>
              </a:ext>
            </a:extLst>
          </p:cNvPr>
          <p:cNvSpPr/>
          <p:nvPr/>
        </p:nvSpPr>
        <p:spPr>
          <a:xfrm rot="16200000">
            <a:off x="4167506" y="2771023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JSON-RPC</a:t>
            </a:r>
            <a:endParaRPr lang="en-US" i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6489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093A9C9-AC19-13DF-070B-47915CA16540}"/>
              </a:ext>
            </a:extLst>
          </p:cNvPr>
          <p:cNvSpPr/>
          <p:nvPr/>
        </p:nvSpPr>
        <p:spPr>
          <a:xfrm>
            <a:off x="2933281" y="49609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Retrieval Agents: Query analysis and planning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72BA75-F1E5-3FE4-8499-99490E2C15B3}"/>
              </a:ext>
            </a:extLst>
          </p:cNvPr>
          <p:cNvSpPr/>
          <p:nvPr/>
        </p:nvSpPr>
        <p:spPr>
          <a:xfrm>
            <a:off x="4805537" y="31143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54ADE8-F06B-9F26-91C2-3A9892E48DAE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D6471B-9868-9E31-CDE5-11FB5406EC6D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Router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B63F4-ED09-21FE-8751-04E01AFF0D06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87E38-DD48-A03C-B28D-2E196FFD81D6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1179975-6D14-9A73-F6AF-EB48BB4B01D5}"/>
              </a:ext>
            </a:extLst>
          </p:cNvPr>
          <p:cNvSpPr/>
          <p:nvPr/>
        </p:nvSpPr>
        <p:spPr>
          <a:xfrm>
            <a:off x="2933281" y="452778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7A8A04-A0EB-0635-5D50-4C591A01FD85}"/>
              </a:ext>
            </a:extLst>
          </p:cNvPr>
          <p:cNvSpPr/>
          <p:nvPr/>
        </p:nvSpPr>
        <p:spPr>
          <a:xfrm>
            <a:off x="4805537" y="434311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Results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DF5948-C971-4B39-A3BE-2153A8EEA636}"/>
              </a:ext>
            </a:extLst>
          </p:cNvPr>
          <p:cNvSpPr/>
          <p:nvPr/>
        </p:nvSpPr>
        <p:spPr>
          <a:xfrm>
            <a:off x="2933281" y="5687011"/>
            <a:ext cx="6325438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 Integration: Response Synthesis and Answering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88841C4-B7C7-9477-522B-816A130D4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56614"/>
              </p:ext>
            </p:extLst>
          </p:nvPr>
        </p:nvGraphicFramePr>
        <p:xfrm>
          <a:off x="3122928" y="2099566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SQL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Patient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Vector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JSON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Web Search: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Latest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7701C1B-CC03-0FF1-A238-E5DE6E423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346733"/>
              </p:ext>
            </p:extLst>
          </p:nvPr>
        </p:nvGraphicFramePr>
        <p:xfrm>
          <a:off x="3122927" y="3552465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Cosmos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600B530-2DEF-F4FD-A3B5-2DF7667730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539689"/>
              </p:ext>
            </p:extLst>
          </p:nvPr>
        </p:nvGraphicFramePr>
        <p:xfrm>
          <a:off x="3122926" y="4897114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Vector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000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119B92-3DAB-FFFE-A154-7D9735CB5A30}"/>
              </a:ext>
            </a:extLst>
          </p:cNvPr>
          <p:cNvSpPr/>
          <p:nvPr/>
        </p:nvSpPr>
        <p:spPr>
          <a:xfrm>
            <a:off x="616801" y="1509556"/>
            <a:ext cx="2073059" cy="347392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2FB030-72C0-C615-61E3-8874EDB5B692}"/>
              </a:ext>
            </a:extLst>
          </p:cNvPr>
          <p:cNvSpPr/>
          <p:nvPr/>
        </p:nvSpPr>
        <p:spPr>
          <a:xfrm>
            <a:off x="867128" y="1324891"/>
            <a:ext cx="157240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6E96547-9778-A42C-9F45-E33160AA5534}"/>
              </a:ext>
            </a:extLst>
          </p:cNvPr>
          <p:cNvSpPr/>
          <p:nvPr/>
        </p:nvSpPr>
        <p:spPr>
          <a:xfrm>
            <a:off x="3597491" y="2813019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Index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3BB60D5-76CA-A9ED-C3AE-FC7B38F1C3F2}"/>
              </a:ext>
            </a:extLst>
          </p:cNvPr>
          <p:cNvSpPr/>
          <p:nvPr/>
        </p:nvSpPr>
        <p:spPr>
          <a:xfrm>
            <a:off x="7206977" y="2813018"/>
            <a:ext cx="1340237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pic>
        <p:nvPicPr>
          <p:cNvPr id="7" name="Graphic 6" descr="Database with solid fill">
            <a:extLst>
              <a:ext uri="{FF2B5EF4-FFF2-40B4-BE49-F238E27FC236}">
                <a16:creationId xmlns:a16="http://schemas.microsoft.com/office/drawing/2014/main" id="{BFE9337E-0E41-BD25-9BC2-22B0B07C52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0429" y="1788181"/>
            <a:ext cx="685800" cy="685800"/>
          </a:xfrm>
          <a:prstGeom prst="rect">
            <a:avLst/>
          </a:prstGeom>
        </p:spPr>
      </p:pic>
      <p:pic>
        <p:nvPicPr>
          <p:cNvPr id="8" name="Graphic 7" descr="Document with solid fill">
            <a:extLst>
              <a:ext uri="{FF2B5EF4-FFF2-40B4-BE49-F238E27FC236}">
                <a16:creationId xmlns:a16="http://schemas.microsoft.com/office/drawing/2014/main" id="{FBD7988B-3983-E05A-7FCC-29DBBA1718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310429" y="2843153"/>
            <a:ext cx="685800" cy="685800"/>
          </a:xfrm>
          <a:prstGeom prst="rect">
            <a:avLst/>
          </a:prstGeom>
        </p:spPr>
      </p:pic>
      <p:pic>
        <p:nvPicPr>
          <p:cNvPr id="9" name="Graphic 8" descr="Gears with solid fill">
            <a:extLst>
              <a:ext uri="{FF2B5EF4-FFF2-40B4-BE49-F238E27FC236}">
                <a16:creationId xmlns:a16="http://schemas.microsoft.com/office/drawing/2014/main" id="{31D68DF8-6A08-2505-A3B1-6F7C550CEAA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310429" y="3898125"/>
            <a:ext cx="685800" cy="685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DEB1C91-1889-95C5-CCD9-173007AC1E20}"/>
              </a:ext>
            </a:extLst>
          </p:cNvPr>
          <p:cNvSpPr txBox="1"/>
          <p:nvPr/>
        </p:nvSpPr>
        <p:spPr>
          <a:xfrm>
            <a:off x="1264891" y="2375950"/>
            <a:ext cx="7768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F89B1-B1CE-968F-CA44-CB29AE26D8C6}"/>
              </a:ext>
            </a:extLst>
          </p:cNvPr>
          <p:cNvSpPr txBox="1"/>
          <p:nvPr/>
        </p:nvSpPr>
        <p:spPr>
          <a:xfrm>
            <a:off x="1197116" y="3495327"/>
            <a:ext cx="912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Documents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6FF3F2-DD9D-64DF-31BB-C4194E7B86B3}"/>
              </a:ext>
            </a:extLst>
          </p:cNvPr>
          <p:cNvSpPr txBox="1"/>
          <p:nvPr/>
        </p:nvSpPr>
        <p:spPr>
          <a:xfrm>
            <a:off x="1422336" y="4483046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APIs</a:t>
            </a:r>
          </a:p>
        </p:txBody>
      </p:sp>
      <p:pic>
        <p:nvPicPr>
          <p:cNvPr id="13" name="Graphic 12" descr="User with solid fill">
            <a:extLst>
              <a:ext uri="{FF2B5EF4-FFF2-40B4-BE49-F238E27FC236}">
                <a16:creationId xmlns:a16="http://schemas.microsoft.com/office/drawing/2014/main" id="{96BAB4E6-5045-1E1E-93EC-9E2D602DA51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731418" y="1327464"/>
            <a:ext cx="685800" cy="6858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133FD24-0E51-C18F-DC0D-05012862BC6A}"/>
              </a:ext>
            </a:extLst>
          </p:cNvPr>
          <p:cNvSpPr txBox="1"/>
          <p:nvPr/>
        </p:nvSpPr>
        <p:spPr>
          <a:xfrm>
            <a:off x="5837714" y="1859375"/>
            <a:ext cx="4732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User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223CD2A-519C-5E26-2A15-B5F069B92302}"/>
              </a:ext>
            </a:extLst>
          </p:cNvPr>
          <p:cNvCxnSpPr>
            <a:cxnSpLocks/>
            <a:stCxn id="4" idx="0"/>
            <a:endCxn id="13" idx="1"/>
          </p:cNvCxnSpPr>
          <p:nvPr/>
        </p:nvCxnSpPr>
        <p:spPr>
          <a:xfrm rot="5400000" flipH="1" flipV="1">
            <a:off x="4429169" y="1510771"/>
            <a:ext cx="1142655" cy="1461843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559034-7A85-3B34-A564-61446578AD9B}"/>
              </a:ext>
            </a:extLst>
          </p:cNvPr>
          <p:cNvSpPr txBox="1"/>
          <p:nvPr/>
        </p:nvSpPr>
        <p:spPr>
          <a:xfrm>
            <a:off x="4269575" y="1663194"/>
            <a:ext cx="5718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Query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089B3EE-2F65-1D88-F136-218C0BC84AB6}"/>
              </a:ext>
            </a:extLst>
          </p:cNvPr>
          <p:cNvCxnSpPr>
            <a:cxnSpLocks/>
            <a:stCxn id="5" idx="0"/>
            <a:endCxn id="13" idx="3"/>
          </p:cNvCxnSpPr>
          <p:nvPr/>
        </p:nvCxnSpPr>
        <p:spPr>
          <a:xfrm rot="16200000" flipV="1">
            <a:off x="6575830" y="1511752"/>
            <a:ext cx="1142654" cy="1459878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86FB239-BA6E-104C-E546-CF3C3B574FF3}"/>
              </a:ext>
            </a:extLst>
          </p:cNvPr>
          <p:cNvSpPr txBox="1"/>
          <p:nvPr/>
        </p:nvSpPr>
        <p:spPr>
          <a:xfrm>
            <a:off x="7077773" y="1663193"/>
            <a:ext cx="799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Response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1064699-9071-77EB-9C94-E9DDF0AD5AE8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 flipV="1">
            <a:off x="2689860" y="3246466"/>
            <a:ext cx="907631" cy="5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3E6D11C-DC37-66ED-444E-45229E77AB1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4941659" y="3246465"/>
            <a:ext cx="2265318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4B2CCA4-3CCA-DA67-6D56-F48A5071DB3E}"/>
              </a:ext>
            </a:extLst>
          </p:cNvPr>
          <p:cNvSpPr/>
          <p:nvPr/>
        </p:nvSpPr>
        <p:spPr>
          <a:xfrm>
            <a:off x="5546929" y="3059668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Context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798ED8-D9BF-411C-F47B-7E32E9A58041}"/>
              </a:ext>
            </a:extLst>
          </p:cNvPr>
          <p:cNvSpPr txBox="1"/>
          <p:nvPr/>
        </p:nvSpPr>
        <p:spPr>
          <a:xfrm>
            <a:off x="5379542" y="3429000"/>
            <a:ext cx="13895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Prompt, Query,</a:t>
            </a:r>
          </a:p>
          <a:p>
            <a:pPr algn="ctr"/>
            <a:r>
              <a:rPr lang="en-US" sz="1400" dirty="0"/>
              <a:t>and Retrieved Data</a:t>
            </a:r>
          </a:p>
        </p:txBody>
      </p:sp>
    </p:spTree>
    <p:extLst>
      <p:ext uri="{BB962C8B-B14F-4D97-AF65-F5344CB8AC3E}">
        <p14:creationId xmlns:p14="http://schemas.microsoft.com/office/powerpoint/2010/main" val="506868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of the Azure AI Search architecture for agentic retrieval.">
            <a:extLst>
              <a:ext uri="{FF2B5EF4-FFF2-40B4-BE49-F238E27FC236}">
                <a16:creationId xmlns:a16="http://schemas.microsoft.com/office/drawing/2014/main" id="{EC60E7D7-9592-24FA-5E18-751F6025E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2280" y="4799453"/>
            <a:ext cx="12192000" cy="387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06A36BA-3259-02BA-E8FD-4008E85602F8}"/>
              </a:ext>
            </a:extLst>
          </p:cNvPr>
          <p:cNvSpPr/>
          <p:nvPr/>
        </p:nvSpPr>
        <p:spPr>
          <a:xfrm>
            <a:off x="590131" y="1082037"/>
            <a:ext cx="2313089" cy="161211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3CBE4A-053C-8640-596E-FCA438EF5A8E}"/>
              </a:ext>
            </a:extLst>
          </p:cNvPr>
          <p:cNvSpPr/>
          <p:nvPr/>
        </p:nvSpPr>
        <p:spPr>
          <a:xfrm>
            <a:off x="779353" y="794908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(Indexed)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53A8DD-AF2A-60E0-5030-29590308A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279013"/>
              </p:ext>
            </p:extLst>
          </p:nvPr>
        </p:nvGraphicFramePr>
        <p:xfrm>
          <a:off x="779353" y="1451369"/>
          <a:ext cx="198204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Search Index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Azure Blob Storage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4261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Fabric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Onelake</a:t>
                      </a:r>
                      <a:endParaRPr lang="en-US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2A0140A-4B8D-2702-E7CF-52EA0DCEBB3C}"/>
              </a:ext>
            </a:extLst>
          </p:cNvPr>
          <p:cNvSpPr/>
          <p:nvPr/>
        </p:nvSpPr>
        <p:spPr>
          <a:xfrm>
            <a:off x="4161703" y="2194679"/>
            <a:ext cx="5721437" cy="140406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DD30818-84F6-CF80-B405-BA6F52AF3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27225" y="1741424"/>
            <a:ext cx="457200" cy="457200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DB96D1BE-0DD0-0713-D1C3-3DE3A8D2ED71}"/>
              </a:ext>
            </a:extLst>
          </p:cNvPr>
          <p:cNvGrpSpPr/>
          <p:nvPr/>
        </p:nvGrpSpPr>
        <p:grpSpPr>
          <a:xfrm>
            <a:off x="4432936" y="2466285"/>
            <a:ext cx="5178970" cy="866894"/>
            <a:chOff x="4523785" y="5200779"/>
            <a:chExt cx="5178970" cy="866894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E6BB17F-0E4D-C386-1982-985D0F0F0A19}"/>
                </a:ext>
              </a:extLst>
            </p:cNvPr>
            <p:cNvSpPr/>
            <p:nvPr/>
          </p:nvSpPr>
          <p:spPr>
            <a:xfrm>
              <a:off x="4523785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Indexing Engine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2502404-E195-BC9E-46D1-67DD0B4867C6}"/>
                </a:ext>
              </a:extLst>
            </p:cNvPr>
            <p:cNvCxnSpPr>
              <a:cxnSpLocks/>
              <a:stCxn id="12" idx="3"/>
              <a:endCxn id="14" idx="1"/>
            </p:cNvCxnSpPr>
            <p:nvPr/>
          </p:nvCxnSpPr>
          <p:spPr>
            <a:xfrm>
              <a:off x="5867953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EAE2DE6-CBC0-1892-D217-2EB1383D6350}"/>
                </a:ext>
              </a:extLst>
            </p:cNvPr>
            <p:cNvSpPr/>
            <p:nvPr/>
          </p:nvSpPr>
          <p:spPr>
            <a:xfrm>
              <a:off x="6441186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Knowledge Base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385EE08-4195-FEB1-92CE-E2F08AEC0904}"/>
                </a:ext>
              </a:extLst>
            </p:cNvPr>
            <p:cNvSpPr/>
            <p:nvPr/>
          </p:nvSpPr>
          <p:spPr>
            <a:xfrm>
              <a:off x="8358587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Query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Engine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EDB932B-5B10-ABF7-6812-6F86DD883464}"/>
                </a:ext>
              </a:extLst>
            </p:cNvPr>
            <p:cNvCxnSpPr>
              <a:cxnSpLocks/>
              <a:stCxn id="16" idx="1"/>
              <a:endCxn id="14" idx="3"/>
            </p:cNvCxnSpPr>
            <p:nvPr/>
          </p:nvCxnSpPr>
          <p:spPr>
            <a:xfrm flipH="1">
              <a:off x="7785354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0B8367E-DED3-2D25-B1AF-FDC2C8A01481}"/>
              </a:ext>
            </a:extLst>
          </p:cNvPr>
          <p:cNvSpPr/>
          <p:nvPr/>
        </p:nvSpPr>
        <p:spPr>
          <a:xfrm>
            <a:off x="593095" y="3377768"/>
            <a:ext cx="2313089" cy="1278052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A6787BC-3A0F-9584-7965-0482CD3B3AAC}"/>
              </a:ext>
            </a:extLst>
          </p:cNvPr>
          <p:cNvSpPr/>
          <p:nvPr/>
        </p:nvSpPr>
        <p:spPr>
          <a:xfrm>
            <a:off x="755651" y="3090640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(Remote)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C018D9B-FFCB-F4AC-3749-0EE10F7CD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640093"/>
              </p:ext>
            </p:extLst>
          </p:nvPr>
        </p:nvGraphicFramePr>
        <p:xfrm>
          <a:off x="736597" y="3747101"/>
          <a:ext cx="1982047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SharePoint on M365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with Bing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8C26FC72-A6B7-0592-62C4-B9205B5E130B}"/>
              </a:ext>
            </a:extLst>
          </p:cNvPr>
          <p:cNvSpPr txBox="1"/>
          <p:nvPr/>
        </p:nvSpPr>
        <p:spPr>
          <a:xfrm>
            <a:off x="4784425" y="1783386"/>
            <a:ext cx="1452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Azure AI Search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9096CCB3-27F0-B65F-269E-BBF8BAC30A6D}"/>
              </a:ext>
            </a:extLst>
          </p:cNvPr>
          <p:cNvCxnSpPr>
            <a:cxnSpLocks/>
            <a:stCxn id="24" idx="3"/>
            <a:endCxn id="14" idx="2"/>
          </p:cNvCxnSpPr>
          <p:nvPr/>
        </p:nvCxnSpPr>
        <p:spPr>
          <a:xfrm flipV="1">
            <a:off x="2906184" y="3333179"/>
            <a:ext cx="4116237" cy="683615"/>
          </a:xfrm>
          <a:prstGeom prst="bentConnector2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0C61436-186C-FADD-09E4-9F73A8FCA2DB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2903221" y="1888096"/>
            <a:ext cx="1258483" cy="10086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841EC0D-EBD6-5CE8-6DC5-5D0B6B0C0365}"/>
              </a:ext>
            </a:extLst>
          </p:cNvPr>
          <p:cNvSpPr/>
          <p:nvPr/>
        </p:nvSpPr>
        <p:spPr>
          <a:xfrm>
            <a:off x="3011548" y="2119895"/>
            <a:ext cx="104182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Indexing + Enrichment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9F95B81-DAC1-C3AD-DBDE-9B0467E804DF}"/>
              </a:ext>
            </a:extLst>
          </p:cNvPr>
          <p:cNvSpPr/>
          <p:nvPr/>
        </p:nvSpPr>
        <p:spPr>
          <a:xfrm>
            <a:off x="4644982" y="3729665"/>
            <a:ext cx="1222418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Direct Source Retrieval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8DB8E28-0138-EE36-0136-3CAE044CDB91}"/>
              </a:ext>
            </a:extLst>
          </p:cNvPr>
          <p:cNvGrpSpPr/>
          <p:nvPr/>
        </p:nvGrpSpPr>
        <p:grpSpPr>
          <a:xfrm>
            <a:off x="10466680" y="2668113"/>
            <a:ext cx="671979" cy="765562"/>
            <a:chOff x="10110076" y="2694410"/>
            <a:chExt cx="671979" cy="765562"/>
          </a:xfrm>
        </p:grpSpPr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BBE4E029-6BF4-5A7D-4747-1B580A80C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217465" y="2694410"/>
              <a:ext cx="457200" cy="4572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25FE0D2-202A-0F8B-C116-0C0853E85210}"/>
                </a:ext>
              </a:extLst>
            </p:cNvPr>
            <p:cNvSpPr txBox="1"/>
            <p:nvPr/>
          </p:nvSpPr>
          <p:spPr>
            <a:xfrm>
              <a:off x="10110076" y="3090640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Agent</a:t>
              </a:r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EC7870B-945A-ABCC-C1D6-C5ACE8058529}"/>
              </a:ext>
            </a:extLst>
          </p:cNvPr>
          <p:cNvCxnSpPr>
            <a:cxnSpLocks/>
            <a:stCxn id="41" idx="1"/>
            <a:endCxn id="8" idx="3"/>
          </p:cNvCxnSpPr>
          <p:nvPr/>
        </p:nvCxnSpPr>
        <p:spPr>
          <a:xfrm flipH="1">
            <a:off x="9883140" y="2896713"/>
            <a:ext cx="690929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8926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BDB7-571A-26BD-0DDC-EC428319E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7A4DF76-E5D0-B5A1-771E-FF6FC164C892}"/>
              </a:ext>
            </a:extLst>
          </p:cNvPr>
          <p:cNvSpPr/>
          <p:nvPr/>
        </p:nvSpPr>
        <p:spPr>
          <a:xfrm>
            <a:off x="4572000" y="24841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OCR text and detect other items in images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FC2E6E4-3FA0-B1C2-44CA-4FDE763339EA}"/>
              </a:ext>
            </a:extLst>
          </p:cNvPr>
          <p:cNvSpPr/>
          <p:nvPr/>
        </p:nvSpPr>
        <p:spPr>
          <a:xfrm>
            <a:off x="4572000" y="17111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Detect languages and/or translate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3FC118-1D56-1A6A-3E6F-2E4C93EC5BB5}"/>
              </a:ext>
            </a:extLst>
          </p:cNvPr>
          <p:cNvSpPr/>
          <p:nvPr/>
        </p:nvSpPr>
        <p:spPr>
          <a:xfrm>
            <a:off x="192363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Chunk large documents into smaller portions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F1F862-E17E-1BF2-68BB-E557944EFB90}"/>
              </a:ext>
            </a:extLst>
          </p:cNvPr>
          <p:cNvSpPr/>
          <p:nvPr/>
        </p:nvSpPr>
        <p:spPr>
          <a:xfrm>
            <a:off x="958935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Index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3DDE5B-F2C9-368A-EB4B-004B47F0142D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535906" y="3087773"/>
            <a:ext cx="387733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340D823-D62F-C29E-58F1-B5E39213D99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 flipV="1">
            <a:off x="3837081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32CAEE3-52CA-0618-98BB-135A06D4B4AE}"/>
              </a:ext>
            </a:extLst>
          </p:cNvPr>
          <p:cNvSpPr/>
          <p:nvPr/>
        </p:nvSpPr>
        <p:spPr>
          <a:xfrm>
            <a:off x="4572000" y="3257085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key phrases and terms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5DE1353-6451-F2F2-4FDD-C8D856D8703A}"/>
              </a:ext>
            </a:extLst>
          </p:cNvPr>
          <p:cNvSpPr/>
          <p:nvPr/>
        </p:nvSpPr>
        <p:spPr>
          <a:xfrm>
            <a:off x="4572000" y="403005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entities (people, skills, URLs, etc.) 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23" name="Graphic 22" descr="Document with solid fill">
            <a:extLst>
              <a:ext uri="{FF2B5EF4-FFF2-40B4-BE49-F238E27FC236}">
                <a16:creationId xmlns:a16="http://schemas.microsoft.com/office/drawing/2014/main" id="{4B4356EB-DB04-1639-EBB5-9B125D08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4929" y="2607713"/>
            <a:ext cx="685800" cy="6858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43B01B8-40E1-CA65-2D85-E7874B50AB9E}"/>
              </a:ext>
            </a:extLst>
          </p:cNvPr>
          <p:cNvSpPr txBox="1"/>
          <p:nvPr/>
        </p:nvSpPr>
        <p:spPr>
          <a:xfrm>
            <a:off x="591364" y="3257085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Documents</a:t>
            </a: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E6694889-3916-A298-2BD5-0D22502998BD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837081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06A07C8-FFE6-FC10-054C-D7EC53902858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3837081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3E68473-1A12-B82E-8D58-1A05019A69F6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837081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22D29AA-6031-8645-B88C-4F31D12DC377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8854440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9A7EA838-C83A-2914-FF9B-922AEE2873B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8854440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80FE345D-D495-3DCB-A7FE-B831EF929BA3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8854440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ABBAAB0E-15B1-635D-938D-03283CFC2E97}"/>
              </a:ext>
            </a:extLst>
          </p:cNvPr>
          <p:cNvCxnSpPr>
            <a:cxnSpLocks/>
            <a:stCxn id="9" idx="3"/>
            <a:endCxn id="6" idx="1"/>
          </p:cNvCxnSpPr>
          <p:nvPr/>
        </p:nvCxnSpPr>
        <p:spPr>
          <a:xfrm flipV="1">
            <a:off x="8854440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30470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9FDC59-6067-4502-1360-F42554AD87D3}"/>
              </a:ext>
            </a:extLst>
          </p:cNvPr>
          <p:cNvSpPr/>
          <p:nvPr/>
        </p:nvSpPr>
        <p:spPr>
          <a:xfrm>
            <a:off x="4046220" y="33985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Public Information on the Web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00FF13-E208-2C00-EB7C-BCBA48F554BD}"/>
              </a:ext>
            </a:extLst>
          </p:cNvPr>
          <p:cNvSpPr/>
          <p:nvPr/>
        </p:nvSpPr>
        <p:spPr>
          <a:xfrm>
            <a:off x="4046220" y="26255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Retrieve Stock Quotes from an API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952C55-0F41-C8E8-4833-F5F86239B3AD}"/>
              </a:ext>
            </a:extLst>
          </p:cNvPr>
          <p:cNvSpPr/>
          <p:nvPr/>
        </p:nvSpPr>
        <p:spPr>
          <a:xfrm>
            <a:off x="4046220" y="1855003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Reference Internal Report Files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0226F7-C833-1B1C-B967-7291F64244CC}"/>
              </a:ext>
            </a:extLst>
          </p:cNvPr>
          <p:cNvSpPr/>
          <p:nvPr/>
        </p:nvSpPr>
        <p:spPr>
          <a:xfrm>
            <a:off x="1507938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Planning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3C6EBF-0FE7-EC6E-5B5C-7AA41F6606DD}"/>
              </a:ext>
            </a:extLst>
          </p:cNvPr>
          <p:cNvSpPr/>
          <p:nvPr/>
        </p:nvSpPr>
        <p:spPr>
          <a:xfrm>
            <a:off x="9837420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Language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Model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0FF9049-A038-5CD7-B5B6-A7A955E2687C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421380" y="2854154"/>
            <a:ext cx="62484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10FC99-8029-AE13-0A3B-1F87064360A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9189720" y="2854155"/>
            <a:ext cx="64770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23DA4FB-7AE1-4EE4-8DD5-321F7F7C7F33}"/>
              </a:ext>
            </a:extLst>
          </p:cNvPr>
          <p:cNvSpPr/>
          <p:nvPr/>
        </p:nvSpPr>
        <p:spPr>
          <a:xfrm>
            <a:off x="189267" y="2619607"/>
            <a:ext cx="915222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42D3144-4FA8-07EA-6898-D7B2C45E010A}"/>
              </a:ext>
            </a:extLst>
          </p:cNvPr>
          <p:cNvCxnSpPr>
            <a:cxnSpLocks/>
            <a:stCxn id="15" idx="3"/>
            <a:endCxn id="5" idx="1"/>
          </p:cNvCxnSpPr>
          <p:nvPr/>
        </p:nvCxnSpPr>
        <p:spPr>
          <a:xfrm>
            <a:off x="1104489" y="2854155"/>
            <a:ext cx="40344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F48D9D9-8BAB-3118-5B91-13BAA46C23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3421380" y="2083603"/>
            <a:ext cx="624840" cy="7705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217AA7E3-1E41-FB8C-7F66-A5758B29A028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3421380" y="2854155"/>
            <a:ext cx="624840" cy="7729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E95763-BD68-DEF9-F942-CCC8B336544E}"/>
              </a:ext>
            </a:extLst>
          </p:cNvPr>
          <p:cNvSpPr/>
          <p:nvPr/>
        </p:nvSpPr>
        <p:spPr>
          <a:xfrm>
            <a:off x="8732520" y="1852591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899F5AF-E80C-3452-008E-8E821AEFA864}"/>
              </a:ext>
            </a:extLst>
          </p:cNvPr>
          <p:cNvCxnSpPr>
            <a:cxnSpLocks/>
            <a:stCxn id="4" idx="3"/>
            <a:endCxn id="25" idx="1"/>
          </p:cNvCxnSpPr>
          <p:nvPr/>
        </p:nvCxnSpPr>
        <p:spPr>
          <a:xfrm flipV="1">
            <a:off x="8328660" y="2081191"/>
            <a:ext cx="403860" cy="241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3F66FD98-C347-7EA9-DC36-7FDBB97B4248}"/>
              </a:ext>
            </a:extLst>
          </p:cNvPr>
          <p:cNvSpPr/>
          <p:nvPr/>
        </p:nvSpPr>
        <p:spPr>
          <a:xfrm>
            <a:off x="8732520" y="2625555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791A27B-2AA1-8E05-2231-C99FE09DCBEB}"/>
              </a:ext>
            </a:extLst>
          </p:cNvPr>
          <p:cNvSpPr/>
          <p:nvPr/>
        </p:nvSpPr>
        <p:spPr>
          <a:xfrm>
            <a:off x="8732520" y="3398519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D77B26-2C1F-3022-9B0B-3736BC5CF8AA}"/>
              </a:ext>
            </a:extLst>
          </p:cNvPr>
          <p:cNvCxnSpPr>
            <a:cxnSpLocks/>
            <a:stCxn id="3" idx="3"/>
            <a:endCxn id="44" idx="1"/>
          </p:cNvCxnSpPr>
          <p:nvPr/>
        </p:nvCxnSpPr>
        <p:spPr>
          <a:xfrm>
            <a:off x="8328660" y="2854154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99ECFB6-8E63-4F62-C5D3-37BC5BB43934}"/>
              </a:ext>
            </a:extLst>
          </p:cNvPr>
          <p:cNvCxnSpPr>
            <a:cxnSpLocks/>
            <a:stCxn id="2" idx="3"/>
            <a:endCxn id="46" idx="1"/>
          </p:cNvCxnSpPr>
          <p:nvPr/>
        </p:nvCxnSpPr>
        <p:spPr>
          <a:xfrm flipV="1">
            <a:off x="8328660" y="3627119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DB500F1-F165-AABE-6725-11E4ED79023E}"/>
              </a:ext>
            </a:extLst>
          </p:cNvPr>
          <p:cNvCxnSpPr>
            <a:cxnSpLocks/>
            <a:stCxn id="25" idx="3"/>
            <a:endCxn id="6" idx="1"/>
          </p:cNvCxnSpPr>
          <p:nvPr/>
        </p:nvCxnSpPr>
        <p:spPr>
          <a:xfrm>
            <a:off x="9189720" y="2081191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28AC6A5D-0A01-5370-996D-AF8698A1082D}"/>
              </a:ext>
            </a:extLst>
          </p:cNvPr>
          <p:cNvCxnSpPr>
            <a:cxnSpLocks/>
            <a:stCxn id="46" idx="3"/>
            <a:endCxn id="6" idx="1"/>
          </p:cNvCxnSpPr>
          <p:nvPr/>
        </p:nvCxnSpPr>
        <p:spPr>
          <a:xfrm flipV="1">
            <a:off x="9189720" y="2854155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Graphic 66" descr="Web design with solid fill">
            <a:extLst>
              <a:ext uri="{FF2B5EF4-FFF2-40B4-BE49-F238E27FC236}">
                <a16:creationId xmlns:a16="http://schemas.microsoft.com/office/drawing/2014/main" id="{5D8BB564-5BA8-868D-2AB7-35E0D3AE65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5380" y="2648413"/>
            <a:ext cx="411480" cy="411480"/>
          </a:xfrm>
          <a:prstGeom prst="rect">
            <a:avLst/>
          </a:prstGeom>
        </p:spPr>
      </p:pic>
      <p:pic>
        <p:nvPicPr>
          <p:cNvPr id="71" name="Graphic 70" descr="World with solid fill">
            <a:extLst>
              <a:ext uri="{FF2B5EF4-FFF2-40B4-BE49-F238E27FC236}">
                <a16:creationId xmlns:a16="http://schemas.microsoft.com/office/drawing/2014/main" id="{0EF50C39-FA5F-96A6-2DE6-53C76B029F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5380" y="3421379"/>
            <a:ext cx="411480" cy="411480"/>
          </a:xfrm>
          <a:prstGeom prst="rect">
            <a:avLst/>
          </a:prstGeom>
        </p:spPr>
      </p:pic>
      <p:pic>
        <p:nvPicPr>
          <p:cNvPr id="73" name="Graphic 72" descr="Database with solid fill">
            <a:extLst>
              <a:ext uri="{FF2B5EF4-FFF2-40B4-BE49-F238E27FC236}">
                <a16:creationId xmlns:a16="http://schemas.microsoft.com/office/drawing/2014/main" id="{20B0889E-3ACA-9DCA-25FE-C1F9B73F73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55380" y="1875451"/>
            <a:ext cx="411480" cy="411480"/>
          </a:xfrm>
          <a:prstGeom prst="rect">
            <a:avLst/>
          </a:prstGeom>
        </p:spPr>
      </p:pic>
      <p:pic>
        <p:nvPicPr>
          <p:cNvPr id="75" name="Graphic 74" descr="Gears with solid fill">
            <a:extLst>
              <a:ext uri="{FF2B5EF4-FFF2-40B4-BE49-F238E27FC236}">
                <a16:creationId xmlns:a16="http://schemas.microsoft.com/office/drawing/2014/main" id="{AFA7CC75-0D4E-9273-3BC2-179536E5EC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26048" y="2648413"/>
            <a:ext cx="411480" cy="411480"/>
          </a:xfrm>
          <a:prstGeom prst="rect">
            <a:avLst/>
          </a:prstGeom>
        </p:spPr>
      </p:pic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492D89A-8D12-E69E-613E-246E45DCD83F}"/>
              </a:ext>
            </a:extLst>
          </p:cNvPr>
          <p:cNvSpPr/>
          <p:nvPr/>
        </p:nvSpPr>
        <p:spPr>
          <a:xfrm>
            <a:off x="10545258" y="3627118"/>
            <a:ext cx="1205604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Response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A734903-BE53-2153-B1BE-7817395A6ACC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11148060" y="3334214"/>
            <a:ext cx="0" cy="29290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4D371B40-23D5-3632-64F0-3A5DAC685C2C}"/>
              </a:ext>
            </a:extLst>
          </p:cNvPr>
          <p:cNvCxnSpPr>
            <a:cxnSpLocks/>
            <a:endCxn id="5" idx="2"/>
          </p:cNvCxnSpPr>
          <p:nvPr/>
        </p:nvCxnSpPr>
        <p:spPr>
          <a:xfrm rot="5400000">
            <a:off x="6337265" y="-538391"/>
            <a:ext cx="12700" cy="7745211"/>
          </a:xfrm>
          <a:prstGeom prst="bentConnector3">
            <a:avLst>
              <a:gd name="adj1" fmla="val 6060000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175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D8E52CD-5961-A7C1-3607-A00CDD477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812"/>
            <a:ext cx="12192000" cy="681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074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A42420-8E3C-777D-C41A-540741D91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51"/>
            <a:ext cx="12192000" cy="684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9943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4867BA-66DD-B140-5528-856BCA343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063"/>
            <a:ext cx="12192000" cy="665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89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E65E1-5DF3-2FE1-BF1F-36B02D0FE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0F888E-6C37-17E1-670D-996346E71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4427"/>
            <a:ext cx="12192000" cy="4429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5027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667DA2-6815-DE2B-768E-FDE43E3CE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078980" cy="38651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B15023E-4451-73EF-7EF8-DE3379C38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3493186"/>
            <a:ext cx="9357360" cy="329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160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81119-CA4B-EE59-FA1F-A8A1937BB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10976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5903-046F-B36C-A390-13BCA87A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35566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16D71-F470-4508-5B65-369C548AF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36187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0DECF4-D97F-50C4-2BC6-FF6779833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4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578BC-5D7D-5C4C-8F29-72399D893A54}"/>
              </a:ext>
            </a:extLst>
          </p:cNvPr>
          <p:cNvSpPr txBox="1"/>
          <p:nvPr/>
        </p:nvSpPr>
        <p:spPr>
          <a:xfrm>
            <a:off x="5920557" y="38522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Style Guide: </a:t>
            </a:r>
            <a:r>
              <a:rPr lang="en-US" dirty="0">
                <a:hlinkClick r:id="rId3"/>
              </a:rPr>
              <a:t>https://oreillymedia.github.io/production-resources/illustrations/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8677-70D9-CDFB-3CCB-A0A1A69FA2EC}"/>
              </a:ext>
            </a:extLst>
          </p:cNvPr>
          <p:cNvSpPr txBox="1"/>
          <p:nvPr/>
        </p:nvSpPr>
        <p:spPr>
          <a:xfrm>
            <a:off x="7173532" y="1822360"/>
            <a:ext cx="31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ardian Sans Cond Medium" panose="020B0603030202060203" pitchFamily="34" charset="0"/>
              </a:rPr>
              <a:t>Fonts: Guardian Sans Cond Medium </a:t>
            </a:r>
          </a:p>
        </p:txBody>
      </p:sp>
    </p:spTree>
    <p:extLst>
      <p:ext uri="{BB962C8B-B14F-4D97-AF65-F5344CB8AC3E}">
        <p14:creationId xmlns:p14="http://schemas.microsoft.com/office/powerpoint/2010/main" val="165026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'Reilly Media">
      <a:majorFont>
        <a:latin typeface="Guardian Sans Cond Medium"/>
        <a:ea typeface=""/>
        <a:cs typeface=""/>
      </a:majorFont>
      <a:minorFont>
        <a:latin typeface="Guardian Sans Cond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11656</TotalTime>
  <Words>493</Words>
  <Application>Microsoft Office PowerPoint</Application>
  <PresentationFormat>Widescreen</PresentationFormat>
  <Paragraphs>163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Arial</vt:lpstr>
      <vt:lpstr>Guardian Sans Cond Medium</vt:lpstr>
      <vt:lpstr>Guardian Sans Cond Regular</vt:lpstr>
      <vt:lpstr>Office Theme</vt:lpstr>
      <vt:lpstr>Building Agentic Solutions with Microsoft 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14</cp:revision>
  <dcterms:created xsi:type="dcterms:W3CDTF">2026-01-26T17:17:07Z</dcterms:created>
  <dcterms:modified xsi:type="dcterms:W3CDTF">2026-03-26T17:21:49Z</dcterms:modified>
</cp:coreProperties>
</file>