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58" r:id="rId2"/>
    <p:sldId id="256" r:id="rId3"/>
    <p:sldId id="263" r:id="rId4"/>
    <p:sldId id="260" r:id="rId5"/>
    <p:sldId id="259" r:id="rId6"/>
    <p:sldId id="261" r:id="rId7"/>
    <p:sldId id="262" r:id="rId8"/>
    <p:sldId id="264" r:id="rId9"/>
    <p:sldId id="265" r:id="rId10"/>
    <p:sldId id="266" r:id="rId11"/>
    <p:sldId id="267" r:id="rId12"/>
    <p:sldId id="25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98037C5F-3BC8-4326-882B-11E8D97D6574}">
          <p14:sldIdLst>
            <p14:sldId id="258"/>
          </p14:sldIdLst>
        </p14:section>
        <p14:section name="Introduction" id="{33616E34-919B-4477-A71B-4790522F5760}">
          <p14:sldIdLst>
            <p14:sldId id="256"/>
            <p14:sldId id="263"/>
          </p14:sldIdLst>
        </p14:section>
        <p14:section name="Model Deployment" id="{4FFEF0E2-5833-4089-8860-99F4B2E194C0}">
          <p14:sldIdLst>
            <p14:sldId id="260"/>
            <p14:sldId id="259"/>
          </p14:sldIdLst>
        </p14:section>
        <p14:section name="Agent Deployment" id="{D332562B-3ADB-4CCE-A1B8-55DF9B490E3B}">
          <p14:sldIdLst>
            <p14:sldId id="261"/>
          </p14:sldIdLst>
        </p14:section>
        <p14:section name="Knowledge Bases" id="{06E034E2-AFC7-4A28-B1B0-B4E2903C9A55}">
          <p14:sldIdLst>
            <p14:sldId id="262"/>
            <p14:sldId id="264"/>
          </p14:sldIdLst>
        </p14:section>
        <p14:section name="Fine-Tuning" id="{0654DAA0-6DAF-4D93-901D-DE1F25DE20A5}">
          <p14:sldIdLst>
            <p14:sldId id="265"/>
            <p14:sldId id="266"/>
            <p14:sldId id="267"/>
          </p14:sldIdLst>
        </p14:section>
        <p14:section name="Examples" id="{2CEADF37-2C1D-4DE6-BB08-5D838E707A13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D4EB"/>
    <a:srgbClr val="B0D3EA"/>
    <a:srgbClr val="E5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0" autoAdjust="0"/>
    <p:restoredTop sz="81072" autoAdjust="0"/>
  </p:normalViewPr>
  <p:slideViewPr>
    <p:cSldViewPr snapToGrid="0">
      <p:cViewPr varScale="1">
        <p:scale>
          <a:sx n="126" d="100"/>
          <a:sy n="126" d="100"/>
        </p:scale>
        <p:origin x="158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ABB0E5-6D8D-4DEE-B75F-67010CF2307C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549D2C-39EA-4769-BF7E-31FE52D820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21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azure/ai-services/multi-service-resource?toc=%2Fazure%2Fai-foundry%2Ftoc.json&amp;bc=%2Fazure%2Fai-foundry%2Fbreadcrumb%2Ftoc.json&amp;view=foundry-classic&amp;preserve-view=true&amp;pivots=azportal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</a:t>
            </a:r>
            <a:r>
              <a:rPr lang="en-US" dirty="0">
                <a:hlinkClick r:id="rId3"/>
              </a:rPr>
              <a:t>Create a Foundry resource - Foundry Tools | Microsoft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85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Text:</a:t>
            </a:r>
          </a:p>
          <a:p>
            <a:endParaRPr lang="en-US" dirty="0"/>
          </a:p>
          <a:p>
            <a:r>
              <a:rPr lang="en-US" dirty="0"/>
              <a:t>colby@TUPLE-01:~$ </a:t>
            </a:r>
            <a:r>
              <a:rPr lang="en-US" dirty="0" err="1"/>
              <a:t>az</a:t>
            </a:r>
            <a:r>
              <a:rPr lang="en-US" dirty="0"/>
              <a:t> login</a:t>
            </a:r>
          </a:p>
          <a:p>
            <a:endParaRPr lang="en-US" dirty="0"/>
          </a:p>
          <a:p>
            <a:r>
              <a:rPr lang="en-US" dirty="0"/>
              <a:t>Retrieving tenants and subscriptions for the selection...</a:t>
            </a:r>
          </a:p>
          <a:p>
            <a:endParaRPr lang="en-US" dirty="0"/>
          </a:p>
          <a:p>
            <a:r>
              <a:rPr lang="en-US" dirty="0"/>
              <a:t>[Tenant and subscription selection]</a:t>
            </a:r>
          </a:p>
          <a:p>
            <a:endParaRPr lang="en-US" dirty="0"/>
          </a:p>
          <a:p>
            <a:r>
              <a:rPr lang="en-US" dirty="0"/>
              <a:t>No     Subscription name            Subscription ID                       Tenant</a:t>
            </a:r>
          </a:p>
          <a:p>
            <a:r>
              <a:rPr lang="en-US" dirty="0"/>
              <a:t>-----  ---------------------------  ------------------------------------  ----------------------</a:t>
            </a:r>
          </a:p>
          <a:p>
            <a:r>
              <a:rPr lang="en-US" dirty="0"/>
              <a:t>[1]    abc-prod-001                 d3c301c7-a8a5-417a-999b-71c166ab9ea1  Acme Inc Default Directory</a:t>
            </a:r>
          </a:p>
          <a:p>
            <a:r>
              <a:rPr lang="en-US" dirty="0"/>
              <a:t>[2]    abc-dev-001                  6283eb64-e04b-4c65-8360-e29ddf7ced32  Acme Inc Default Directory</a:t>
            </a:r>
          </a:p>
          <a:p>
            <a:r>
              <a:rPr lang="en-US" dirty="0"/>
              <a:t>[3]    </a:t>
            </a:r>
            <a:r>
              <a:rPr lang="en-US" dirty="0" err="1"/>
              <a:t>dev_subscription</a:t>
            </a:r>
            <a:r>
              <a:rPr lang="en-US" dirty="0"/>
              <a:t>             21f436e1-bf10-4e17-9482-701611ba96e3  &lt;Tuple&gt;</a:t>
            </a:r>
          </a:p>
          <a:p>
            <a:r>
              <a:rPr lang="en-US" dirty="0"/>
              <a:t>[4]    Microsoft Azure Sponsorship  716f8ad9-4f2d-48da-a905-eb77071da449  &lt;Tuple&gt;</a:t>
            </a:r>
          </a:p>
          <a:p>
            <a:r>
              <a:rPr lang="en-US" dirty="0"/>
              <a:t>[5] *  Microsoft Azure Sponsorship  bedf96c9-5241-45cc-b696-dcc91ebc089a  &lt;Tuple&gt;</a:t>
            </a:r>
          </a:p>
          <a:p>
            <a:endParaRPr lang="en-US" dirty="0"/>
          </a:p>
          <a:p>
            <a:r>
              <a:rPr lang="en-US" dirty="0"/>
              <a:t>The default is marked with an *; the default tenant is '&lt;Tuple&gt;' and subscription is 'Microsoft Azure Sponsorship' (bedf96c9-5241-45cc-b696-dcc91ebc089a).</a:t>
            </a:r>
          </a:p>
          <a:p>
            <a:endParaRPr lang="en-US" dirty="0"/>
          </a:p>
          <a:p>
            <a:r>
              <a:rPr lang="en-US" dirty="0"/>
              <a:t>Select a subscription and tenant (Type a number or Enter for no changes):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549D2C-39EA-4769-BF7E-31FE52D8207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969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70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232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9051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8985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466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863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64078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470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24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59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412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4C5C40-2055-49AF-9028-5DA79E75E391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05D691-0F6E-4F63-82F3-A0E2F2A172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399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svg"/><Relationship Id="rId4" Type="http://schemas.openxmlformats.org/officeDocument/2006/relationships/hyperlink" Target="https://learn.microsoft.com/en-us/azure/ai-foundry/?view=foundry-classic" TargetMode="External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oreillymedia.github.io/production-resources/illustrations/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F6990-D6F8-D6D2-CC22-6BD94E95B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Building Agentic Solutions with Microsoft Foundry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07718-4A92-1A92-1E11-DEFC8507A4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Illustration Figures</a:t>
            </a:r>
          </a:p>
        </p:txBody>
      </p:sp>
    </p:spTree>
    <p:extLst>
      <p:ext uri="{BB962C8B-B14F-4D97-AF65-F5344CB8AC3E}">
        <p14:creationId xmlns:p14="http://schemas.microsoft.com/office/powerpoint/2010/main" val="3886249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Diagram showing Foundry resource containing multiple projects, each with deployments and connections.">
            <a:extLst>
              <a:ext uri="{FF2B5EF4-FFF2-40B4-BE49-F238E27FC236}">
                <a16:creationId xmlns:a16="http://schemas.microsoft.com/office/drawing/2014/main" id="{12EEA84E-8776-00EF-5D97-05E8737B6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7866" y="3166424"/>
            <a:ext cx="5524500" cy="3667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839DD77-409D-94ED-8A62-6F53CBB88ADD}"/>
              </a:ext>
            </a:extLst>
          </p:cNvPr>
          <p:cNvSpPr/>
          <p:nvPr/>
        </p:nvSpPr>
        <p:spPr>
          <a:xfrm>
            <a:off x="962568" y="732317"/>
            <a:ext cx="4456090" cy="2434107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Foundry Resource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FAF0893-8AEC-1DBB-B036-2949BA0795A0}"/>
              </a:ext>
            </a:extLst>
          </p:cNvPr>
          <p:cNvSpPr/>
          <p:nvPr/>
        </p:nvSpPr>
        <p:spPr>
          <a:xfrm>
            <a:off x="2410311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E630FB-2D59-D6DB-B847-29F7E0317AFA}"/>
              </a:ext>
            </a:extLst>
          </p:cNvPr>
          <p:cNvSpPr/>
          <p:nvPr/>
        </p:nvSpPr>
        <p:spPr>
          <a:xfrm>
            <a:off x="1183452" y="1494888"/>
            <a:ext cx="1080042" cy="69452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E9103F9-368F-E4D0-C17C-BF0F1C74D31A}"/>
              </a:ext>
            </a:extLst>
          </p:cNvPr>
          <p:cNvSpPr/>
          <p:nvPr/>
        </p:nvSpPr>
        <p:spPr>
          <a:xfrm>
            <a:off x="4117733" y="1494888"/>
            <a:ext cx="1080042" cy="69452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Project</a:t>
            </a:r>
          </a:p>
          <a:p>
            <a:pPr algn="ctr"/>
            <a:r>
              <a:rPr lang="en-US" i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92B776-2029-F35D-E69F-FB22F1454014}"/>
              </a:ext>
            </a:extLst>
          </p:cNvPr>
          <p:cNvSpPr txBox="1"/>
          <p:nvPr/>
        </p:nvSpPr>
        <p:spPr>
          <a:xfrm>
            <a:off x="3637170" y="1657482"/>
            <a:ext cx="333746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CF4078-AF58-188A-DF99-E08A01A42DFE}"/>
              </a:ext>
            </a:extLst>
          </p:cNvPr>
          <p:cNvSpPr/>
          <p:nvPr/>
        </p:nvSpPr>
        <p:spPr>
          <a:xfrm>
            <a:off x="1183452" y="2534516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 + Governance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B3C89E23-8123-0234-D0F1-F39C80D61B78}"/>
              </a:ext>
            </a:extLst>
          </p:cNvPr>
          <p:cNvCxnSpPr>
            <a:stCxn id="8" idx="3"/>
          </p:cNvCxnSpPr>
          <p:nvPr/>
        </p:nvCxnSpPr>
        <p:spPr>
          <a:xfrm>
            <a:off x="5197775" y="1842148"/>
            <a:ext cx="59127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373EA2-E891-EE8A-A28C-9322032A5F17}"/>
              </a:ext>
            </a:extLst>
          </p:cNvPr>
          <p:cNvSpPr txBox="1"/>
          <p:nvPr/>
        </p:nvSpPr>
        <p:spPr>
          <a:xfrm>
            <a:off x="5825155" y="1518982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dirty="0"/>
              <a:t>Configure Identities, RBAC, Monitoring,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21F8B3-1DDB-194B-0435-0F2F79CBA773}"/>
              </a:ext>
            </a:extLst>
          </p:cNvPr>
          <p:cNvSpPr txBox="1"/>
          <p:nvPr/>
        </p:nvSpPr>
        <p:spPr>
          <a:xfrm>
            <a:off x="2183860" y="3429000"/>
            <a:ext cx="2013506" cy="6463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dirty="0"/>
              <a:t>Connect to Tools and Knowledge bases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753FAC2D-AAEE-099D-6EBF-C4AE11D1CF5E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 flipH="1">
            <a:off x="3190613" y="2903848"/>
            <a:ext cx="1" cy="525152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5807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373B790-295F-D9C9-ECAF-274F835713B8}"/>
              </a:ext>
            </a:extLst>
          </p:cNvPr>
          <p:cNvSpPr/>
          <p:nvPr/>
        </p:nvSpPr>
        <p:spPr>
          <a:xfrm>
            <a:off x="1683600" y="1280957"/>
            <a:ext cx="8633879" cy="32986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807674-F982-3E42-18FF-10D7E9818E10}"/>
              </a:ext>
            </a:extLst>
          </p:cNvPr>
          <p:cNvSpPr/>
          <p:nvPr/>
        </p:nvSpPr>
        <p:spPr>
          <a:xfrm>
            <a:off x="3993377" y="4394954"/>
            <a:ext cx="4014323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Security, Compliance, and Governance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504FE7B-F946-B4E5-5540-DCBF24C5EE02}"/>
              </a:ext>
            </a:extLst>
          </p:cNvPr>
          <p:cNvSpPr/>
          <p:nvPr/>
        </p:nvSpPr>
        <p:spPr>
          <a:xfrm>
            <a:off x="2120712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CD72E2D-BA5E-4BD0-251B-D709E59BA6AA}"/>
              </a:ext>
            </a:extLst>
          </p:cNvPr>
          <p:cNvSpPr/>
          <p:nvPr/>
        </p:nvSpPr>
        <p:spPr>
          <a:xfrm>
            <a:off x="5547360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IQ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00E6D5-7A21-352C-E165-8534FCB5922A}"/>
              </a:ext>
            </a:extLst>
          </p:cNvPr>
          <p:cNvSpPr/>
          <p:nvPr/>
        </p:nvSpPr>
        <p:spPr>
          <a:xfrm>
            <a:off x="3834036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FF2ADF-7ABC-2B4F-15DA-147A653CA05E}"/>
              </a:ext>
            </a:extLst>
          </p:cNvPr>
          <p:cNvSpPr/>
          <p:nvPr/>
        </p:nvSpPr>
        <p:spPr>
          <a:xfrm>
            <a:off x="7260684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911A12B-43CF-B03D-9C15-EC0C073F267F}"/>
              </a:ext>
            </a:extLst>
          </p:cNvPr>
          <p:cNvSpPr/>
          <p:nvPr/>
        </p:nvSpPr>
        <p:spPr>
          <a:xfrm>
            <a:off x="8974008" y="1629580"/>
            <a:ext cx="1097280" cy="10972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Local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9E82D6B-67A5-FB5E-86C8-E494906EBA72}"/>
              </a:ext>
            </a:extLst>
          </p:cNvPr>
          <p:cNvSpPr/>
          <p:nvPr/>
        </p:nvSpPr>
        <p:spPr>
          <a:xfrm>
            <a:off x="2120712" y="3075483"/>
            <a:ext cx="7950576" cy="521732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Control Plane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8A0002D-68DE-F2E3-7AE8-155E2AE2F385}"/>
              </a:ext>
            </a:extLst>
          </p:cNvPr>
          <p:cNvSpPr/>
          <p:nvPr/>
        </p:nvSpPr>
        <p:spPr>
          <a:xfrm>
            <a:off x="2120712" y="3903751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Cloud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75A5F02-D45E-7075-0A8E-DE47614A9350}"/>
              </a:ext>
            </a:extLst>
          </p:cNvPr>
          <p:cNvSpPr/>
          <p:nvPr/>
        </p:nvSpPr>
        <p:spPr>
          <a:xfrm>
            <a:off x="8974008" y="3900228"/>
            <a:ext cx="1097280" cy="369332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Edge</a:t>
            </a:r>
            <a:endParaRPr lang="en-US" i="1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59E589C-158C-8464-335B-8E038EB59CAF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 flipV="1">
            <a:off x="3217992" y="4084894"/>
            <a:ext cx="5756016" cy="352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30" name="Picture 6">
            <a:extLst>
              <a:ext uri="{FF2B5EF4-FFF2-40B4-BE49-F238E27FC236}">
                <a16:creationId xmlns:a16="http://schemas.microsoft.com/office/drawing/2014/main" id="{8D6EF364-A0CD-1E0B-E3D9-D7610B0BA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6452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84812A5-BC6A-1A0C-EC5F-293C5EE93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5C2BE62-4319-90A2-F77A-43FBCCB45A92}"/>
              </a:ext>
            </a:extLst>
          </p:cNvPr>
          <p:cNvSpPr txBox="1"/>
          <p:nvPr/>
        </p:nvSpPr>
        <p:spPr>
          <a:xfrm>
            <a:off x="169992" y="637414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Microsoft Foundry documentation | Microsoft Learn</a:t>
            </a:r>
            <a:endParaRPr lang="en-US" dirty="0"/>
          </a:p>
        </p:txBody>
      </p:sp>
      <p:pic>
        <p:nvPicPr>
          <p:cNvPr id="1036" name="Picture 12">
            <a:extLst>
              <a:ext uri="{FF2B5EF4-FFF2-40B4-BE49-F238E27FC236}">
                <a16:creationId xmlns:a16="http://schemas.microsoft.com/office/drawing/2014/main" id="{2C06DA4A-A0CA-3F11-FBF2-7675DC892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79748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BBE57FCA-085E-B37C-A718-A5115481F5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6424" y="1698160"/>
            <a:ext cx="685800" cy="685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DCAAB39-A56E-0DEE-C6B4-7E5D07F0EE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005387" y="3107749"/>
            <a:ext cx="457200" cy="4572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9F45F68D-2016-AE28-5FB4-29299FA7298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039776" y="1698160"/>
            <a:ext cx="685800" cy="68580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220717FD-C295-A74B-1DD9-B84C288BFAF5}"/>
              </a:ext>
            </a:extLst>
          </p:cNvPr>
          <p:cNvGrpSpPr/>
          <p:nvPr/>
        </p:nvGrpSpPr>
        <p:grpSpPr>
          <a:xfrm>
            <a:off x="4468860" y="550330"/>
            <a:ext cx="3254280" cy="685800"/>
            <a:chOff x="4558421" y="553105"/>
            <a:chExt cx="3254280" cy="68580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637A2444-6EF1-C6ED-5009-47471D8E1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58421" y="553105"/>
              <a:ext cx="750646" cy="68580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F52B155-53E9-CC0C-9CB8-93574EE705D4}"/>
                </a:ext>
              </a:extLst>
            </p:cNvPr>
            <p:cNvSpPr txBox="1"/>
            <p:nvPr/>
          </p:nvSpPr>
          <p:spPr>
            <a:xfrm>
              <a:off x="5309067" y="634395"/>
              <a:ext cx="250363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Microsoft Foundry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1902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D732446-F0F6-0ACF-647A-3BC33E7C3D60}"/>
              </a:ext>
            </a:extLst>
          </p:cNvPr>
          <p:cNvSpPr/>
          <p:nvPr/>
        </p:nvSpPr>
        <p:spPr>
          <a:xfrm>
            <a:off x="962567" y="281940"/>
            <a:ext cx="10552099" cy="6187439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Example Models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74ED1F-143F-F0C3-860B-D1D1A94B8038}"/>
              </a:ext>
            </a:extLst>
          </p:cNvPr>
          <p:cNvSpPr/>
          <p:nvPr/>
        </p:nvSpPr>
        <p:spPr>
          <a:xfrm>
            <a:off x="4778916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Anthropic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B92B3E5-A0FB-4F52-03FE-A3994B4A676E}"/>
              </a:ext>
            </a:extLst>
          </p:cNvPr>
          <p:cNvSpPr/>
          <p:nvPr/>
        </p:nvSpPr>
        <p:spPr>
          <a:xfrm>
            <a:off x="1553658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Azure OpenAI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E8A258-9DE7-F4AF-1449-211286E0D11E}"/>
              </a:ext>
            </a:extLst>
          </p:cNvPr>
          <p:cNvSpPr/>
          <p:nvPr/>
        </p:nvSpPr>
        <p:spPr>
          <a:xfrm>
            <a:off x="8004174" y="1188720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Microsoft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7ADCD0-E7DE-9B18-898C-7D55B783F694}"/>
              </a:ext>
            </a:extLst>
          </p:cNvPr>
          <p:cNvSpPr/>
          <p:nvPr/>
        </p:nvSpPr>
        <p:spPr>
          <a:xfrm>
            <a:off x="4778916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Mistral AI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55125DD-7A11-66B1-DDF5-ECD5D6C1F69B}"/>
              </a:ext>
            </a:extLst>
          </p:cNvPr>
          <p:cNvSpPr/>
          <p:nvPr/>
        </p:nvSpPr>
        <p:spPr>
          <a:xfrm>
            <a:off x="1553658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D8433B6-E222-52DE-3420-6BC81E4D9945}"/>
              </a:ext>
            </a:extLst>
          </p:cNvPr>
          <p:cNvSpPr/>
          <p:nvPr/>
        </p:nvSpPr>
        <p:spPr>
          <a:xfrm>
            <a:off x="8004174" y="3653789"/>
            <a:ext cx="2634168" cy="2335531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DeepSeek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2E5EA1C-587E-4A45-E606-F67DF515B407}"/>
              </a:ext>
            </a:extLst>
          </p:cNvPr>
          <p:cNvSpPr/>
          <p:nvPr/>
        </p:nvSpPr>
        <p:spPr>
          <a:xfrm>
            <a:off x="1790700" y="1882140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gpt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11D9861-1EDA-793B-0AA0-18BFA52ACCE4}"/>
              </a:ext>
            </a:extLst>
          </p:cNvPr>
          <p:cNvSpPr/>
          <p:nvPr/>
        </p:nvSpPr>
        <p:spPr>
          <a:xfrm>
            <a:off x="1790700" y="2380687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6BFDC7A-CED3-C375-66E6-683B9E52EDD1}"/>
              </a:ext>
            </a:extLst>
          </p:cNvPr>
          <p:cNvSpPr/>
          <p:nvPr/>
        </p:nvSpPr>
        <p:spPr>
          <a:xfrm>
            <a:off x="1790700" y="2879234"/>
            <a:ext cx="2111892" cy="322508"/>
          </a:xfrm>
          <a:prstGeom prst="roundRect">
            <a:avLst>
              <a:gd name="adj" fmla="val 50000"/>
            </a:avLst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sora</a:t>
            </a:r>
          </a:p>
        </p:txBody>
      </p:sp>
    </p:spTree>
    <p:extLst>
      <p:ext uri="{BB962C8B-B14F-4D97-AF65-F5344CB8AC3E}">
        <p14:creationId xmlns:p14="http://schemas.microsoft.com/office/powerpoint/2010/main" val="21457153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6409C35-8811-C77F-54C2-0BC7A96CBEB6}"/>
              </a:ext>
            </a:extLst>
          </p:cNvPr>
          <p:cNvSpPr txBox="1"/>
          <p:nvPr/>
        </p:nvSpPr>
        <p:spPr>
          <a:xfrm>
            <a:off x="563218" y="54309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https://carbon.now.sh/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291CA3-97E0-03B5-F1F6-61568AF37352}"/>
              </a:ext>
            </a:extLst>
          </p:cNvPr>
          <p:cNvSpPr txBox="1"/>
          <p:nvPr/>
        </p:nvSpPr>
        <p:spPr>
          <a:xfrm>
            <a:off x="563218" y="5990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Theme: One Light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A8CB0BC-0057-D455-D8D7-560FEF81B8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4917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322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50F46-8669-8B2D-7690-E25DD2E63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1641B2C3-3E54-CFD6-A752-0AC425AFFCA6}"/>
              </a:ext>
            </a:extLst>
          </p:cNvPr>
          <p:cNvSpPr/>
          <p:nvPr/>
        </p:nvSpPr>
        <p:spPr>
          <a:xfrm>
            <a:off x="8482515" y="2718435"/>
            <a:ext cx="247650" cy="24765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84DF503-3BC6-84E0-6FFB-3B32B203E1CB}"/>
              </a:ext>
            </a:extLst>
          </p:cNvPr>
          <p:cNvSpPr/>
          <p:nvPr/>
        </p:nvSpPr>
        <p:spPr>
          <a:xfrm>
            <a:off x="819950" y="617219"/>
            <a:ext cx="10552099" cy="1485901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Host (AI Application)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675B45-9C5A-DB3C-5478-881C7B1BD00F}"/>
              </a:ext>
            </a:extLst>
          </p:cNvPr>
          <p:cNvSpPr/>
          <p:nvPr/>
        </p:nvSpPr>
        <p:spPr>
          <a:xfrm>
            <a:off x="1553658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1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E726389-504C-D4C8-91C7-AF40D8E5E559}"/>
              </a:ext>
            </a:extLst>
          </p:cNvPr>
          <p:cNvSpPr/>
          <p:nvPr/>
        </p:nvSpPr>
        <p:spPr>
          <a:xfrm>
            <a:off x="4778915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FC3ABB-2BFB-C405-42FE-2ED02F4EA5C4}"/>
              </a:ext>
            </a:extLst>
          </p:cNvPr>
          <p:cNvSpPr/>
          <p:nvPr/>
        </p:nvSpPr>
        <p:spPr>
          <a:xfrm>
            <a:off x="8004174" y="1188721"/>
            <a:ext cx="2634168" cy="52578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Client 2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F4543D6-02D0-038C-12A8-DB37F7A273CE}"/>
              </a:ext>
            </a:extLst>
          </p:cNvPr>
          <p:cNvSpPr/>
          <p:nvPr/>
        </p:nvSpPr>
        <p:spPr>
          <a:xfrm>
            <a:off x="1553658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A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Local Filesystem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78DD490-0572-9417-BBD7-3FF5F8A9E3D8}"/>
              </a:ext>
            </a:extLst>
          </p:cNvPr>
          <p:cNvSpPr/>
          <p:nvPr/>
        </p:nvSpPr>
        <p:spPr>
          <a:xfrm>
            <a:off x="4778915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B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Database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4622E36-7A33-D496-1202-F85F8B8E5A75}"/>
              </a:ext>
            </a:extLst>
          </p:cNvPr>
          <p:cNvSpPr/>
          <p:nvPr/>
        </p:nvSpPr>
        <p:spPr>
          <a:xfrm>
            <a:off x="8004172" y="2718435"/>
            <a:ext cx="2634168" cy="79629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MCP Server C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Remote API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D059445-29E0-0BB8-E8BA-0013ADBA930C}"/>
              </a:ext>
            </a:extLst>
          </p:cNvPr>
          <p:cNvCxnSpPr>
            <a:cxnSpLocks/>
            <a:stCxn id="4" idx="2"/>
            <a:endCxn id="15" idx="0"/>
          </p:cNvCxnSpPr>
          <p:nvPr/>
        </p:nvCxnSpPr>
        <p:spPr>
          <a:xfrm>
            <a:off x="2870742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67BB8C0-5CB6-3A94-820B-418CFFCE9D38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6095999" y="1714501"/>
            <a:ext cx="0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FEBFCBE-6607-A910-FF7B-C1762F4684EF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 flipH="1">
            <a:off x="9321256" y="1714501"/>
            <a:ext cx="2" cy="100393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E37A76D-0F39-82E2-974B-B04FAACABE32}"/>
              </a:ext>
            </a:extLst>
          </p:cNvPr>
          <p:cNvCxnSpPr>
            <a:cxnSpLocks/>
            <a:stCxn id="9" idx="2"/>
            <a:endCxn id="31" idx="0"/>
          </p:cNvCxnSpPr>
          <p:nvPr/>
        </p:nvCxnSpPr>
        <p:spPr>
          <a:xfrm rot="16200000" flipH="1">
            <a:off x="6849202" y="961297"/>
            <a:ext cx="1003934" cy="2510341"/>
          </a:xfrm>
          <a:prstGeom prst="bentConnector3">
            <a:avLst>
              <a:gd name="adj1" fmla="val 61385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093A9C9-AC19-13DF-070B-47915CA16540}"/>
              </a:ext>
            </a:extLst>
          </p:cNvPr>
          <p:cNvSpPr/>
          <p:nvPr/>
        </p:nvSpPr>
        <p:spPr>
          <a:xfrm>
            <a:off x="2933281" y="49609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Retrieval Agents: Query analysis and planning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72BA75-F1E5-3FE4-8499-99490E2C15B3}"/>
              </a:ext>
            </a:extLst>
          </p:cNvPr>
          <p:cNvSpPr/>
          <p:nvPr/>
        </p:nvSpPr>
        <p:spPr>
          <a:xfrm>
            <a:off x="4805537" y="31143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Agent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854ADE8-F06B-9F26-91C2-3A9892E48DAE}"/>
              </a:ext>
            </a:extLst>
          </p:cNvPr>
          <p:cNvSpPr/>
          <p:nvPr/>
        </p:nvSpPr>
        <p:spPr>
          <a:xfrm>
            <a:off x="2933281" y="183999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CD6471B-9868-9E31-CDE5-11FB5406EC6D}"/>
              </a:ext>
            </a:extLst>
          </p:cNvPr>
          <p:cNvSpPr/>
          <p:nvPr/>
        </p:nvSpPr>
        <p:spPr>
          <a:xfrm>
            <a:off x="4805537" y="165532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Router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EBB63F4-ED09-21FE-8751-04E01AFF0D06}"/>
              </a:ext>
            </a:extLst>
          </p:cNvPr>
          <p:cNvSpPr/>
          <p:nvPr/>
        </p:nvSpPr>
        <p:spPr>
          <a:xfrm>
            <a:off x="2933281" y="3183887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4887E38-DD48-A03C-B28D-2E196FFD81D6}"/>
              </a:ext>
            </a:extLst>
          </p:cNvPr>
          <p:cNvSpPr/>
          <p:nvPr/>
        </p:nvSpPr>
        <p:spPr>
          <a:xfrm>
            <a:off x="4805537" y="2999221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Tool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61179975-6D14-9A73-F6AF-EB48BB4B01D5}"/>
              </a:ext>
            </a:extLst>
          </p:cNvPr>
          <p:cNvSpPr/>
          <p:nvPr/>
        </p:nvSpPr>
        <p:spPr>
          <a:xfrm>
            <a:off x="2933281" y="4527782"/>
            <a:ext cx="6325438" cy="974563"/>
          </a:xfrm>
          <a:prstGeom prst="roundRect">
            <a:avLst>
              <a:gd name="adj" fmla="val 5234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87A8A04-A0EB-0635-5D50-4C591A01FD85}"/>
              </a:ext>
            </a:extLst>
          </p:cNvPr>
          <p:cNvSpPr/>
          <p:nvPr/>
        </p:nvSpPr>
        <p:spPr>
          <a:xfrm>
            <a:off x="4805537" y="4343116"/>
            <a:ext cx="2580925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Results Layer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5DF5948-C971-4B39-A3BE-2153A8EEA636}"/>
              </a:ext>
            </a:extLst>
          </p:cNvPr>
          <p:cNvSpPr/>
          <p:nvPr/>
        </p:nvSpPr>
        <p:spPr>
          <a:xfrm>
            <a:off x="2933281" y="5687011"/>
            <a:ext cx="6325438" cy="369332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 Integration: Response Synthesis and Answering</a:t>
            </a:r>
            <a:endParaRPr lang="en-US" i="1" dirty="0">
              <a:solidFill>
                <a:schemeClr val="tx1"/>
              </a:solidFill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488841C4-B7C7-9477-522B-816A130D46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256614"/>
              </p:ext>
            </p:extLst>
          </p:nvPr>
        </p:nvGraphicFramePr>
        <p:xfrm>
          <a:off x="3122928" y="2099566"/>
          <a:ext cx="5946141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SQL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Patient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Vector DB: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JSON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ysClr val="windowText" lastClr="000000"/>
                          </a:solidFill>
                        </a:rPr>
                        <a:t>Web Search:</a:t>
                      </a:r>
                    </a:p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Latest Data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F7701C1B-CC03-0FF1-A238-E5DE6E423C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346733"/>
              </p:ext>
            </p:extLst>
          </p:nvPr>
        </p:nvGraphicFramePr>
        <p:xfrm>
          <a:off x="3122927" y="3552465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Cosmos DB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Tool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600B530-2DEF-F4FD-A3B5-2DF7667730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3539689"/>
              </p:ext>
            </p:extLst>
          </p:nvPr>
        </p:nvGraphicFramePr>
        <p:xfrm>
          <a:off x="3122926" y="4897114"/>
          <a:ext cx="5946141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2047">
                  <a:extLst>
                    <a:ext uri="{9D8B030D-6E8A-4147-A177-3AD203B41FA5}">
                      <a16:colId xmlns:a16="http://schemas.microsoft.com/office/drawing/2014/main" val="3167127258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1913894467"/>
                    </a:ext>
                  </a:extLst>
                </a:gridCol>
                <a:gridCol w="1982047">
                  <a:extLst>
                    <a:ext uri="{9D8B030D-6E8A-4147-A177-3AD203B41FA5}">
                      <a16:colId xmlns:a16="http://schemas.microsoft.com/office/drawing/2014/main" val="3041787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SQL DB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Vector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Web search results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1223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8000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09FDC59-6067-4502-1360-F42554AD87D3}"/>
              </a:ext>
            </a:extLst>
          </p:cNvPr>
          <p:cNvSpPr/>
          <p:nvPr/>
        </p:nvSpPr>
        <p:spPr>
          <a:xfrm>
            <a:off x="4046220" y="3398520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Search Public Information on the Web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00FF13-E208-2C00-EB7C-BCBA48F554BD}"/>
              </a:ext>
            </a:extLst>
          </p:cNvPr>
          <p:cNvSpPr/>
          <p:nvPr/>
        </p:nvSpPr>
        <p:spPr>
          <a:xfrm>
            <a:off x="4046220" y="2625554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Retrieve Stock Quotes from an API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952C55-0F41-C8E8-4833-F5F86239B3AD}"/>
              </a:ext>
            </a:extLst>
          </p:cNvPr>
          <p:cNvSpPr/>
          <p:nvPr/>
        </p:nvSpPr>
        <p:spPr>
          <a:xfrm>
            <a:off x="4046220" y="1855003"/>
            <a:ext cx="4282440" cy="457200"/>
          </a:xfrm>
          <a:prstGeom prst="roundRect">
            <a:avLst/>
          </a:prstGeom>
          <a:solidFill>
            <a:srgbClr val="B2D4E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Reference Internal Report Files</a:t>
            </a:r>
            <a:endParaRPr lang="en-US" i="1" dirty="0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00226F7-C833-1B1C-B967-7291F64244CC}"/>
              </a:ext>
            </a:extLst>
          </p:cNvPr>
          <p:cNvSpPr/>
          <p:nvPr/>
        </p:nvSpPr>
        <p:spPr>
          <a:xfrm>
            <a:off x="1507938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Planning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93C6EBF-0FE7-EC6E-5B5C-7AA41F6606DD}"/>
              </a:ext>
            </a:extLst>
          </p:cNvPr>
          <p:cNvSpPr/>
          <p:nvPr/>
        </p:nvSpPr>
        <p:spPr>
          <a:xfrm>
            <a:off x="9837420" y="2374095"/>
            <a:ext cx="1913442" cy="960119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Language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Model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0FF9049-A038-5CD7-B5B6-A7A955E2687C}"/>
              </a:ext>
            </a:extLst>
          </p:cNvPr>
          <p:cNvCxnSpPr>
            <a:cxnSpLocks/>
            <a:stCxn id="5" idx="3"/>
            <a:endCxn id="3" idx="1"/>
          </p:cNvCxnSpPr>
          <p:nvPr/>
        </p:nvCxnSpPr>
        <p:spPr>
          <a:xfrm flipV="1">
            <a:off x="3421380" y="2854154"/>
            <a:ext cx="62484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C10FC99-8029-AE13-0A3B-1F87064360AB}"/>
              </a:ext>
            </a:extLst>
          </p:cNvPr>
          <p:cNvCxnSpPr>
            <a:cxnSpLocks/>
            <a:stCxn id="44" idx="3"/>
            <a:endCxn id="6" idx="1"/>
          </p:cNvCxnSpPr>
          <p:nvPr/>
        </p:nvCxnSpPr>
        <p:spPr>
          <a:xfrm>
            <a:off x="9189720" y="2854155"/>
            <a:ext cx="647700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23DA4FB-7AE1-4EE4-8DD5-321F7F7C7F33}"/>
              </a:ext>
            </a:extLst>
          </p:cNvPr>
          <p:cNvSpPr/>
          <p:nvPr/>
        </p:nvSpPr>
        <p:spPr>
          <a:xfrm>
            <a:off x="189267" y="2619607"/>
            <a:ext cx="915222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Prompt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42D3144-4FA8-07EA-6898-D7B2C45E010A}"/>
              </a:ext>
            </a:extLst>
          </p:cNvPr>
          <p:cNvCxnSpPr>
            <a:cxnSpLocks/>
            <a:stCxn id="15" idx="3"/>
            <a:endCxn id="5" idx="1"/>
          </p:cNvCxnSpPr>
          <p:nvPr/>
        </p:nvCxnSpPr>
        <p:spPr>
          <a:xfrm>
            <a:off x="1104489" y="2854155"/>
            <a:ext cx="403449" cy="0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F48D9D9-8BAB-3118-5B91-13BAA46C23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flipV="1">
            <a:off x="3421380" y="2083603"/>
            <a:ext cx="624840" cy="77055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217AA7E3-1E41-FB8C-7F66-A5758B29A028}"/>
              </a:ext>
            </a:extLst>
          </p:cNvPr>
          <p:cNvCxnSpPr>
            <a:cxnSpLocks/>
            <a:stCxn id="5" idx="3"/>
            <a:endCxn id="2" idx="1"/>
          </p:cNvCxnSpPr>
          <p:nvPr/>
        </p:nvCxnSpPr>
        <p:spPr>
          <a:xfrm>
            <a:off x="3421380" y="2854155"/>
            <a:ext cx="624840" cy="7729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8E95763-BD68-DEF9-F942-CCC8B336544E}"/>
              </a:ext>
            </a:extLst>
          </p:cNvPr>
          <p:cNvSpPr/>
          <p:nvPr/>
        </p:nvSpPr>
        <p:spPr>
          <a:xfrm>
            <a:off x="8732520" y="1852591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B899F5AF-E80C-3452-008E-8E821AEFA864}"/>
              </a:ext>
            </a:extLst>
          </p:cNvPr>
          <p:cNvCxnSpPr>
            <a:cxnSpLocks/>
            <a:stCxn id="4" idx="3"/>
            <a:endCxn id="25" idx="1"/>
          </p:cNvCxnSpPr>
          <p:nvPr/>
        </p:nvCxnSpPr>
        <p:spPr>
          <a:xfrm flipV="1">
            <a:off x="8328660" y="2081191"/>
            <a:ext cx="403860" cy="241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3F66FD98-C347-7EA9-DC36-7FDBB97B4248}"/>
              </a:ext>
            </a:extLst>
          </p:cNvPr>
          <p:cNvSpPr/>
          <p:nvPr/>
        </p:nvSpPr>
        <p:spPr>
          <a:xfrm>
            <a:off x="8732520" y="2625555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791A27B-2AA1-8E05-2231-C99FE09DCBEB}"/>
              </a:ext>
            </a:extLst>
          </p:cNvPr>
          <p:cNvSpPr/>
          <p:nvPr/>
        </p:nvSpPr>
        <p:spPr>
          <a:xfrm>
            <a:off x="8732520" y="3398519"/>
            <a:ext cx="457200" cy="457200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2D77B26-2C1F-3022-9B0B-3736BC5CF8AA}"/>
              </a:ext>
            </a:extLst>
          </p:cNvPr>
          <p:cNvCxnSpPr>
            <a:cxnSpLocks/>
            <a:stCxn id="3" idx="3"/>
            <a:endCxn id="44" idx="1"/>
          </p:cNvCxnSpPr>
          <p:nvPr/>
        </p:nvCxnSpPr>
        <p:spPr>
          <a:xfrm>
            <a:off x="8328660" y="2854154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A99ECFB6-8E63-4F62-C5D3-37BC5BB43934}"/>
              </a:ext>
            </a:extLst>
          </p:cNvPr>
          <p:cNvCxnSpPr>
            <a:cxnSpLocks/>
            <a:stCxn id="2" idx="3"/>
            <a:endCxn id="46" idx="1"/>
          </p:cNvCxnSpPr>
          <p:nvPr/>
        </p:nvCxnSpPr>
        <p:spPr>
          <a:xfrm flipV="1">
            <a:off x="8328660" y="3627119"/>
            <a:ext cx="40386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DDB500F1-F165-AABE-6725-11E4ED79023E}"/>
              </a:ext>
            </a:extLst>
          </p:cNvPr>
          <p:cNvCxnSpPr>
            <a:cxnSpLocks/>
            <a:stCxn id="25" idx="3"/>
            <a:endCxn id="6" idx="1"/>
          </p:cNvCxnSpPr>
          <p:nvPr/>
        </p:nvCxnSpPr>
        <p:spPr>
          <a:xfrm>
            <a:off x="9189720" y="2081191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28AC6A5D-0A01-5370-996D-AF8698A1082D}"/>
              </a:ext>
            </a:extLst>
          </p:cNvPr>
          <p:cNvCxnSpPr>
            <a:cxnSpLocks/>
            <a:stCxn id="46" idx="3"/>
            <a:endCxn id="6" idx="1"/>
          </p:cNvCxnSpPr>
          <p:nvPr/>
        </p:nvCxnSpPr>
        <p:spPr>
          <a:xfrm flipV="1">
            <a:off x="9189720" y="2854155"/>
            <a:ext cx="647700" cy="77296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Graphic 66" descr="Web design with solid fill">
            <a:extLst>
              <a:ext uri="{FF2B5EF4-FFF2-40B4-BE49-F238E27FC236}">
                <a16:creationId xmlns:a16="http://schemas.microsoft.com/office/drawing/2014/main" id="{5D8BB564-5BA8-868D-2AB7-35E0D3AE65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55380" y="2648413"/>
            <a:ext cx="411480" cy="411480"/>
          </a:xfrm>
          <a:prstGeom prst="rect">
            <a:avLst/>
          </a:prstGeom>
        </p:spPr>
      </p:pic>
      <p:pic>
        <p:nvPicPr>
          <p:cNvPr id="71" name="Graphic 70" descr="World with solid fill">
            <a:extLst>
              <a:ext uri="{FF2B5EF4-FFF2-40B4-BE49-F238E27FC236}">
                <a16:creationId xmlns:a16="http://schemas.microsoft.com/office/drawing/2014/main" id="{0EF50C39-FA5F-96A6-2DE6-53C76B029F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5380" y="3421379"/>
            <a:ext cx="411480" cy="411480"/>
          </a:xfrm>
          <a:prstGeom prst="rect">
            <a:avLst/>
          </a:prstGeom>
        </p:spPr>
      </p:pic>
      <p:pic>
        <p:nvPicPr>
          <p:cNvPr id="73" name="Graphic 72" descr="Database with solid fill">
            <a:extLst>
              <a:ext uri="{FF2B5EF4-FFF2-40B4-BE49-F238E27FC236}">
                <a16:creationId xmlns:a16="http://schemas.microsoft.com/office/drawing/2014/main" id="{20B0889E-3ACA-9DCA-25FE-C1F9B73F732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55380" y="1875451"/>
            <a:ext cx="411480" cy="411480"/>
          </a:xfrm>
          <a:prstGeom prst="rect">
            <a:avLst/>
          </a:prstGeom>
        </p:spPr>
      </p:pic>
      <p:pic>
        <p:nvPicPr>
          <p:cNvPr id="75" name="Graphic 74" descr="Gears with solid fill">
            <a:extLst>
              <a:ext uri="{FF2B5EF4-FFF2-40B4-BE49-F238E27FC236}">
                <a16:creationId xmlns:a16="http://schemas.microsoft.com/office/drawing/2014/main" id="{AFA7CC75-0D4E-9273-3BC2-179536E5EC2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26048" y="2648413"/>
            <a:ext cx="411480" cy="411480"/>
          </a:xfrm>
          <a:prstGeom prst="rect">
            <a:avLst/>
          </a:prstGeom>
        </p:spPr>
      </p:pic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3492D89A-8D12-E69E-613E-246E45DCD83F}"/>
              </a:ext>
            </a:extLst>
          </p:cNvPr>
          <p:cNvSpPr/>
          <p:nvPr/>
        </p:nvSpPr>
        <p:spPr>
          <a:xfrm>
            <a:off x="10545258" y="3627118"/>
            <a:ext cx="1205604" cy="469096"/>
          </a:xfrm>
          <a:prstGeom prst="roundRect">
            <a:avLst/>
          </a:prstGeom>
          <a:solidFill>
            <a:srgbClr val="E5F1F8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Response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1A734903-BE53-2153-B1BE-7817395A6ACC}"/>
              </a:ext>
            </a:extLst>
          </p:cNvPr>
          <p:cNvCxnSpPr>
            <a:cxnSpLocks/>
            <a:endCxn id="76" idx="0"/>
          </p:cNvCxnSpPr>
          <p:nvPr/>
        </p:nvCxnSpPr>
        <p:spPr>
          <a:xfrm>
            <a:off x="11148060" y="3334214"/>
            <a:ext cx="0" cy="292904"/>
          </a:xfrm>
          <a:prstGeom prst="straightConnector1">
            <a:avLst/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4D371B40-23D5-3632-64F0-3A5DAC685C2C}"/>
              </a:ext>
            </a:extLst>
          </p:cNvPr>
          <p:cNvCxnSpPr>
            <a:cxnSpLocks/>
            <a:endCxn id="5" idx="2"/>
          </p:cNvCxnSpPr>
          <p:nvPr/>
        </p:nvCxnSpPr>
        <p:spPr>
          <a:xfrm rot="5400000">
            <a:off x="6337265" y="-538391"/>
            <a:ext cx="12700" cy="7745211"/>
          </a:xfrm>
          <a:prstGeom prst="bentConnector3">
            <a:avLst>
              <a:gd name="adj1" fmla="val 6060000"/>
            </a:avLst>
          </a:prstGeom>
          <a:ln>
            <a:solidFill>
              <a:schemeClr val="tx1"/>
            </a:solidFill>
            <a:prstDash val="sysDash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0175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D8E52CD-5961-A7C1-3607-A00CDD477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812"/>
            <a:ext cx="12192000" cy="6810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0743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81805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A42420-8E3C-777D-C41A-540741D91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451"/>
            <a:ext cx="12192000" cy="6843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9943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F0DECF4-D97F-50C4-2BC6-FF6779833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498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D578BC-5D7D-5C4C-8F29-72399D893A54}"/>
              </a:ext>
            </a:extLst>
          </p:cNvPr>
          <p:cNvSpPr txBox="1"/>
          <p:nvPr/>
        </p:nvSpPr>
        <p:spPr>
          <a:xfrm>
            <a:off x="5920557" y="385224"/>
            <a:ext cx="60971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Style Guide: </a:t>
            </a:r>
            <a:r>
              <a:rPr lang="en-US" dirty="0">
                <a:hlinkClick r:id="rId3"/>
              </a:rPr>
              <a:t>https://oreillymedia.github.io/production-resources/illustrations/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738677-70D9-CDFB-3CCB-A0A1A69FA2EC}"/>
              </a:ext>
            </a:extLst>
          </p:cNvPr>
          <p:cNvSpPr txBox="1"/>
          <p:nvPr/>
        </p:nvSpPr>
        <p:spPr>
          <a:xfrm>
            <a:off x="7173532" y="1822360"/>
            <a:ext cx="3167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uardian Sans Cond Medium" panose="020B0603030202060203" pitchFamily="34" charset="0"/>
              </a:rPr>
              <a:t>Fonts: Guardian Sans Cond Medium </a:t>
            </a:r>
          </a:p>
        </p:txBody>
      </p:sp>
    </p:spTree>
    <p:extLst>
      <p:ext uri="{BB962C8B-B14F-4D97-AF65-F5344CB8AC3E}">
        <p14:creationId xmlns:p14="http://schemas.microsoft.com/office/powerpoint/2010/main" val="16502681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O'Reilly Media">
      <a:majorFont>
        <a:latin typeface="Guardian Sans Cond Medium"/>
        <a:ea typeface=""/>
        <a:cs typeface=""/>
      </a:majorFont>
      <a:minorFont>
        <a:latin typeface="Guardian Sans Cond Regular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4335</TotalTime>
  <Words>345</Words>
  <Application>Microsoft Office PowerPoint</Application>
  <PresentationFormat>Widescreen</PresentationFormat>
  <Paragraphs>97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Arial</vt:lpstr>
      <vt:lpstr>Guardian Sans Cond Medium</vt:lpstr>
      <vt:lpstr>Guardian Sans Cond Regular</vt:lpstr>
      <vt:lpstr>Office Theme</vt:lpstr>
      <vt:lpstr>Building Agentic Solutions with Microsoft Foundry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Colby Ford</dc:creator>
  <cp:lastModifiedBy>Colby Ford</cp:lastModifiedBy>
  <cp:revision>10</cp:revision>
  <dcterms:created xsi:type="dcterms:W3CDTF">2026-01-26T17:17:07Z</dcterms:created>
  <dcterms:modified xsi:type="dcterms:W3CDTF">2026-02-21T19:49:55Z</dcterms:modified>
</cp:coreProperties>
</file>