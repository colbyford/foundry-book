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8037C5F-3BC8-4326-882B-11E8D97D6574}">
          <p14:sldIdLst>
            <p14:sldId id="258"/>
          </p14:sldIdLst>
        </p14:section>
        <p14:section name="Chapter 1" id="{4FFEF0E2-5833-4089-8860-99F4B2E194C0}">
          <p14:sldIdLst>
            <p14:sldId id="256"/>
            <p14:sldId id="259"/>
          </p14:sldIdLst>
        </p14:section>
        <p14:section name="Examples" id="{2CEADF37-2C1D-4DE6-BB08-5D838E707A13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D4EB"/>
    <a:srgbClr val="B0D3EA"/>
    <a:srgbClr val="E5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81072" autoAdjust="0"/>
  </p:normalViewPr>
  <p:slideViewPr>
    <p:cSldViewPr snapToGrid="0">
      <p:cViewPr varScale="1">
        <p:scale>
          <a:sx n="126" d="100"/>
          <a:sy n="126" d="100"/>
        </p:scale>
        <p:origin x="852" y="126"/>
      </p:cViewPr>
      <p:guideLst/>
    </p:cSldViewPr>
  </p:slideViewPr>
  <p:notesTextViewPr>
    <p:cViewPr>
      <p:scale>
        <a:sx n="1" d="1"/>
        <a:sy n="1" d="1"/>
      </p:scale>
      <p:origin x="0" y="-73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BB0E5-6D8D-4DEE-B75F-67010CF2307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49D2C-39EA-4769-BF7E-31FE52D82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1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i-services/multi-service-resource?toc=%2Fazure%2Fai-foundry%2Ftoc.json&amp;bc=%2Fazure%2Fai-foundry%2Fbreadcrumb%2Ftoc.json&amp;view=foundry-classic&amp;preserve-view=true&amp;pivots=azporta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Create a Foundry resource - Foundry Tools | Microsoft Learn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49D2C-39EA-4769-BF7E-31FE52D820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52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Text:</a:t>
            </a:r>
          </a:p>
          <a:p>
            <a:endParaRPr lang="en-US" dirty="0"/>
          </a:p>
          <a:p>
            <a:r>
              <a:rPr lang="en-US" dirty="0"/>
              <a:t>colby@TUPLE-01:~$ </a:t>
            </a:r>
            <a:r>
              <a:rPr lang="en-US" dirty="0" err="1"/>
              <a:t>az</a:t>
            </a:r>
            <a:r>
              <a:rPr lang="en-US" dirty="0"/>
              <a:t> login</a:t>
            </a:r>
          </a:p>
          <a:p>
            <a:endParaRPr lang="en-US" dirty="0"/>
          </a:p>
          <a:p>
            <a:r>
              <a:rPr lang="en-US" dirty="0"/>
              <a:t>Retrieving tenants and subscriptions for the selection...</a:t>
            </a:r>
          </a:p>
          <a:p>
            <a:endParaRPr lang="en-US" dirty="0"/>
          </a:p>
          <a:p>
            <a:r>
              <a:rPr lang="en-US" dirty="0"/>
              <a:t>[Tenant and subscription selection]</a:t>
            </a:r>
          </a:p>
          <a:p>
            <a:endParaRPr lang="en-US" dirty="0"/>
          </a:p>
          <a:p>
            <a:r>
              <a:rPr lang="en-US" dirty="0"/>
              <a:t>No     Subscription name            Subscription ID                       Tenant</a:t>
            </a:r>
          </a:p>
          <a:p>
            <a:r>
              <a:rPr lang="en-US" dirty="0"/>
              <a:t>-----  ---------------------------  ------------------------------------  ----------------------</a:t>
            </a:r>
          </a:p>
          <a:p>
            <a:r>
              <a:rPr lang="en-US" dirty="0"/>
              <a:t>[1]    abc-prod-001                 d3c301c7-a8a5-417a-999b-71c166ab9ea1  Acme Inc Default Directory</a:t>
            </a:r>
          </a:p>
          <a:p>
            <a:r>
              <a:rPr lang="en-US" dirty="0"/>
              <a:t>[2]    abc-dev-001                  6283eb64-e04b-4c65-8360-e29ddf7ced32  Acme Inc Default Directory</a:t>
            </a:r>
          </a:p>
          <a:p>
            <a:r>
              <a:rPr lang="en-US" dirty="0"/>
              <a:t>[3]    </a:t>
            </a:r>
            <a:r>
              <a:rPr lang="en-US" dirty="0" err="1"/>
              <a:t>dev_subscription</a:t>
            </a:r>
            <a:r>
              <a:rPr lang="en-US" dirty="0"/>
              <a:t>             21f436e1-bf10-4e17-9482-701611ba96e3  &lt;Tuple&gt;</a:t>
            </a:r>
          </a:p>
          <a:p>
            <a:r>
              <a:rPr lang="en-US" dirty="0"/>
              <a:t>[4]    Microsoft Azure Sponsorship  716f8ad9-4f2d-48da-a905-eb77071da449  &lt;Tuple&gt;</a:t>
            </a:r>
          </a:p>
          <a:p>
            <a:r>
              <a:rPr lang="en-US" dirty="0"/>
              <a:t>[5] *  Microsoft Azure Sponsorship  bedf96c9-5241-45cc-b696-dcc91ebc089a  &lt;Tuple&gt;</a:t>
            </a:r>
          </a:p>
          <a:p>
            <a:endParaRPr lang="en-US" dirty="0"/>
          </a:p>
          <a:p>
            <a:r>
              <a:rPr lang="en-US" dirty="0"/>
              <a:t>The default is marked with an *; the default tenant is '&lt;Tuple&gt;' and subscription is 'Microsoft Azure Sponsorship' (bedf96c9-5241-45cc-b696-dcc91ebc089a).</a:t>
            </a:r>
          </a:p>
          <a:p>
            <a:endParaRPr lang="en-US" dirty="0"/>
          </a:p>
          <a:p>
            <a:r>
              <a:rPr lang="en-US" dirty="0"/>
              <a:t>Select a subscription and tenant (Type a number or Enter for no changes):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49D2C-39EA-4769-BF7E-31FE52D820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69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3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0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9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6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6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0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7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4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5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12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C5C40-2055-49AF-9028-5DA79E75E39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5D691-0F6E-4F63-82F3-A0E2F2A17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9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reillymedia.github.io/production-resources/illustration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6990-D6F8-D6D2-CC22-6BD94E95B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Agentic Solutions with Microsoft Foundry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07718-4A92-1A92-1E11-DEFC8507A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Illustration Figures</a:t>
            </a:r>
          </a:p>
        </p:txBody>
      </p:sp>
    </p:spTree>
    <p:extLst>
      <p:ext uri="{BB962C8B-B14F-4D97-AF65-F5344CB8AC3E}">
        <p14:creationId xmlns:p14="http://schemas.microsoft.com/office/powerpoint/2010/main" val="388624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agram showing Foundry resource containing multiple projects, each with deployments and connections.">
            <a:extLst>
              <a:ext uri="{FF2B5EF4-FFF2-40B4-BE49-F238E27FC236}">
                <a16:creationId xmlns:a16="http://schemas.microsoft.com/office/drawing/2014/main" id="{12EEA84E-8776-00EF-5D97-05E8737B6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866" y="3166424"/>
            <a:ext cx="55245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39DD77-409D-94ED-8A62-6F53CBB88ADD}"/>
              </a:ext>
            </a:extLst>
          </p:cNvPr>
          <p:cNvSpPr/>
          <p:nvPr/>
        </p:nvSpPr>
        <p:spPr>
          <a:xfrm>
            <a:off x="962568" y="732317"/>
            <a:ext cx="4456090" cy="2434107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Foundry Resource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AF0893-8AEC-1DBB-B036-2949BA0795A0}"/>
              </a:ext>
            </a:extLst>
          </p:cNvPr>
          <p:cNvSpPr/>
          <p:nvPr/>
        </p:nvSpPr>
        <p:spPr>
          <a:xfrm>
            <a:off x="2410311" y="1494888"/>
            <a:ext cx="1080042" cy="694520"/>
          </a:xfrm>
          <a:prstGeom prst="roundRect">
            <a:avLst/>
          </a:prstGeom>
          <a:solidFill>
            <a:srgbClr val="E5F1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E630FB-2D59-D6DB-B847-29F7E0317AFA}"/>
              </a:ext>
            </a:extLst>
          </p:cNvPr>
          <p:cNvSpPr/>
          <p:nvPr/>
        </p:nvSpPr>
        <p:spPr>
          <a:xfrm>
            <a:off x="1183452" y="1494888"/>
            <a:ext cx="1080042" cy="694520"/>
          </a:xfrm>
          <a:prstGeom prst="roundRect">
            <a:avLst/>
          </a:prstGeom>
          <a:solidFill>
            <a:srgbClr val="E5F1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9103F9-368F-E4D0-C17C-BF0F1C74D31A}"/>
              </a:ext>
            </a:extLst>
          </p:cNvPr>
          <p:cNvSpPr/>
          <p:nvPr/>
        </p:nvSpPr>
        <p:spPr>
          <a:xfrm>
            <a:off x="4117733" y="1494888"/>
            <a:ext cx="1080042" cy="694520"/>
          </a:xfrm>
          <a:prstGeom prst="roundRect">
            <a:avLst/>
          </a:prstGeom>
          <a:solidFill>
            <a:srgbClr val="B2D4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92B776-2029-F35D-E69F-FB22F1454014}"/>
              </a:ext>
            </a:extLst>
          </p:cNvPr>
          <p:cNvSpPr txBox="1"/>
          <p:nvPr/>
        </p:nvSpPr>
        <p:spPr>
          <a:xfrm>
            <a:off x="3637170" y="1657482"/>
            <a:ext cx="33374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CF4078-AF58-188A-DF99-E08A01A42DFE}"/>
              </a:ext>
            </a:extLst>
          </p:cNvPr>
          <p:cNvSpPr/>
          <p:nvPr/>
        </p:nvSpPr>
        <p:spPr>
          <a:xfrm>
            <a:off x="1183452" y="2534516"/>
            <a:ext cx="4014323" cy="369332"/>
          </a:xfrm>
          <a:prstGeom prst="roundRect">
            <a:avLst/>
          </a:prstGeom>
          <a:solidFill>
            <a:srgbClr val="B2D4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Security + Governance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C89E23-8123-0234-D0F1-F39C80D61B78}"/>
              </a:ext>
            </a:extLst>
          </p:cNvPr>
          <p:cNvCxnSpPr>
            <a:stCxn id="8" idx="3"/>
          </p:cNvCxnSpPr>
          <p:nvPr/>
        </p:nvCxnSpPr>
        <p:spPr>
          <a:xfrm>
            <a:off x="5197775" y="1842148"/>
            <a:ext cx="59127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373EA2-E891-EE8A-A28C-9322032A5F17}"/>
              </a:ext>
            </a:extLst>
          </p:cNvPr>
          <p:cNvSpPr txBox="1"/>
          <p:nvPr/>
        </p:nvSpPr>
        <p:spPr>
          <a:xfrm>
            <a:off x="5825155" y="1518982"/>
            <a:ext cx="201350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Configure Identities, RBAC, Monitoring, etc.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1F8B3-1DDB-194B-0435-0F2F79CBA773}"/>
              </a:ext>
            </a:extLst>
          </p:cNvPr>
          <p:cNvSpPr txBox="1"/>
          <p:nvPr/>
        </p:nvSpPr>
        <p:spPr>
          <a:xfrm>
            <a:off x="2183860" y="3429000"/>
            <a:ext cx="201350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Connect to Tools and Knowledge bases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3FAC2D-AAEE-099D-6EBF-C4AE11D1CF5E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flipH="1">
            <a:off x="3190613" y="2903848"/>
            <a:ext cx="1" cy="525152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8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409C35-8811-C77F-54C2-0BC7A96CBEB6}"/>
              </a:ext>
            </a:extLst>
          </p:cNvPr>
          <p:cNvSpPr txBox="1"/>
          <p:nvPr/>
        </p:nvSpPr>
        <p:spPr>
          <a:xfrm>
            <a:off x="563218" y="54309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https://carbon.now.sh/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91CA3-97E0-03B5-F1F6-61568AF37352}"/>
              </a:ext>
            </a:extLst>
          </p:cNvPr>
          <p:cNvSpPr txBox="1"/>
          <p:nvPr/>
        </p:nvSpPr>
        <p:spPr>
          <a:xfrm>
            <a:off x="563218" y="59906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Theme: One Light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8CB0BC-0057-D455-D8D7-560FEF81B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91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2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0DECF4-D97F-50C4-2BC6-FF6779833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49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D578BC-5D7D-5C4C-8F29-72399D893A54}"/>
              </a:ext>
            </a:extLst>
          </p:cNvPr>
          <p:cNvSpPr txBox="1"/>
          <p:nvPr/>
        </p:nvSpPr>
        <p:spPr>
          <a:xfrm>
            <a:off x="5920557" y="385224"/>
            <a:ext cx="609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Style Guide: </a:t>
            </a:r>
            <a:r>
              <a:rPr lang="en-US" dirty="0">
                <a:hlinkClick r:id="rId3"/>
              </a:rPr>
              <a:t>https://oreillymedia.github.io/production-resources/illustrations/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38677-70D9-CDFB-3CCB-A0A1A69FA2EC}"/>
              </a:ext>
            </a:extLst>
          </p:cNvPr>
          <p:cNvSpPr txBox="1"/>
          <p:nvPr/>
        </p:nvSpPr>
        <p:spPr>
          <a:xfrm>
            <a:off x="7173532" y="1822360"/>
            <a:ext cx="31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ardian Sans Cond Medium" panose="020B0603030202060203" pitchFamily="34" charset="0"/>
              </a:rPr>
              <a:t>Fonts: Guardian Sans Cond Medium </a:t>
            </a:r>
          </a:p>
        </p:txBody>
      </p:sp>
    </p:spTree>
    <p:extLst>
      <p:ext uri="{BB962C8B-B14F-4D97-AF65-F5344CB8AC3E}">
        <p14:creationId xmlns:p14="http://schemas.microsoft.com/office/powerpoint/2010/main" val="1650268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'Reilly Media">
      <a:majorFont>
        <a:latin typeface="Guardian Sans Cond Medium"/>
        <a:ea typeface=""/>
        <a:cs typeface=""/>
      </a:majorFont>
      <a:minorFont>
        <a:latin typeface="Guardian Sans Cond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202</Words>
  <Application>Microsoft Office PowerPoint</Application>
  <PresentationFormat>Widescreen</PresentationFormat>
  <Paragraphs>39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Guardian Sans Cond Medium</vt:lpstr>
      <vt:lpstr>Guardian Sans Cond Regular</vt:lpstr>
      <vt:lpstr>Office Theme</vt:lpstr>
      <vt:lpstr>Building Agentic Solutions with Microsoft Foundry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2</cp:revision>
  <dcterms:created xsi:type="dcterms:W3CDTF">2026-01-26T17:17:07Z</dcterms:created>
  <dcterms:modified xsi:type="dcterms:W3CDTF">2026-01-26T22:04:41Z</dcterms:modified>
</cp:coreProperties>
</file>