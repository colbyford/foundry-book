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8" r:id="rId2"/>
    <p:sldId id="256" r:id="rId3"/>
    <p:sldId id="263" r:id="rId4"/>
    <p:sldId id="260" r:id="rId5"/>
    <p:sldId id="259" r:id="rId6"/>
    <p:sldId id="261" r:id="rId7"/>
    <p:sldId id="268" r:id="rId8"/>
    <p:sldId id="275" r:id="rId9"/>
    <p:sldId id="262" r:id="rId10"/>
    <p:sldId id="279" r:id="rId11"/>
    <p:sldId id="278" r:id="rId12"/>
    <p:sldId id="277" r:id="rId13"/>
    <p:sldId id="264" r:id="rId14"/>
    <p:sldId id="265" r:id="rId15"/>
    <p:sldId id="267" r:id="rId16"/>
    <p:sldId id="269" r:id="rId17"/>
    <p:sldId id="274" r:id="rId18"/>
    <p:sldId id="270" r:id="rId19"/>
    <p:sldId id="271" r:id="rId20"/>
    <p:sldId id="272" r:id="rId21"/>
    <p:sldId id="273" r:id="rId22"/>
    <p:sldId id="25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60"/>
            <p14:sldId id="259"/>
          </p14:sldIdLst>
        </p14:section>
        <p14:section name="Agent Deployment" id="{D332562B-3ADB-4CCE-A1B8-55DF9B490E3B}">
          <p14:sldIdLst>
            <p14:sldId id="261"/>
            <p14:sldId id="268"/>
            <p14:sldId id="275"/>
          </p14:sldIdLst>
        </p14:section>
        <p14:section name="Knowledge Bases" id="{06E034E2-AFC7-4A28-B1B0-B4E2903C9A55}">
          <p14:sldIdLst>
            <p14:sldId id="262"/>
            <p14:sldId id="279"/>
            <p14:sldId id="278"/>
            <p14:sldId id="277"/>
            <p14:sldId id="264"/>
          </p14:sldIdLst>
        </p14:section>
        <p14:section name="Fine-Tuning" id="{0654DAA0-6DAF-4D93-901D-DE1F25DE20A5}">
          <p14:sldIdLst>
            <p14:sldId id="265"/>
            <p14:sldId id="267"/>
          </p14:sldIdLst>
        </p14:section>
        <p14:section name="Governance" id="{038CE4AA-62CD-47A2-8E40-F6F0DFCCB854}">
          <p14:sldIdLst>
            <p14:sldId id="269"/>
            <p14:sldId id="274"/>
            <p14:sldId id="270"/>
          </p14:sldIdLst>
        </p14:section>
        <p14:section name="Edge Deployment" id="{751363D7-BD1F-4E68-8906-25A659F6AF95}">
          <p14:sldIdLst>
            <p14:sldId id="271"/>
            <p14:sldId id="272"/>
            <p14:sldId id="273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B"/>
    <a:srgbClr val="B0D3EA"/>
    <a:srgbClr val="E5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2044" autoAdjust="0"/>
  </p:normalViewPr>
  <p:slideViewPr>
    <p:cSldViewPr snapToGrid="0">
      <p:cViewPr varScale="1">
        <p:scale>
          <a:sx n="144" d="100"/>
          <a:sy n="144" d="100"/>
        </p:scale>
        <p:origin x="1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2" Type="http://schemas.openxmlformats.org/officeDocument/2006/relationships/image" Target="../media/image12.png"/><Relationship Id="rId16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Relationship Id="rId14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Relationship Id="rId9" Type="http://schemas.openxmlformats.org/officeDocument/2006/relationships/image" Target="../media/image3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41.svg"/><Relationship Id="rId7" Type="http://schemas.openxmlformats.org/officeDocument/2006/relationships/image" Target="../media/image28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43.svg"/><Relationship Id="rId4" Type="http://schemas.openxmlformats.org/officeDocument/2006/relationships/image" Target="../media/image42.png"/><Relationship Id="rId9" Type="http://schemas.openxmlformats.org/officeDocument/2006/relationships/image" Target="../media/image32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19B92-3DAB-FFFE-A154-7D9735CB5A30}"/>
              </a:ext>
            </a:extLst>
          </p:cNvPr>
          <p:cNvSpPr/>
          <p:nvPr/>
        </p:nvSpPr>
        <p:spPr>
          <a:xfrm>
            <a:off x="616801" y="1509556"/>
            <a:ext cx="2073059" cy="347392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2FB030-72C0-C615-61E3-8874EDB5B692}"/>
              </a:ext>
            </a:extLst>
          </p:cNvPr>
          <p:cNvSpPr/>
          <p:nvPr/>
        </p:nvSpPr>
        <p:spPr>
          <a:xfrm>
            <a:off x="867128" y="1324891"/>
            <a:ext cx="157240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E96547-9778-A42C-9F45-E33160AA5534}"/>
              </a:ext>
            </a:extLst>
          </p:cNvPr>
          <p:cNvSpPr/>
          <p:nvPr/>
        </p:nvSpPr>
        <p:spPr>
          <a:xfrm>
            <a:off x="3597491" y="2813019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BB60D5-76CA-A9ED-C3AE-FC7B38F1C3F2}"/>
              </a:ext>
            </a:extLst>
          </p:cNvPr>
          <p:cNvSpPr/>
          <p:nvPr/>
        </p:nvSpPr>
        <p:spPr>
          <a:xfrm>
            <a:off x="7206977" y="2813018"/>
            <a:ext cx="1340237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BFE9337E-0E41-BD25-9BC2-22B0B07C52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0429" y="1788181"/>
            <a:ext cx="685800" cy="685800"/>
          </a:xfrm>
          <a:prstGeom prst="rect">
            <a:avLst/>
          </a:prstGeom>
        </p:spPr>
      </p:pic>
      <p:pic>
        <p:nvPicPr>
          <p:cNvPr id="8" name="Graphic 7" descr="Document with solid fill">
            <a:extLst>
              <a:ext uri="{FF2B5EF4-FFF2-40B4-BE49-F238E27FC236}">
                <a16:creationId xmlns:a16="http://schemas.microsoft.com/office/drawing/2014/main" id="{FBD7988B-3983-E05A-7FCC-29DBBA1718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310429" y="2843153"/>
            <a:ext cx="685800" cy="685800"/>
          </a:xfrm>
          <a:prstGeom prst="rect">
            <a:avLst/>
          </a:prstGeom>
        </p:spPr>
      </p:pic>
      <p:pic>
        <p:nvPicPr>
          <p:cNvPr id="9" name="Graphic 8" descr="Gears with solid fill">
            <a:extLst>
              <a:ext uri="{FF2B5EF4-FFF2-40B4-BE49-F238E27FC236}">
                <a16:creationId xmlns:a16="http://schemas.microsoft.com/office/drawing/2014/main" id="{31D68DF8-6A08-2505-A3B1-6F7C550CEA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310429" y="3898125"/>
            <a:ext cx="685800" cy="685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EB1C91-1889-95C5-CCD9-173007AC1E20}"/>
              </a:ext>
            </a:extLst>
          </p:cNvPr>
          <p:cNvSpPr txBox="1"/>
          <p:nvPr/>
        </p:nvSpPr>
        <p:spPr>
          <a:xfrm>
            <a:off x="1264891" y="2375950"/>
            <a:ext cx="7768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F89B1-B1CE-968F-CA44-CB29AE26D8C6}"/>
              </a:ext>
            </a:extLst>
          </p:cNvPr>
          <p:cNvSpPr txBox="1"/>
          <p:nvPr/>
        </p:nvSpPr>
        <p:spPr>
          <a:xfrm>
            <a:off x="1197116" y="3495327"/>
            <a:ext cx="912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Documents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FF3F2-DD9D-64DF-31BB-C4194E7B86B3}"/>
              </a:ext>
            </a:extLst>
          </p:cNvPr>
          <p:cNvSpPr txBox="1"/>
          <p:nvPr/>
        </p:nvSpPr>
        <p:spPr>
          <a:xfrm>
            <a:off x="1422336" y="4483046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APIs</a:t>
            </a:r>
          </a:p>
        </p:txBody>
      </p:sp>
      <p:pic>
        <p:nvPicPr>
          <p:cNvPr id="13" name="Graphic 12" descr="User with solid fill">
            <a:extLst>
              <a:ext uri="{FF2B5EF4-FFF2-40B4-BE49-F238E27FC236}">
                <a16:creationId xmlns:a16="http://schemas.microsoft.com/office/drawing/2014/main" id="{96BAB4E6-5045-1E1E-93EC-9E2D602DA51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731418" y="1327464"/>
            <a:ext cx="685800" cy="685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3FD24-0E51-C18F-DC0D-05012862BC6A}"/>
              </a:ext>
            </a:extLst>
          </p:cNvPr>
          <p:cNvSpPr txBox="1"/>
          <p:nvPr/>
        </p:nvSpPr>
        <p:spPr>
          <a:xfrm>
            <a:off x="5837714" y="1859375"/>
            <a:ext cx="4732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User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223CD2A-519C-5E26-2A15-B5F069B92302}"/>
              </a:ext>
            </a:extLst>
          </p:cNvPr>
          <p:cNvCxnSpPr>
            <a:cxnSpLocks/>
            <a:stCxn id="4" idx="0"/>
            <a:endCxn id="13" idx="1"/>
          </p:cNvCxnSpPr>
          <p:nvPr/>
        </p:nvCxnSpPr>
        <p:spPr>
          <a:xfrm rot="5400000" flipH="1" flipV="1">
            <a:off x="4429169" y="1510771"/>
            <a:ext cx="1142655" cy="146184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559034-7A85-3B34-A564-61446578AD9B}"/>
              </a:ext>
            </a:extLst>
          </p:cNvPr>
          <p:cNvSpPr txBox="1"/>
          <p:nvPr/>
        </p:nvSpPr>
        <p:spPr>
          <a:xfrm>
            <a:off x="4269575" y="1663194"/>
            <a:ext cx="571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Query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089B3EE-2F65-1D88-F136-218C0BC84AB6}"/>
              </a:ext>
            </a:extLst>
          </p:cNvPr>
          <p:cNvCxnSpPr>
            <a:cxnSpLocks/>
            <a:stCxn id="5" idx="0"/>
            <a:endCxn id="13" idx="3"/>
          </p:cNvCxnSpPr>
          <p:nvPr/>
        </p:nvCxnSpPr>
        <p:spPr>
          <a:xfrm rot="16200000" flipV="1">
            <a:off x="6575830" y="1511752"/>
            <a:ext cx="1142654" cy="1459878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6FB239-BA6E-104C-E546-CF3C3B574FF3}"/>
              </a:ext>
            </a:extLst>
          </p:cNvPr>
          <p:cNvSpPr txBox="1"/>
          <p:nvPr/>
        </p:nvSpPr>
        <p:spPr>
          <a:xfrm>
            <a:off x="7077773" y="1663193"/>
            <a:ext cx="799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Response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64699-9071-77EB-9C94-E9DDF0AD5AE8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2689860" y="3246466"/>
            <a:ext cx="907631" cy="5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E6D11C-DC37-66ED-444E-45229E77AB1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941659" y="3246465"/>
            <a:ext cx="2265318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B2CCA4-3CCA-DA67-6D56-F48A5071DB3E}"/>
              </a:ext>
            </a:extLst>
          </p:cNvPr>
          <p:cNvSpPr/>
          <p:nvPr/>
        </p:nvSpPr>
        <p:spPr>
          <a:xfrm>
            <a:off x="5546929" y="3059668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Context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98ED8-D9BF-411C-F47B-7E32E9A58041}"/>
              </a:ext>
            </a:extLst>
          </p:cNvPr>
          <p:cNvSpPr txBox="1"/>
          <p:nvPr/>
        </p:nvSpPr>
        <p:spPr>
          <a:xfrm>
            <a:off x="5379542" y="3429000"/>
            <a:ext cx="13895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Prompt, Query,</a:t>
            </a:r>
          </a:p>
          <a:p>
            <a:pPr algn="ctr"/>
            <a:r>
              <a:rPr lang="en-US" sz="1400" dirty="0"/>
              <a:t>and Retrieved Data</a:t>
            </a:r>
          </a:p>
        </p:txBody>
      </p:sp>
    </p:spTree>
    <p:extLst>
      <p:ext uri="{BB962C8B-B14F-4D97-AF65-F5344CB8AC3E}">
        <p14:creationId xmlns:p14="http://schemas.microsoft.com/office/powerpoint/2010/main" val="506868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280" y="4799453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A36BA-3259-02BA-E8FD-4008E85602F8}"/>
              </a:ext>
            </a:extLst>
          </p:cNvPr>
          <p:cNvSpPr/>
          <p:nvPr/>
        </p:nvSpPr>
        <p:spPr>
          <a:xfrm>
            <a:off x="590131" y="1082037"/>
            <a:ext cx="2313089" cy="161211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CBE4A-053C-8640-596E-FCA438EF5A8E}"/>
              </a:ext>
            </a:extLst>
          </p:cNvPr>
          <p:cNvSpPr/>
          <p:nvPr/>
        </p:nvSpPr>
        <p:spPr>
          <a:xfrm>
            <a:off x="779353" y="794908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(Indexed)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3A8DD-AF2A-60E0-5030-29590308A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279013"/>
              </p:ext>
            </p:extLst>
          </p:nvPr>
        </p:nvGraphicFramePr>
        <p:xfrm>
          <a:off x="779353" y="1451369"/>
          <a:ext cx="198204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Search Index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Azure Blob Storage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42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Fabric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Onelake</a:t>
                      </a:r>
                      <a:endParaRPr lang="en-US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A0140A-4B8D-2702-E7CF-52EA0DCEBB3C}"/>
              </a:ext>
            </a:extLst>
          </p:cNvPr>
          <p:cNvSpPr/>
          <p:nvPr/>
        </p:nvSpPr>
        <p:spPr>
          <a:xfrm>
            <a:off x="4161703" y="2194679"/>
            <a:ext cx="5721437" cy="140406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DD30818-84F6-CF80-B405-BA6F52AF3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27225" y="1741424"/>
            <a:ext cx="457200" cy="4572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DB96D1BE-0DD0-0713-D1C3-3DE3A8D2ED71}"/>
              </a:ext>
            </a:extLst>
          </p:cNvPr>
          <p:cNvGrpSpPr/>
          <p:nvPr/>
        </p:nvGrpSpPr>
        <p:grpSpPr>
          <a:xfrm>
            <a:off x="4432936" y="2466285"/>
            <a:ext cx="5178970" cy="866894"/>
            <a:chOff x="4523785" y="5200779"/>
            <a:chExt cx="5178970" cy="86689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E6BB17F-0E4D-C386-1982-985D0F0F0A19}"/>
                </a:ext>
              </a:extLst>
            </p:cNvPr>
            <p:cNvSpPr/>
            <p:nvPr/>
          </p:nvSpPr>
          <p:spPr>
            <a:xfrm>
              <a:off x="4523785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Indexing Engine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2502404-E195-BC9E-46D1-67DD0B4867C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5867953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EAE2DE6-CBC0-1892-D217-2EB1383D6350}"/>
                </a:ext>
              </a:extLst>
            </p:cNvPr>
            <p:cNvSpPr/>
            <p:nvPr/>
          </p:nvSpPr>
          <p:spPr>
            <a:xfrm>
              <a:off x="6441186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Knowledge Base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85EE08-4195-FEB1-92CE-E2F08AEC0904}"/>
                </a:ext>
              </a:extLst>
            </p:cNvPr>
            <p:cNvSpPr/>
            <p:nvPr/>
          </p:nvSpPr>
          <p:spPr>
            <a:xfrm>
              <a:off x="8358587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Engine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B932B-5B10-ABF7-6812-6F86DD883464}"/>
                </a:ext>
              </a:extLst>
            </p:cNvPr>
            <p:cNvCxnSpPr>
              <a:cxnSpLocks/>
              <a:stCxn id="16" idx="1"/>
              <a:endCxn id="14" idx="3"/>
            </p:cNvCxnSpPr>
            <p:nvPr/>
          </p:nvCxnSpPr>
          <p:spPr>
            <a:xfrm flipH="1">
              <a:off x="7785354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B8367E-DED3-2D25-B1AF-FDC2C8A01481}"/>
              </a:ext>
            </a:extLst>
          </p:cNvPr>
          <p:cNvSpPr/>
          <p:nvPr/>
        </p:nvSpPr>
        <p:spPr>
          <a:xfrm>
            <a:off x="593095" y="3377768"/>
            <a:ext cx="2313089" cy="1278052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6787BC-3A0F-9584-7965-0482CD3B3AAC}"/>
              </a:ext>
            </a:extLst>
          </p:cNvPr>
          <p:cNvSpPr/>
          <p:nvPr/>
        </p:nvSpPr>
        <p:spPr>
          <a:xfrm>
            <a:off x="755651" y="3090640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(Remote)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018D9B-FFCB-F4AC-3749-0EE10F7CD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640093"/>
              </p:ext>
            </p:extLst>
          </p:nvPr>
        </p:nvGraphicFramePr>
        <p:xfrm>
          <a:off x="736597" y="3747101"/>
          <a:ext cx="1982047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SharePoint on M365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with Bing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C26FC72-A6B7-0592-62C4-B9205B5E130B}"/>
              </a:ext>
            </a:extLst>
          </p:cNvPr>
          <p:cNvSpPr txBox="1"/>
          <p:nvPr/>
        </p:nvSpPr>
        <p:spPr>
          <a:xfrm>
            <a:off x="4784425" y="1783386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Azure AI Search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96CCB3-27F0-B65F-269E-BBF8BAC30A6D}"/>
              </a:ext>
            </a:extLst>
          </p:cNvPr>
          <p:cNvCxnSpPr>
            <a:cxnSpLocks/>
            <a:stCxn id="24" idx="3"/>
            <a:endCxn id="14" idx="2"/>
          </p:cNvCxnSpPr>
          <p:nvPr/>
        </p:nvCxnSpPr>
        <p:spPr>
          <a:xfrm flipV="1">
            <a:off x="2906184" y="3333179"/>
            <a:ext cx="4116237" cy="683615"/>
          </a:xfrm>
          <a:prstGeom prst="bentConnector2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0C61436-186C-FADD-09E4-9F73A8FCA2DB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2903221" y="1888096"/>
            <a:ext cx="1258483" cy="10086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841EC0D-EBD6-5CE8-6DC5-5D0B6B0C0365}"/>
              </a:ext>
            </a:extLst>
          </p:cNvPr>
          <p:cNvSpPr/>
          <p:nvPr/>
        </p:nvSpPr>
        <p:spPr>
          <a:xfrm>
            <a:off x="3011548" y="2119895"/>
            <a:ext cx="104182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Indexing + Enrichment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F95B81-DAC1-C3AD-DBDE-9B0467E804DF}"/>
              </a:ext>
            </a:extLst>
          </p:cNvPr>
          <p:cNvSpPr/>
          <p:nvPr/>
        </p:nvSpPr>
        <p:spPr>
          <a:xfrm>
            <a:off x="4644982" y="3729665"/>
            <a:ext cx="1222418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Direct Source Retrieval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DB8E28-0138-EE36-0136-3CAE044CDB91}"/>
              </a:ext>
            </a:extLst>
          </p:cNvPr>
          <p:cNvGrpSpPr/>
          <p:nvPr/>
        </p:nvGrpSpPr>
        <p:grpSpPr>
          <a:xfrm>
            <a:off x="10466680" y="2668113"/>
            <a:ext cx="671979" cy="765562"/>
            <a:chOff x="10110076" y="2694410"/>
            <a:chExt cx="671979" cy="76556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BBE4E029-6BF4-5A7D-4747-1B580A80C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217465" y="269441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25FE0D2-202A-0F8B-C116-0C0853E85210}"/>
                </a:ext>
              </a:extLst>
            </p:cNvPr>
            <p:cNvSpPr txBox="1"/>
            <p:nvPr/>
          </p:nvSpPr>
          <p:spPr>
            <a:xfrm>
              <a:off x="10110076" y="3090640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Agent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C7870B-945A-ABCC-C1D6-C5ACE8058529}"/>
              </a:ext>
            </a:extLst>
          </p:cNvPr>
          <p:cNvCxnSpPr>
            <a:cxnSpLocks/>
            <a:stCxn id="41" idx="1"/>
            <a:endCxn id="8" idx="3"/>
          </p:cNvCxnSpPr>
          <p:nvPr/>
        </p:nvCxnSpPr>
        <p:spPr>
          <a:xfrm flipH="1">
            <a:off x="9883140" y="2896713"/>
            <a:ext cx="690929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E52CD-5961-A7C1-3607-A00CDD477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12"/>
            <a:ext cx="12192000" cy="681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074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42420-8E3C-777D-C41A-540741D91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51"/>
            <a:ext cx="12192000" cy="68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94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867BA-66DD-B140-5528-856BCA343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063"/>
            <a:ext cx="12192000" cy="665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8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E65E1-5DF3-2FE1-BF1F-36B02D0FE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0F888E-6C37-17E1-670D-996346E71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4427"/>
            <a:ext cx="12192000" cy="442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5027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67DA2-6815-DE2B-768E-FDE43E3CE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78980" cy="3865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5023E-4451-73EF-7EF8-DE3379C38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493186"/>
            <a:ext cx="9357360" cy="329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160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5CB0691-4F4F-B36F-1292-BDF4D6F64E6F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CC2B664-F030-F1F9-F28B-DCC5EEC01A16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On-Device Inference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53C473-9B29-E37D-A715-ED5C1E1CE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571618"/>
              </p:ext>
            </p:extLst>
          </p:nvPr>
        </p:nvGraphicFramePr>
        <p:xfrm>
          <a:off x="3122928" y="2208569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No per-token costs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Low latency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Works Offline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F5A509-0B8F-7811-0487-C9575E6398F1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965C37-35DD-9952-1CFD-D128D2081A33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Customization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3E63C08-E18D-B389-2582-B89833A5B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26545"/>
              </p:ext>
            </p:extLst>
          </p:nvPr>
        </p:nvGraphicFramePr>
        <p:xfrm>
          <a:off x="3122928" y="3443461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Download from Foundry models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Pull other models from Hugging Face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Optimize for your machine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7007C4-3061-A8D2-7F2E-AC6DBB9E5633}"/>
              </a:ext>
            </a:extLst>
          </p:cNvPr>
          <p:cNvSpPr/>
          <p:nvPr/>
        </p:nvSpPr>
        <p:spPr>
          <a:xfrm>
            <a:off x="2933282" y="4527781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E10519-9789-FE60-F956-7F35469179EF}"/>
              </a:ext>
            </a:extLst>
          </p:cNvPr>
          <p:cNvSpPr/>
          <p:nvPr/>
        </p:nvSpPr>
        <p:spPr>
          <a:xfrm>
            <a:off x="4805538" y="434311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App Integration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B679DA3-8983-1774-D4AD-BD0BA5945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394595"/>
              </p:ext>
            </p:extLst>
          </p:nvPr>
        </p:nvGraphicFramePr>
        <p:xfrm>
          <a:off x="3122929" y="4787355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SDKs for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Javascript</a:t>
                      </a:r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, Python, &amp; C#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OpenAI-compatible API format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Interactive chat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via the CLI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ABD033-95C1-DE14-1371-DDB65914500E}"/>
              </a:ext>
            </a:extLst>
          </p:cNvPr>
          <p:cNvSpPr/>
          <p:nvPr/>
        </p:nvSpPr>
        <p:spPr>
          <a:xfrm>
            <a:off x="2584694" y="2174798"/>
            <a:ext cx="4982297" cy="246864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F47915-E3BB-FBA3-7676-86FE48083972}"/>
              </a:ext>
            </a:extLst>
          </p:cNvPr>
          <p:cNvCxnSpPr>
            <a:cxnSpLocks/>
            <a:stCxn id="20" idx="1"/>
            <a:endCxn id="12" idx="3"/>
          </p:cNvCxnSpPr>
          <p:nvPr/>
        </p:nvCxnSpPr>
        <p:spPr>
          <a:xfrm flipH="1">
            <a:off x="7281103" y="2888337"/>
            <a:ext cx="795151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DEEFD6-4A89-56D2-D306-6B0F392F03A2}"/>
              </a:ext>
            </a:extLst>
          </p:cNvPr>
          <p:cNvGrpSpPr/>
          <p:nvPr/>
        </p:nvGrpSpPr>
        <p:grpSpPr>
          <a:xfrm>
            <a:off x="2870578" y="2444894"/>
            <a:ext cx="4410525" cy="1928450"/>
            <a:chOff x="4432935" y="2463266"/>
            <a:chExt cx="4410525" cy="192845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D235446-172F-6EEA-DCA9-68B84AE458F0}"/>
                </a:ext>
              </a:extLst>
            </p:cNvPr>
            <p:cNvSpPr/>
            <p:nvPr/>
          </p:nvSpPr>
          <p:spPr>
            <a:xfrm>
              <a:off x="4432936" y="2466285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Local Service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(Core C API)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C6BE8AC-19F7-DD20-EE5B-659AF29F464A}"/>
                </a:ext>
              </a:extLst>
            </p:cNvPr>
            <p:cNvSpPr/>
            <p:nvPr/>
          </p:nvSpPr>
          <p:spPr>
            <a:xfrm>
              <a:off x="5966114" y="2463266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ONNX Runtime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197549C-A069-ABFE-9697-3B84E0F4C460}"/>
                </a:ext>
              </a:extLst>
            </p:cNvPr>
            <p:cNvSpPr/>
            <p:nvPr/>
          </p:nvSpPr>
          <p:spPr>
            <a:xfrm>
              <a:off x="4432935" y="3524822"/>
              <a:ext cx="4410525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Cache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EAD17B7-C4B2-FCB0-6649-6E63B0A81515}"/>
                </a:ext>
              </a:extLst>
            </p:cNvPr>
            <p:cNvSpPr/>
            <p:nvPr/>
          </p:nvSpPr>
          <p:spPr>
            <a:xfrm>
              <a:off x="7499292" y="2473262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Management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120D170-1949-EC3F-DB51-93C17FCF7505}"/>
                </a:ext>
              </a:extLst>
            </p:cNvPr>
            <p:cNvSpPr/>
            <p:nvPr/>
          </p:nvSpPr>
          <p:spPr>
            <a:xfrm>
              <a:off x="6102328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2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0451BAB-C34E-4650-515B-63F461663ED0}"/>
                </a:ext>
              </a:extLst>
            </p:cNvPr>
            <p:cNvSpPr/>
            <p:nvPr/>
          </p:nvSpPr>
          <p:spPr>
            <a:xfrm>
              <a:off x="7635507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3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5626C3B-43F8-65F9-6D86-F7B15D95C526}"/>
                </a:ext>
              </a:extLst>
            </p:cNvPr>
            <p:cNvSpPr/>
            <p:nvPr/>
          </p:nvSpPr>
          <p:spPr>
            <a:xfrm>
              <a:off x="4569151" y="3945117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1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3CFB2EF-0BF7-6736-3257-3868777206B9}"/>
              </a:ext>
            </a:extLst>
          </p:cNvPr>
          <p:cNvSpPr/>
          <p:nvPr/>
        </p:nvSpPr>
        <p:spPr>
          <a:xfrm>
            <a:off x="3785379" y="446575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Local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EC0C0-D10C-CDBC-F226-4707993BA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140" y="4444678"/>
            <a:ext cx="411480" cy="4114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8B03222-4598-AD0F-7004-E5BF69B43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254" y="2545437"/>
            <a:ext cx="750647" cy="685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ACAD34-655D-6D96-E9CE-9A30055341BD}"/>
              </a:ext>
            </a:extLst>
          </p:cNvPr>
          <p:cNvSpPr txBox="1"/>
          <p:nvPr/>
        </p:nvSpPr>
        <p:spPr>
          <a:xfrm>
            <a:off x="7613977" y="3183284"/>
            <a:ext cx="1675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Microsoft Foundry</a:t>
            </a:r>
          </a:p>
          <a:p>
            <a:pPr algn="ctr"/>
            <a:r>
              <a:rPr lang="en-US" dirty="0"/>
              <a:t>Model Catalog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D49B3AD-DB92-B552-129E-23875F3C5E8A}"/>
              </a:ext>
            </a:extLst>
          </p:cNvPr>
          <p:cNvSpPr/>
          <p:nvPr/>
        </p:nvSpPr>
        <p:spPr>
          <a:xfrm>
            <a:off x="2584694" y="800167"/>
            <a:ext cx="4982297" cy="941185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E1E4223-18B0-0270-B46F-77DE56377983}"/>
              </a:ext>
            </a:extLst>
          </p:cNvPr>
          <p:cNvSpPr/>
          <p:nvPr/>
        </p:nvSpPr>
        <p:spPr>
          <a:xfrm>
            <a:off x="3785377" y="61550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Developer Experience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047E8E3-E96F-F9CC-2C1A-9F31EC67F570}"/>
              </a:ext>
            </a:extLst>
          </p:cNvPr>
          <p:cNvSpPr/>
          <p:nvPr/>
        </p:nvSpPr>
        <p:spPr>
          <a:xfrm>
            <a:off x="4403757" y="1064612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SDKs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549E190-6268-5A77-8C6B-DAEBDEFAD43C}"/>
              </a:ext>
            </a:extLst>
          </p:cNvPr>
          <p:cNvSpPr/>
          <p:nvPr/>
        </p:nvSpPr>
        <p:spPr>
          <a:xfrm>
            <a:off x="5985374" y="106461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0DFE1C6-902A-9B22-61A5-FE9656C8C7D0}"/>
              </a:ext>
            </a:extLst>
          </p:cNvPr>
          <p:cNvSpPr/>
          <p:nvPr/>
        </p:nvSpPr>
        <p:spPr>
          <a:xfrm>
            <a:off x="2822140" y="1062776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REST Web Server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78B64DB-9DDF-AAC1-D30D-EC498B479ED1}"/>
              </a:ext>
            </a:extLst>
          </p:cNvPr>
          <p:cNvCxnSpPr>
            <a:cxnSpLocks/>
          </p:cNvCxnSpPr>
          <p:nvPr/>
        </p:nvCxnSpPr>
        <p:spPr>
          <a:xfrm flipV="1">
            <a:off x="4282872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C56010-06B3-9647-A302-F7EA6C749369}"/>
              </a:ext>
            </a:extLst>
          </p:cNvPr>
          <p:cNvCxnSpPr>
            <a:cxnSpLocks/>
          </p:cNvCxnSpPr>
          <p:nvPr/>
        </p:nvCxnSpPr>
        <p:spPr>
          <a:xfrm flipV="1">
            <a:off x="5853254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B841E0E-9A0C-0AF0-73DC-3D01CB1B600C}"/>
              </a:ext>
            </a:extLst>
          </p:cNvPr>
          <p:cNvSpPr txBox="1"/>
          <p:nvPr/>
        </p:nvSpPr>
        <p:spPr>
          <a:xfrm>
            <a:off x="5985374" y="1795687"/>
            <a:ext cx="1015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Named Pipes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935555-E192-F7FA-B5DB-71FBC3D6CE7B}"/>
              </a:ext>
            </a:extLst>
          </p:cNvPr>
          <p:cNvSpPr txBox="1"/>
          <p:nvPr/>
        </p:nvSpPr>
        <p:spPr>
          <a:xfrm>
            <a:off x="3328515" y="180143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/>
              <a:t>HTTP Calls</a:t>
            </a:r>
          </a:p>
        </p:txBody>
      </p:sp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CA1E36B-6F8B-78EC-D1DA-00A7BA890F0C}"/>
              </a:ext>
            </a:extLst>
          </p:cNvPr>
          <p:cNvGrpSpPr/>
          <p:nvPr/>
        </p:nvGrpSpPr>
        <p:grpSpPr>
          <a:xfrm>
            <a:off x="573747" y="1716157"/>
            <a:ext cx="10253279" cy="3589047"/>
            <a:chOff x="112514" y="1046426"/>
            <a:chExt cx="8240279" cy="354258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E48D362-580F-42C1-3153-EC52D854BB7E}"/>
                </a:ext>
              </a:extLst>
            </p:cNvPr>
            <p:cNvSpPr/>
            <p:nvPr/>
          </p:nvSpPr>
          <p:spPr>
            <a:xfrm>
              <a:off x="542776" y="1046427"/>
              <a:ext cx="1525630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Weight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/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blipFill>
                  <a:blip r:embed="rId2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D7E328-0589-1816-BDBA-AD0FE42F5688}"/>
                </a:ext>
              </a:extLst>
            </p:cNvPr>
            <p:cNvSpPr txBox="1"/>
            <p:nvPr/>
          </p:nvSpPr>
          <p:spPr>
            <a:xfrm>
              <a:off x="549126" y="1639593"/>
              <a:ext cx="152563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Stored as a 32-bit number (FP32)*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E40183-A35F-5E76-740F-108817A55AEF}"/>
                </a:ext>
              </a:extLst>
            </p:cNvPr>
            <p:cNvSpPr/>
            <p:nvPr/>
          </p:nvSpPr>
          <p:spPr>
            <a:xfrm>
              <a:off x="278148" y="2328864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4-bit Quantization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/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/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/>
                    <a:t>A 4-bit quantized value can represent 2</a:t>
                  </a:r>
                  <a:r>
                    <a:rPr lang="en-US" sz="1100" baseline="30000" dirty="0"/>
                    <a:t>4</a:t>
                  </a:r>
                  <a:r>
                    <a:rPr lang="en-US" sz="1100" dirty="0"/>
                    <a:t>=16 discrete levels.</a:t>
                  </a:r>
                </a:p>
                <a:p>
                  <a:r>
                    <a:rPr lang="en-US" sz="1100" dirty="0"/>
                    <a:t>Where: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r>
                    <a:rPr lang="en-US" sz="1100" dirty="0"/>
                    <a:t> is the scale factor (how much one quantization level represents)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sz="1100" dirty="0"/>
                    <a:t>is an integer between [-8,+7] (16 levels total).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)∈{−8,−7,−6,…,6,7}</m:t>
                      </m:r>
                    </m:oMath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blipFill>
                  <a:blip r:embed="rId4"/>
                  <a:stretch>
                    <a:fillRect b="-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000436-35AE-15BA-7C56-0E053A1C98DD}"/>
                </a:ext>
              </a:extLst>
            </p:cNvPr>
            <p:cNvSpPr/>
            <p:nvPr/>
          </p:nvSpPr>
          <p:spPr>
            <a:xfrm>
              <a:off x="2886939" y="1046426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Map the Scale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/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1.0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≈0.1429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7FC42-5EAE-C0DF-2B08-6B125B6DB5B2}"/>
                </a:ext>
              </a:extLst>
            </p:cNvPr>
            <p:cNvSpPr txBox="1"/>
            <p:nvPr/>
          </p:nvSpPr>
          <p:spPr>
            <a:xfrm>
              <a:off x="2886938" y="1930258"/>
              <a:ext cx="2757871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Let’s say the weights in this tensor range from [-1.0,+1.0]. Denominator is the max weight in the [-8,+7] quant range (so, 7).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AF1B14-4056-FBF2-F6CB-B18A101C05C6}"/>
                </a:ext>
              </a:extLst>
            </p:cNvPr>
            <p:cNvSpPr/>
            <p:nvPr/>
          </p:nvSpPr>
          <p:spPr>
            <a:xfrm>
              <a:off x="2886937" y="2967524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Quantize the Value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/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0.37</m:t>
                            </m:r>
                          </m:e>
                        </m:d>
                        <m:r>
                          <a:rPr lang="en-US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0.37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0.1429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2.59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blipFill>
                  <a:blip r:embed="rId6"/>
                  <a:stretch>
                    <a:fillRect b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6F26E49-C806-D5AE-946D-FC847BA33CA6}"/>
                </a:ext>
              </a:extLst>
            </p:cNvPr>
            <p:cNvSpPr txBox="1"/>
            <p:nvPr/>
          </p:nvSpPr>
          <p:spPr>
            <a:xfrm>
              <a:off x="2886939" y="4158127"/>
              <a:ext cx="27578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Integer representation (4-bit) is: 3</a:t>
              </a:r>
            </a:p>
            <a:p>
              <a:pPr algn="ctr"/>
              <a:r>
                <a:rPr lang="en-US" sz="1100" dirty="0"/>
                <a:t>(binary: 0011)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A08310A7-EEE8-F6F6-64C4-407BEAE69530}"/>
                </a:ext>
              </a:extLst>
            </p:cNvPr>
            <p:cNvCxnSpPr>
              <a:cxnSpLocks/>
              <a:stCxn id="13" idx="3"/>
              <a:endCxn id="18" idx="1"/>
            </p:cNvCxnSpPr>
            <p:nvPr/>
          </p:nvCxnSpPr>
          <p:spPr>
            <a:xfrm flipV="1">
              <a:off x="5644808" y="1183343"/>
              <a:ext cx="818539" cy="19210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0F04CE8-49AC-5CFE-206A-9C293D4CF620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2345735" y="1183342"/>
              <a:ext cx="541204" cy="128243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97FF09C-A29A-A499-A2B3-672C34E3A06E}"/>
                </a:ext>
              </a:extLst>
            </p:cNvPr>
            <p:cNvSpPr/>
            <p:nvPr/>
          </p:nvSpPr>
          <p:spPr>
            <a:xfrm>
              <a:off x="6463347" y="1046427"/>
              <a:ext cx="1711303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De-Quantize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/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l-PL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)=0.1429×3=0.4287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blipFill>
                  <a:blip r:embed="rId7"/>
                  <a:stretch>
                    <a:fillRect t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9C600D-70A1-925D-4FF1-E2B23D5A1F91}"/>
                </a:ext>
              </a:extLst>
            </p:cNvPr>
            <p:cNvSpPr txBox="1"/>
            <p:nvPr/>
          </p:nvSpPr>
          <p:spPr>
            <a:xfrm>
              <a:off x="6463345" y="2227691"/>
              <a:ext cx="171130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Reconstruct the original model weight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E68490-F7D3-8A4D-DB15-5F77430143DC}"/>
                </a:ext>
              </a:extLst>
            </p:cNvPr>
            <p:cNvSpPr/>
            <p:nvPr/>
          </p:nvSpPr>
          <p:spPr>
            <a:xfrm>
              <a:off x="6285205" y="2967525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Error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/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error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l-PL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=0.37−0.4287=−0.0587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blipFill>
                  <a:blip r:embed="rId8"/>
                  <a:stretch>
                    <a:fillRect t="-20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E99888-98F6-40AA-8A60-0DCC4BFB49C2}"/>
                </a:ext>
              </a:extLst>
            </p:cNvPr>
            <p:cNvSpPr txBox="1"/>
            <p:nvPr/>
          </p:nvSpPr>
          <p:spPr>
            <a:xfrm>
              <a:off x="6285206" y="4090401"/>
              <a:ext cx="20675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The reconstructed model weight is</a:t>
              </a:r>
            </a:p>
            <a:p>
              <a:pPr algn="ctr"/>
              <a:r>
                <a:rPr lang="en-US" sz="1100" dirty="0"/>
                <a:t>off by -0.0587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D7909FA-F299-55CF-6779-574736906812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1311942" y="1928908"/>
              <a:ext cx="0" cy="3999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8213CC-FC4F-80C2-D898-9041F2C3C40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4265873" y="2361146"/>
              <a:ext cx="1" cy="606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F869889-41FC-A3CD-DF46-A7147E3D45EB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7318998" y="2501521"/>
              <a:ext cx="1" cy="466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11955</TotalTime>
  <Words>759</Words>
  <Application>Microsoft Office PowerPoint</Application>
  <PresentationFormat>Widescreen</PresentationFormat>
  <Paragraphs>219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Cambria Math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15</cp:revision>
  <dcterms:created xsi:type="dcterms:W3CDTF">2026-01-26T17:17:07Z</dcterms:created>
  <dcterms:modified xsi:type="dcterms:W3CDTF">2026-04-05T19:24:16Z</dcterms:modified>
</cp:coreProperties>
</file>