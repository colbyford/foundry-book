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3"/>
  </p:notesMasterIdLst>
  <p:sldIdLst>
    <p:sldId id="258" r:id="rId2"/>
    <p:sldId id="256" r:id="rId3"/>
    <p:sldId id="263" r:id="rId4"/>
    <p:sldId id="260" r:id="rId5"/>
    <p:sldId id="259" r:id="rId6"/>
    <p:sldId id="261" r:id="rId7"/>
    <p:sldId id="268" r:id="rId8"/>
    <p:sldId id="275" r:id="rId9"/>
    <p:sldId id="262" r:id="rId10"/>
    <p:sldId id="278" r:id="rId11"/>
    <p:sldId id="277" r:id="rId12"/>
    <p:sldId id="264" r:id="rId13"/>
    <p:sldId id="265" r:id="rId14"/>
    <p:sldId id="267" r:id="rId15"/>
    <p:sldId id="269" r:id="rId16"/>
    <p:sldId id="274" r:id="rId17"/>
    <p:sldId id="270" r:id="rId18"/>
    <p:sldId id="271" r:id="rId19"/>
    <p:sldId id="272" r:id="rId20"/>
    <p:sldId id="273" r:id="rId21"/>
    <p:sldId id="257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98037C5F-3BC8-4326-882B-11E8D97D6574}">
          <p14:sldIdLst>
            <p14:sldId id="258"/>
          </p14:sldIdLst>
        </p14:section>
        <p14:section name="Introduction" id="{33616E34-919B-4477-A71B-4790522F5760}">
          <p14:sldIdLst>
            <p14:sldId id="256"/>
            <p14:sldId id="263"/>
          </p14:sldIdLst>
        </p14:section>
        <p14:section name="Model Deployment" id="{4FFEF0E2-5833-4089-8860-99F4B2E194C0}">
          <p14:sldIdLst>
            <p14:sldId id="260"/>
            <p14:sldId id="259"/>
          </p14:sldIdLst>
        </p14:section>
        <p14:section name="Agent Deployment" id="{D332562B-3ADB-4CCE-A1B8-55DF9B490E3B}">
          <p14:sldIdLst>
            <p14:sldId id="261"/>
            <p14:sldId id="268"/>
            <p14:sldId id="275"/>
          </p14:sldIdLst>
        </p14:section>
        <p14:section name="Knowledge Bases" id="{06E034E2-AFC7-4A28-B1B0-B4E2903C9A55}">
          <p14:sldIdLst>
            <p14:sldId id="262"/>
            <p14:sldId id="278"/>
            <p14:sldId id="277"/>
            <p14:sldId id="264"/>
          </p14:sldIdLst>
        </p14:section>
        <p14:section name="Fine-Tuning" id="{0654DAA0-6DAF-4D93-901D-DE1F25DE20A5}">
          <p14:sldIdLst>
            <p14:sldId id="265"/>
            <p14:sldId id="267"/>
          </p14:sldIdLst>
        </p14:section>
        <p14:section name="Governance" id="{038CE4AA-62CD-47A2-8E40-F6F0DFCCB854}">
          <p14:sldIdLst>
            <p14:sldId id="269"/>
            <p14:sldId id="274"/>
            <p14:sldId id="270"/>
            <p14:sldId id="271"/>
            <p14:sldId id="272"/>
            <p14:sldId id="273"/>
          </p14:sldIdLst>
        </p14:section>
        <p14:section name="Examples" id="{2CEADF37-2C1D-4DE6-BB08-5D838E707A13}">
          <p14:sldIdLst>
            <p14:sldId id="25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2D4EB"/>
    <a:srgbClr val="B0D3EA"/>
    <a:srgbClr val="E5F1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0" autoAdjust="0"/>
    <p:restoredTop sz="81072" autoAdjust="0"/>
  </p:normalViewPr>
  <p:slideViewPr>
    <p:cSldViewPr snapToGrid="0">
      <p:cViewPr>
        <p:scale>
          <a:sx n="125" d="100"/>
          <a:sy n="125" d="100"/>
        </p:scale>
        <p:origin x="690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ABB0E5-6D8D-4DEE-B75F-67010CF2307C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549D2C-39EA-4769-BF7E-31FE52D820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42199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en-us/azure/ai-services/multi-service-resource?toc=%2Fazure%2Fai-foundry%2Ftoc.json&amp;bc=%2Fazure%2Fai-foundry%2Fbreadcrumb%2Ftoc.json&amp;view=foundry-classic&amp;preserve-view=true&amp;pivots=azportal" TargetMode="External"/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</a:t>
            </a:r>
            <a:r>
              <a:rPr lang="en-US" dirty="0">
                <a:hlinkClick r:id="rId3"/>
              </a:rPr>
              <a:t>Create a Foundry resource - Foundry Tools | Microsoft Learn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D549D2C-39EA-4769-BF7E-31FE52D8207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08521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Text:</a:t>
            </a:r>
          </a:p>
          <a:p>
            <a:endParaRPr lang="en-US" dirty="0"/>
          </a:p>
          <a:p>
            <a:r>
              <a:rPr lang="en-US" dirty="0"/>
              <a:t>colby@TUPLE-01:~$ </a:t>
            </a:r>
            <a:r>
              <a:rPr lang="en-US" dirty="0" err="1"/>
              <a:t>az</a:t>
            </a:r>
            <a:r>
              <a:rPr lang="en-US" dirty="0"/>
              <a:t> login</a:t>
            </a:r>
          </a:p>
          <a:p>
            <a:endParaRPr lang="en-US" dirty="0"/>
          </a:p>
          <a:p>
            <a:r>
              <a:rPr lang="en-US" dirty="0"/>
              <a:t>Retrieving tenants and subscriptions for the selection...</a:t>
            </a:r>
          </a:p>
          <a:p>
            <a:endParaRPr lang="en-US" dirty="0"/>
          </a:p>
          <a:p>
            <a:r>
              <a:rPr lang="en-US" dirty="0"/>
              <a:t>[Tenant and subscription selection]</a:t>
            </a:r>
          </a:p>
          <a:p>
            <a:endParaRPr lang="en-US" dirty="0"/>
          </a:p>
          <a:p>
            <a:r>
              <a:rPr lang="en-US" dirty="0"/>
              <a:t>No     Subscription name            Subscription ID                       Tenant</a:t>
            </a:r>
          </a:p>
          <a:p>
            <a:r>
              <a:rPr lang="en-US" dirty="0"/>
              <a:t>-----  ---------------------------  ------------------------------------  ----------------------</a:t>
            </a:r>
          </a:p>
          <a:p>
            <a:r>
              <a:rPr lang="en-US" dirty="0"/>
              <a:t>[1]    abc-prod-001                 d3c301c7-a8a5-417a-999b-71c166ab9ea1  Acme Inc Default Directory</a:t>
            </a:r>
          </a:p>
          <a:p>
            <a:r>
              <a:rPr lang="en-US" dirty="0"/>
              <a:t>[2]    abc-dev-001                  6283eb64-e04b-4c65-8360-e29ddf7ced32  Acme Inc Default Directory</a:t>
            </a:r>
          </a:p>
          <a:p>
            <a:r>
              <a:rPr lang="en-US" dirty="0"/>
              <a:t>[3]    </a:t>
            </a:r>
            <a:r>
              <a:rPr lang="en-US" dirty="0" err="1"/>
              <a:t>dev_subscription</a:t>
            </a:r>
            <a:r>
              <a:rPr lang="en-US" dirty="0"/>
              <a:t>             21f436e1-bf10-4e17-9482-701611ba96e3  &lt;Tuple&gt;</a:t>
            </a:r>
          </a:p>
          <a:p>
            <a:r>
              <a:rPr lang="en-US" dirty="0"/>
              <a:t>[4]    Microsoft Azure Sponsorship  716f8ad9-4f2d-48da-a905-eb77071da449  &lt;Tuple&gt;</a:t>
            </a:r>
          </a:p>
          <a:p>
            <a:r>
              <a:rPr lang="en-US" dirty="0"/>
              <a:t>[5] *  Microsoft Azure Sponsorship  bedf96c9-5241-45cc-b696-dcc91ebc089a  &lt;Tuple&gt;</a:t>
            </a:r>
          </a:p>
          <a:p>
            <a:endParaRPr lang="en-US" dirty="0"/>
          </a:p>
          <a:p>
            <a:r>
              <a:rPr lang="en-US" dirty="0"/>
              <a:t>The default is marked with an *; the default tenant is '&lt;Tuple&gt;' and subscription is 'Microsoft Azure Sponsorship' (bedf96c9-5241-45cc-b696-dcc91ebc089a).</a:t>
            </a:r>
          </a:p>
          <a:p>
            <a:endParaRPr lang="en-US" dirty="0"/>
          </a:p>
          <a:p>
            <a:r>
              <a:rPr lang="en-US" dirty="0"/>
              <a:t>Select a subscription and tenant (Type a number or Enter for no changes):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D549D2C-39EA-4769-BF7E-31FE52D8207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49698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4703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02324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19051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08985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64661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28631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64078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94708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92413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28591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4124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84C5C40-2055-49AF-9028-5DA79E75E391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03995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3.png"/><Relationship Id="rId7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svg"/><Relationship Id="rId4" Type="http://schemas.openxmlformats.org/officeDocument/2006/relationships/hyperlink" Target="https://learn.microsoft.com/en-us/azure/ai-foundry/?view=foundry-classic" TargetMode="External"/><Relationship Id="rId9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svg"/><Relationship Id="rId13" Type="http://schemas.openxmlformats.org/officeDocument/2006/relationships/image" Target="../media/image23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12" Type="http://schemas.openxmlformats.org/officeDocument/2006/relationships/image" Target="../media/image22.svg"/><Relationship Id="rId2" Type="http://schemas.openxmlformats.org/officeDocument/2006/relationships/image" Target="../media/image12.png"/><Relationship Id="rId16" Type="http://schemas.openxmlformats.org/officeDocument/2006/relationships/image" Target="../media/image26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svg"/><Relationship Id="rId11" Type="http://schemas.openxmlformats.org/officeDocument/2006/relationships/image" Target="../media/image21.png"/><Relationship Id="rId5" Type="http://schemas.openxmlformats.org/officeDocument/2006/relationships/image" Target="../media/image15.png"/><Relationship Id="rId15" Type="http://schemas.openxmlformats.org/officeDocument/2006/relationships/image" Target="../media/image25.png"/><Relationship Id="rId10" Type="http://schemas.openxmlformats.org/officeDocument/2006/relationships/image" Target="../media/image20.svg"/><Relationship Id="rId4" Type="http://schemas.openxmlformats.org/officeDocument/2006/relationships/image" Target="../media/image14.svg"/><Relationship Id="rId9" Type="http://schemas.openxmlformats.org/officeDocument/2006/relationships/image" Target="../media/image19.png"/><Relationship Id="rId14" Type="http://schemas.openxmlformats.org/officeDocument/2006/relationships/image" Target="../media/image24.sv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sv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31.svg"/><Relationship Id="rId7" Type="http://schemas.openxmlformats.org/officeDocument/2006/relationships/image" Target="../media/image35.sv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4.png"/><Relationship Id="rId5" Type="http://schemas.openxmlformats.org/officeDocument/2006/relationships/image" Target="../media/image33.svg"/><Relationship Id="rId4" Type="http://schemas.openxmlformats.org/officeDocument/2006/relationships/image" Target="../media/image32.png"/><Relationship Id="rId9" Type="http://schemas.openxmlformats.org/officeDocument/2006/relationships/image" Target="../media/image37.sv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oreillymedia.github.io/production-resources/illustrations/" TargetMode="External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1F6990-D6F8-D6D2-CC22-6BD94E95B4A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Building Agentic Solutions with Microsoft Foundry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407718-4A92-1A92-1E11-DEFC8507A4B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Illustration Figures</a:t>
            </a:r>
          </a:p>
        </p:txBody>
      </p:sp>
    </p:spTree>
    <p:extLst>
      <p:ext uri="{BB962C8B-B14F-4D97-AF65-F5344CB8AC3E}">
        <p14:creationId xmlns:p14="http://schemas.microsoft.com/office/powerpoint/2010/main" val="38862492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Diagram showing Foundry resource containing multiple projects, each with deployments and connections.">
            <a:extLst>
              <a:ext uri="{FF2B5EF4-FFF2-40B4-BE49-F238E27FC236}">
                <a16:creationId xmlns:a16="http://schemas.microsoft.com/office/drawing/2014/main" id="{12EEA84E-8776-00EF-5D97-05E8737B61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07866" y="3166424"/>
            <a:ext cx="5524500" cy="3667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839DD77-409D-94ED-8A62-6F53CBB88ADD}"/>
              </a:ext>
            </a:extLst>
          </p:cNvPr>
          <p:cNvSpPr/>
          <p:nvPr/>
        </p:nvSpPr>
        <p:spPr>
          <a:xfrm>
            <a:off x="962568" y="732317"/>
            <a:ext cx="4456090" cy="2434107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Foundry Resource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FAF0893-8AEC-1DBB-B036-2949BA0795A0}"/>
              </a:ext>
            </a:extLst>
          </p:cNvPr>
          <p:cNvSpPr/>
          <p:nvPr/>
        </p:nvSpPr>
        <p:spPr>
          <a:xfrm>
            <a:off x="2410311" y="1494888"/>
            <a:ext cx="1080042" cy="69452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Project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7E630FB-2D59-D6DB-B847-29F7E0317AFA}"/>
              </a:ext>
            </a:extLst>
          </p:cNvPr>
          <p:cNvSpPr/>
          <p:nvPr/>
        </p:nvSpPr>
        <p:spPr>
          <a:xfrm>
            <a:off x="1183452" y="1494888"/>
            <a:ext cx="1080042" cy="69452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Project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E9103F9-368F-E4D0-C17C-BF0F1C74D31A}"/>
              </a:ext>
            </a:extLst>
          </p:cNvPr>
          <p:cNvSpPr/>
          <p:nvPr/>
        </p:nvSpPr>
        <p:spPr>
          <a:xfrm>
            <a:off x="4117733" y="1494888"/>
            <a:ext cx="1080042" cy="69452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Project</a:t>
            </a:r>
          </a:p>
          <a:p>
            <a:pPr algn="ctr"/>
            <a:r>
              <a:rPr lang="en-US" i="1" dirty="0">
                <a:solidFill>
                  <a:schemeClr val="tx1"/>
                </a:solidFill>
              </a:rPr>
              <a:t>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92B776-2029-F35D-E69F-FB22F1454014}"/>
              </a:ext>
            </a:extLst>
          </p:cNvPr>
          <p:cNvSpPr txBox="1"/>
          <p:nvPr/>
        </p:nvSpPr>
        <p:spPr>
          <a:xfrm>
            <a:off x="3637170" y="1657482"/>
            <a:ext cx="333746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3CF4078-AF58-188A-DF99-E08A01A42DFE}"/>
              </a:ext>
            </a:extLst>
          </p:cNvPr>
          <p:cNvSpPr/>
          <p:nvPr/>
        </p:nvSpPr>
        <p:spPr>
          <a:xfrm>
            <a:off x="1183452" y="2534516"/>
            <a:ext cx="4014323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Security + Governance</a:t>
            </a:r>
            <a:endParaRPr lang="en-US" i="1" dirty="0">
              <a:solidFill>
                <a:schemeClr val="tx1"/>
              </a:solidFill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B3C89E23-8123-0234-D0F1-F39C80D61B78}"/>
              </a:ext>
            </a:extLst>
          </p:cNvPr>
          <p:cNvCxnSpPr>
            <a:stCxn id="8" idx="3"/>
          </p:cNvCxnSpPr>
          <p:nvPr/>
        </p:nvCxnSpPr>
        <p:spPr>
          <a:xfrm>
            <a:off x="5197775" y="1842148"/>
            <a:ext cx="591279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DA373EA2-E891-EE8A-A28C-9322032A5F17}"/>
              </a:ext>
            </a:extLst>
          </p:cNvPr>
          <p:cNvSpPr txBox="1"/>
          <p:nvPr/>
        </p:nvSpPr>
        <p:spPr>
          <a:xfrm>
            <a:off x="5825155" y="1518982"/>
            <a:ext cx="2013506" cy="64633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Configure Identities, RBAC, Monitoring, etc.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121F8B3-1DDB-194B-0435-0F2F79CBA773}"/>
              </a:ext>
            </a:extLst>
          </p:cNvPr>
          <p:cNvSpPr txBox="1"/>
          <p:nvPr/>
        </p:nvSpPr>
        <p:spPr>
          <a:xfrm>
            <a:off x="2183860" y="3429000"/>
            <a:ext cx="2013506" cy="64633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dirty="0"/>
              <a:t>Connect to Tools and Knowledge bases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53FAC2D-AAEE-099D-6EBF-C4AE11D1CF5E}"/>
              </a:ext>
            </a:extLst>
          </p:cNvPr>
          <p:cNvCxnSpPr>
            <a:cxnSpLocks/>
            <a:stCxn id="10" idx="2"/>
            <a:endCxn id="15" idx="0"/>
          </p:cNvCxnSpPr>
          <p:nvPr/>
        </p:nvCxnSpPr>
        <p:spPr>
          <a:xfrm flipH="1">
            <a:off x="3190613" y="2903848"/>
            <a:ext cx="1" cy="525152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58073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373B790-295F-D9C9-ECAF-274F835713B8}"/>
              </a:ext>
            </a:extLst>
          </p:cNvPr>
          <p:cNvSpPr/>
          <p:nvPr/>
        </p:nvSpPr>
        <p:spPr>
          <a:xfrm>
            <a:off x="1683600" y="1280957"/>
            <a:ext cx="8633879" cy="329866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F807674-F982-3E42-18FF-10D7E9818E10}"/>
              </a:ext>
            </a:extLst>
          </p:cNvPr>
          <p:cNvSpPr/>
          <p:nvPr/>
        </p:nvSpPr>
        <p:spPr>
          <a:xfrm>
            <a:off x="3993377" y="4394954"/>
            <a:ext cx="4014323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Security, Compliance, and Governance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504FE7B-F946-B4E5-5540-DCBF24C5EE02}"/>
              </a:ext>
            </a:extLst>
          </p:cNvPr>
          <p:cNvSpPr/>
          <p:nvPr/>
        </p:nvSpPr>
        <p:spPr>
          <a:xfrm>
            <a:off x="2120712" y="1629580"/>
            <a:ext cx="1097280" cy="10972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Models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CD72E2D-BA5E-4BD0-251B-D709E59BA6AA}"/>
              </a:ext>
            </a:extLst>
          </p:cNvPr>
          <p:cNvSpPr/>
          <p:nvPr/>
        </p:nvSpPr>
        <p:spPr>
          <a:xfrm>
            <a:off x="5547360" y="1629580"/>
            <a:ext cx="1097280" cy="10972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IQ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A00E6D5-7A21-352C-E165-8534FCB5922A}"/>
              </a:ext>
            </a:extLst>
          </p:cNvPr>
          <p:cNvSpPr/>
          <p:nvPr/>
        </p:nvSpPr>
        <p:spPr>
          <a:xfrm>
            <a:off x="3834036" y="1629580"/>
            <a:ext cx="1097280" cy="10972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Agents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EFF2ADF-7ABC-2B4F-15DA-147A653CA05E}"/>
              </a:ext>
            </a:extLst>
          </p:cNvPr>
          <p:cNvSpPr/>
          <p:nvPr/>
        </p:nvSpPr>
        <p:spPr>
          <a:xfrm>
            <a:off x="7260684" y="1629580"/>
            <a:ext cx="1097280" cy="10972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Tools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911A12B-43CF-B03D-9C15-EC0C073F267F}"/>
              </a:ext>
            </a:extLst>
          </p:cNvPr>
          <p:cNvSpPr/>
          <p:nvPr/>
        </p:nvSpPr>
        <p:spPr>
          <a:xfrm>
            <a:off x="8974008" y="1629580"/>
            <a:ext cx="1097280" cy="10972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Local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9E82D6B-67A5-FB5E-86C8-E494906EBA72}"/>
              </a:ext>
            </a:extLst>
          </p:cNvPr>
          <p:cNvSpPr/>
          <p:nvPr/>
        </p:nvSpPr>
        <p:spPr>
          <a:xfrm>
            <a:off x="2120712" y="3075483"/>
            <a:ext cx="7950576" cy="521732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Control Plane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8A0002D-68DE-F2E3-7AE8-155E2AE2F385}"/>
              </a:ext>
            </a:extLst>
          </p:cNvPr>
          <p:cNvSpPr/>
          <p:nvPr/>
        </p:nvSpPr>
        <p:spPr>
          <a:xfrm>
            <a:off x="2120712" y="3903751"/>
            <a:ext cx="1097280" cy="369332"/>
          </a:xfrm>
          <a:prstGeom prst="roundRect">
            <a:avLst>
              <a:gd name="adj" fmla="val 50000"/>
            </a:avLst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Cloud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275A5F02-D45E-7075-0A8E-DE47614A9350}"/>
              </a:ext>
            </a:extLst>
          </p:cNvPr>
          <p:cNvSpPr/>
          <p:nvPr/>
        </p:nvSpPr>
        <p:spPr>
          <a:xfrm>
            <a:off x="8974008" y="3900228"/>
            <a:ext cx="1097280" cy="369332"/>
          </a:xfrm>
          <a:prstGeom prst="roundRect">
            <a:avLst>
              <a:gd name="adj" fmla="val 50000"/>
            </a:avLst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Edge</a:t>
            </a:r>
            <a:endParaRPr lang="en-US" i="1" dirty="0">
              <a:solidFill>
                <a:schemeClr val="tx1"/>
              </a:solidFill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59E589C-158C-8464-335B-8E038EB59CAF}"/>
              </a:ext>
            </a:extLst>
          </p:cNvPr>
          <p:cNvCxnSpPr>
            <a:cxnSpLocks/>
            <a:stCxn id="10" idx="3"/>
            <a:endCxn id="11" idx="1"/>
          </p:cNvCxnSpPr>
          <p:nvPr/>
        </p:nvCxnSpPr>
        <p:spPr>
          <a:xfrm flipV="1">
            <a:off x="3217992" y="4084894"/>
            <a:ext cx="5756016" cy="3523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30" name="Picture 6">
            <a:extLst>
              <a:ext uri="{FF2B5EF4-FFF2-40B4-BE49-F238E27FC236}">
                <a16:creationId xmlns:a16="http://schemas.microsoft.com/office/drawing/2014/main" id="{8D6EF364-A0CD-1E0B-E3D9-D7610B0BA0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26452" y="1698160"/>
            <a:ext cx="685800" cy="685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extLst>
              <a:ext uri="{FF2B5EF4-FFF2-40B4-BE49-F238E27FC236}">
                <a16:creationId xmlns:a16="http://schemas.microsoft.com/office/drawing/2014/main" id="{584812A5-BC6A-1A0C-EC5F-293C5EE934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53100" y="1698160"/>
            <a:ext cx="685800" cy="685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75C2BE62-4319-90A2-F77A-43FBCCB45A92}"/>
              </a:ext>
            </a:extLst>
          </p:cNvPr>
          <p:cNvSpPr txBox="1"/>
          <p:nvPr/>
        </p:nvSpPr>
        <p:spPr>
          <a:xfrm>
            <a:off x="169992" y="6374146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4"/>
              </a:rPr>
              <a:t>Microsoft Foundry documentation | Microsoft Learn</a:t>
            </a:r>
            <a:endParaRPr lang="en-US" dirty="0"/>
          </a:p>
        </p:txBody>
      </p:sp>
      <p:pic>
        <p:nvPicPr>
          <p:cNvPr id="1036" name="Picture 12">
            <a:extLst>
              <a:ext uri="{FF2B5EF4-FFF2-40B4-BE49-F238E27FC236}">
                <a16:creationId xmlns:a16="http://schemas.microsoft.com/office/drawing/2014/main" id="{2C06DA4A-A0CA-3F11-FBF2-7675DC8920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79748" y="1698160"/>
            <a:ext cx="685800" cy="685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>
            <a:extLst>
              <a:ext uri="{FF2B5EF4-FFF2-40B4-BE49-F238E27FC236}">
                <a16:creationId xmlns:a16="http://schemas.microsoft.com/office/drawing/2014/main" id="{BBE57FCA-085E-B37C-A718-A5115481F5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66424" y="1698160"/>
            <a:ext cx="685800" cy="685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Graphic 20">
            <a:extLst>
              <a:ext uri="{FF2B5EF4-FFF2-40B4-BE49-F238E27FC236}">
                <a16:creationId xmlns:a16="http://schemas.microsoft.com/office/drawing/2014/main" id="{4DCAAB39-A56E-0DEE-C6B4-7E5D07F0EEB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005387" y="3107749"/>
            <a:ext cx="457200" cy="457200"/>
          </a:xfrm>
          <a:prstGeom prst="rect">
            <a:avLst/>
          </a:prstGeom>
        </p:spPr>
      </p:pic>
      <p:pic>
        <p:nvPicPr>
          <p:cNvPr id="23" name="Graphic 22">
            <a:extLst>
              <a:ext uri="{FF2B5EF4-FFF2-40B4-BE49-F238E27FC236}">
                <a16:creationId xmlns:a16="http://schemas.microsoft.com/office/drawing/2014/main" id="{9F45F68D-2016-AE28-5FB4-29299FA7298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039776" y="1698160"/>
            <a:ext cx="685800" cy="685800"/>
          </a:xfrm>
          <a:prstGeom prst="rect">
            <a:avLst/>
          </a:prstGeom>
        </p:spPr>
      </p:pic>
      <p:grpSp>
        <p:nvGrpSpPr>
          <p:cNvPr id="27" name="Group 26">
            <a:extLst>
              <a:ext uri="{FF2B5EF4-FFF2-40B4-BE49-F238E27FC236}">
                <a16:creationId xmlns:a16="http://schemas.microsoft.com/office/drawing/2014/main" id="{220717FD-C295-A74B-1DD9-B84C288BFAF5}"/>
              </a:ext>
            </a:extLst>
          </p:cNvPr>
          <p:cNvGrpSpPr/>
          <p:nvPr/>
        </p:nvGrpSpPr>
        <p:grpSpPr>
          <a:xfrm>
            <a:off x="4468860" y="550330"/>
            <a:ext cx="3254280" cy="685800"/>
            <a:chOff x="4558421" y="553105"/>
            <a:chExt cx="3254280" cy="685800"/>
          </a:xfrm>
        </p:grpSpPr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637A2444-6EF1-C6ED-5009-47471D8E1AFB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558421" y="553105"/>
              <a:ext cx="750646" cy="685800"/>
            </a:xfrm>
            <a:prstGeom prst="rect">
              <a:avLst/>
            </a:prstGeom>
          </p:spPr>
        </p:pic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AF52B155-53E9-CC0C-9CB8-93574EE705D4}"/>
                </a:ext>
              </a:extLst>
            </p:cNvPr>
            <p:cNvSpPr txBox="1"/>
            <p:nvPr/>
          </p:nvSpPr>
          <p:spPr>
            <a:xfrm>
              <a:off x="5309067" y="634395"/>
              <a:ext cx="250363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Microsoft Foundry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19023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ED732446-F0F6-0ACF-647A-3BC33E7C3D60}"/>
              </a:ext>
            </a:extLst>
          </p:cNvPr>
          <p:cNvSpPr/>
          <p:nvPr/>
        </p:nvSpPr>
        <p:spPr>
          <a:xfrm>
            <a:off x="962567" y="281940"/>
            <a:ext cx="10552099" cy="6187439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Example Models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574ED1F-143F-F0C3-860B-D1D1A94B8038}"/>
              </a:ext>
            </a:extLst>
          </p:cNvPr>
          <p:cNvSpPr/>
          <p:nvPr/>
        </p:nvSpPr>
        <p:spPr>
          <a:xfrm>
            <a:off x="4778916" y="1188720"/>
            <a:ext cx="2634168" cy="2335531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Anthropic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B92B3E5-A0FB-4F52-03FE-A3994B4A676E}"/>
              </a:ext>
            </a:extLst>
          </p:cNvPr>
          <p:cNvSpPr/>
          <p:nvPr/>
        </p:nvSpPr>
        <p:spPr>
          <a:xfrm>
            <a:off x="1553658" y="1188720"/>
            <a:ext cx="2634168" cy="2335531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Azure OpenAI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ACE8A258-9DE7-F4AF-1449-211286E0D11E}"/>
              </a:ext>
            </a:extLst>
          </p:cNvPr>
          <p:cNvSpPr/>
          <p:nvPr/>
        </p:nvSpPr>
        <p:spPr>
          <a:xfrm>
            <a:off x="8004174" y="1188720"/>
            <a:ext cx="2634168" cy="2335531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Microsoft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17ADCD0-E7DE-9B18-898C-7D55B783F694}"/>
              </a:ext>
            </a:extLst>
          </p:cNvPr>
          <p:cNvSpPr/>
          <p:nvPr/>
        </p:nvSpPr>
        <p:spPr>
          <a:xfrm>
            <a:off x="4778916" y="3653789"/>
            <a:ext cx="2634168" cy="2335531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Mistral AI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55125DD-7A11-66B1-DDF5-ECD5D6C1F69B}"/>
              </a:ext>
            </a:extLst>
          </p:cNvPr>
          <p:cNvSpPr/>
          <p:nvPr/>
        </p:nvSpPr>
        <p:spPr>
          <a:xfrm>
            <a:off x="1553658" y="3653789"/>
            <a:ext cx="2634168" cy="2335531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Meta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D8433B6-E222-52DE-3420-6BC81E4D9945}"/>
              </a:ext>
            </a:extLst>
          </p:cNvPr>
          <p:cNvSpPr/>
          <p:nvPr/>
        </p:nvSpPr>
        <p:spPr>
          <a:xfrm>
            <a:off x="8004174" y="3653789"/>
            <a:ext cx="2634168" cy="2335531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DeepSeek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02E5EA1C-587E-4A45-E606-F67DF515B407}"/>
              </a:ext>
            </a:extLst>
          </p:cNvPr>
          <p:cNvSpPr/>
          <p:nvPr/>
        </p:nvSpPr>
        <p:spPr>
          <a:xfrm>
            <a:off x="1790700" y="1882140"/>
            <a:ext cx="2111892" cy="322508"/>
          </a:xfrm>
          <a:prstGeom prst="roundRect">
            <a:avLst>
              <a:gd name="adj" fmla="val 50000"/>
            </a:avLst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gpt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E11D9861-1EDA-793B-0AA0-18BFA52ACCE4}"/>
              </a:ext>
            </a:extLst>
          </p:cNvPr>
          <p:cNvSpPr/>
          <p:nvPr/>
        </p:nvSpPr>
        <p:spPr>
          <a:xfrm>
            <a:off x="1790700" y="2380687"/>
            <a:ext cx="2111892" cy="322508"/>
          </a:xfrm>
          <a:prstGeom prst="roundRect">
            <a:avLst>
              <a:gd name="adj" fmla="val 50000"/>
            </a:avLst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46BFDC7A-CED3-C375-66E6-683B9E52EDD1}"/>
              </a:ext>
            </a:extLst>
          </p:cNvPr>
          <p:cNvSpPr/>
          <p:nvPr/>
        </p:nvSpPr>
        <p:spPr>
          <a:xfrm>
            <a:off x="1790700" y="2879234"/>
            <a:ext cx="2111892" cy="322508"/>
          </a:xfrm>
          <a:prstGeom prst="roundRect">
            <a:avLst>
              <a:gd name="adj" fmla="val 50000"/>
            </a:avLst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sora</a:t>
            </a:r>
          </a:p>
        </p:txBody>
      </p:sp>
    </p:spTree>
    <p:extLst>
      <p:ext uri="{BB962C8B-B14F-4D97-AF65-F5344CB8AC3E}">
        <p14:creationId xmlns:p14="http://schemas.microsoft.com/office/powerpoint/2010/main" val="21457153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6409C35-8811-C77F-54C2-0BC7A96CBEB6}"/>
              </a:ext>
            </a:extLst>
          </p:cNvPr>
          <p:cNvSpPr txBox="1"/>
          <p:nvPr/>
        </p:nvSpPr>
        <p:spPr>
          <a:xfrm>
            <a:off x="563218" y="543094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https://carbon.now.sh/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E291CA3-97E0-03B5-F1F6-61568AF37352}"/>
              </a:ext>
            </a:extLst>
          </p:cNvPr>
          <p:cNvSpPr txBox="1"/>
          <p:nvPr/>
        </p:nvSpPr>
        <p:spPr>
          <a:xfrm>
            <a:off x="563218" y="5990676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Theme: One Light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A8CB0BC-0057-D455-D8D7-560FEF81B8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49172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53222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650F46-8669-8B2D-7690-E25DD2E636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30">
            <a:extLst>
              <a:ext uri="{FF2B5EF4-FFF2-40B4-BE49-F238E27FC236}">
                <a16:creationId xmlns:a16="http://schemas.microsoft.com/office/drawing/2014/main" id="{1641B2C3-3E54-CFD6-A752-0AC425AFFCA6}"/>
              </a:ext>
            </a:extLst>
          </p:cNvPr>
          <p:cNvSpPr/>
          <p:nvPr/>
        </p:nvSpPr>
        <p:spPr>
          <a:xfrm>
            <a:off x="8482515" y="2718435"/>
            <a:ext cx="247650" cy="2476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E84DF503-3BC6-84E0-6FFB-3B32B203E1CB}"/>
              </a:ext>
            </a:extLst>
          </p:cNvPr>
          <p:cNvSpPr/>
          <p:nvPr/>
        </p:nvSpPr>
        <p:spPr>
          <a:xfrm>
            <a:off x="819950" y="617219"/>
            <a:ext cx="10552099" cy="1485901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Host (AI Application)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3675B45-9C5A-DB3C-5478-881C7B1BD00F}"/>
              </a:ext>
            </a:extLst>
          </p:cNvPr>
          <p:cNvSpPr/>
          <p:nvPr/>
        </p:nvSpPr>
        <p:spPr>
          <a:xfrm>
            <a:off x="1553658" y="1188721"/>
            <a:ext cx="2634168" cy="5257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Client 1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4E726389-504C-D4C8-91C7-AF40D8E5E559}"/>
              </a:ext>
            </a:extLst>
          </p:cNvPr>
          <p:cNvSpPr/>
          <p:nvPr/>
        </p:nvSpPr>
        <p:spPr>
          <a:xfrm>
            <a:off x="4778915" y="1188721"/>
            <a:ext cx="2634168" cy="5257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Client 2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6FC3ABB-2BFB-C405-42FE-2ED02F4EA5C4}"/>
              </a:ext>
            </a:extLst>
          </p:cNvPr>
          <p:cNvSpPr/>
          <p:nvPr/>
        </p:nvSpPr>
        <p:spPr>
          <a:xfrm>
            <a:off x="8004174" y="1188721"/>
            <a:ext cx="2634168" cy="5257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Client 2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6F4543D6-02D0-038C-12A8-DB37F7A273CE}"/>
              </a:ext>
            </a:extLst>
          </p:cNvPr>
          <p:cNvSpPr/>
          <p:nvPr/>
        </p:nvSpPr>
        <p:spPr>
          <a:xfrm>
            <a:off x="1553658" y="2718435"/>
            <a:ext cx="2634168" cy="79629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Server A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Local Filesystem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578DD490-0572-9417-BBD7-3FF5F8A9E3D8}"/>
              </a:ext>
            </a:extLst>
          </p:cNvPr>
          <p:cNvSpPr/>
          <p:nvPr/>
        </p:nvSpPr>
        <p:spPr>
          <a:xfrm>
            <a:off x="4778915" y="2718435"/>
            <a:ext cx="2634168" cy="79629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Server B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Remote Database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04622E36-7A33-D496-1202-F85F8B8E5A75}"/>
              </a:ext>
            </a:extLst>
          </p:cNvPr>
          <p:cNvSpPr/>
          <p:nvPr/>
        </p:nvSpPr>
        <p:spPr>
          <a:xfrm>
            <a:off x="8004172" y="2718435"/>
            <a:ext cx="2634168" cy="79629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Server C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Remote API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BD059445-29E0-0BB8-E8BA-0013ADBA930C}"/>
              </a:ext>
            </a:extLst>
          </p:cNvPr>
          <p:cNvCxnSpPr>
            <a:cxnSpLocks/>
            <a:stCxn id="4" idx="2"/>
            <a:endCxn id="15" idx="0"/>
          </p:cNvCxnSpPr>
          <p:nvPr/>
        </p:nvCxnSpPr>
        <p:spPr>
          <a:xfrm>
            <a:off x="2870742" y="1714501"/>
            <a:ext cx="0" cy="1003934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67BB8C0-5CB6-3A94-820B-418CFFCE9D38}"/>
              </a:ext>
            </a:extLst>
          </p:cNvPr>
          <p:cNvCxnSpPr>
            <a:cxnSpLocks/>
            <a:stCxn id="9" idx="2"/>
            <a:endCxn id="16" idx="0"/>
          </p:cNvCxnSpPr>
          <p:nvPr/>
        </p:nvCxnSpPr>
        <p:spPr>
          <a:xfrm>
            <a:off x="6095999" y="1714501"/>
            <a:ext cx="0" cy="1003934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7FEBFCBE-6607-A910-FF7B-C1762F4684EF}"/>
              </a:ext>
            </a:extLst>
          </p:cNvPr>
          <p:cNvCxnSpPr>
            <a:cxnSpLocks/>
            <a:stCxn id="13" idx="2"/>
            <a:endCxn id="17" idx="0"/>
          </p:cNvCxnSpPr>
          <p:nvPr/>
        </p:nvCxnSpPr>
        <p:spPr>
          <a:xfrm flipH="1">
            <a:off x="9321256" y="1714501"/>
            <a:ext cx="2" cy="1003934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CE37A76D-0F39-82E2-974B-B04FAACABE32}"/>
              </a:ext>
            </a:extLst>
          </p:cNvPr>
          <p:cNvCxnSpPr>
            <a:cxnSpLocks/>
            <a:stCxn id="9" idx="2"/>
            <a:endCxn id="31" idx="0"/>
          </p:cNvCxnSpPr>
          <p:nvPr/>
        </p:nvCxnSpPr>
        <p:spPr>
          <a:xfrm rot="16200000" flipH="1">
            <a:off x="6849202" y="961297"/>
            <a:ext cx="1003934" cy="2510341"/>
          </a:xfrm>
          <a:prstGeom prst="bentConnector3">
            <a:avLst>
              <a:gd name="adj1" fmla="val 61385"/>
            </a:avLst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362480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Diagram that shows an agent receiving user inputs on the left, processing them through the model and instructions in the center, and producing outputs on the right. A bidirectional arrow below the agent connects to tools, indicating the agent can call tools during processing to retrieve knowledge or take actions.">
            <a:extLst>
              <a:ext uri="{FF2B5EF4-FFF2-40B4-BE49-F238E27FC236}">
                <a16:creationId xmlns:a16="http://schemas.microsoft.com/office/drawing/2014/main" id="{84BAA02D-198C-8FEB-DDC7-5BF0DBB7B7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3956686" y="3748932"/>
            <a:ext cx="7589520" cy="31553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D0B5B93-017C-38BF-D1E2-3FC17585D737}"/>
              </a:ext>
            </a:extLst>
          </p:cNvPr>
          <p:cNvSpPr/>
          <p:nvPr/>
        </p:nvSpPr>
        <p:spPr>
          <a:xfrm>
            <a:off x="5189220" y="609599"/>
            <a:ext cx="1813560" cy="1790701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Agent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566B249-41E8-70FF-C1BD-2C614E44E77F}"/>
              </a:ext>
            </a:extLst>
          </p:cNvPr>
          <p:cNvSpPr/>
          <p:nvPr/>
        </p:nvSpPr>
        <p:spPr>
          <a:xfrm>
            <a:off x="4272280" y="2855243"/>
            <a:ext cx="3642358" cy="1485901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Tool Calls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166577C-6B48-5754-383D-478B8B3FA9BD}"/>
              </a:ext>
            </a:extLst>
          </p:cNvPr>
          <p:cNvSpPr/>
          <p:nvPr/>
        </p:nvSpPr>
        <p:spPr>
          <a:xfrm>
            <a:off x="7795258" y="626664"/>
            <a:ext cx="3383280" cy="1773636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Output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E9BC9BDF-2C43-4EC0-746F-536C87A558E6}"/>
              </a:ext>
            </a:extLst>
          </p:cNvPr>
          <p:cNvSpPr/>
          <p:nvPr/>
        </p:nvSpPr>
        <p:spPr>
          <a:xfrm>
            <a:off x="823808" y="609599"/>
            <a:ext cx="3383280" cy="1790701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Input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1637FF2-78C8-02A4-8845-916F66F7364D}"/>
              </a:ext>
            </a:extLst>
          </p:cNvPr>
          <p:cNvSpPr/>
          <p:nvPr/>
        </p:nvSpPr>
        <p:spPr>
          <a:xfrm>
            <a:off x="5425880" y="1469801"/>
            <a:ext cx="1340237" cy="329915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Instructions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5E14E21-FA90-20E0-BD54-1EB35C39B056}"/>
              </a:ext>
            </a:extLst>
          </p:cNvPr>
          <p:cNvSpPr/>
          <p:nvPr/>
        </p:nvSpPr>
        <p:spPr>
          <a:xfrm>
            <a:off x="5425881" y="1039700"/>
            <a:ext cx="1340237" cy="329915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LLM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24C76365-E8A1-1FA2-FBB8-3991FB9D1D13}"/>
              </a:ext>
            </a:extLst>
          </p:cNvPr>
          <p:cNvSpPr/>
          <p:nvPr/>
        </p:nvSpPr>
        <p:spPr>
          <a:xfrm>
            <a:off x="5425879" y="1899902"/>
            <a:ext cx="1340237" cy="329915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Tools</a:t>
            </a:r>
          </a:p>
        </p:txBody>
      </p:sp>
      <p:pic>
        <p:nvPicPr>
          <p:cNvPr id="10" name="Graphic 9" descr="Brain with solid fill">
            <a:extLst>
              <a:ext uri="{FF2B5EF4-FFF2-40B4-BE49-F238E27FC236}">
                <a16:creationId xmlns:a16="http://schemas.microsoft.com/office/drawing/2014/main" id="{F81D149A-46A0-A0F2-40BC-1E0C0F7C347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896099" y="3296865"/>
            <a:ext cx="457200" cy="457200"/>
          </a:xfrm>
          <a:prstGeom prst="rect">
            <a:avLst/>
          </a:prstGeom>
        </p:spPr>
      </p:pic>
      <p:pic>
        <p:nvPicPr>
          <p:cNvPr id="12" name="Graphic 11" descr="Single gear with solid fill">
            <a:extLst>
              <a:ext uri="{FF2B5EF4-FFF2-40B4-BE49-F238E27FC236}">
                <a16:creationId xmlns:a16="http://schemas.microsoft.com/office/drawing/2014/main" id="{030E2C5E-3E11-DAAD-16E3-271D6A0A4F3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864859" y="3293392"/>
            <a:ext cx="457200" cy="457200"/>
          </a:xfrm>
          <a:prstGeom prst="rect">
            <a:avLst/>
          </a:prstGeom>
        </p:spPr>
      </p:pic>
      <p:pic>
        <p:nvPicPr>
          <p:cNvPr id="14" name="Graphic 13" descr="Magnifying glass with solid fill">
            <a:extLst>
              <a:ext uri="{FF2B5EF4-FFF2-40B4-BE49-F238E27FC236}">
                <a16:creationId xmlns:a16="http://schemas.microsoft.com/office/drawing/2014/main" id="{E1C69C60-7208-0B12-1452-1A5E8DB2B0D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833619" y="3291732"/>
            <a:ext cx="457200" cy="457200"/>
          </a:xfrm>
          <a:prstGeom prst="rect">
            <a:avLst/>
          </a:prstGeom>
        </p:spPr>
      </p:pic>
      <p:pic>
        <p:nvPicPr>
          <p:cNvPr id="16" name="Graphic 15" descr="Table with solid fill">
            <a:extLst>
              <a:ext uri="{FF2B5EF4-FFF2-40B4-BE49-F238E27FC236}">
                <a16:creationId xmlns:a16="http://schemas.microsoft.com/office/drawing/2014/main" id="{B5676005-E079-2A3B-089C-6566A8AAC60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951350" y="1113916"/>
            <a:ext cx="457200" cy="457200"/>
          </a:xfrm>
          <a:prstGeom prst="rect">
            <a:avLst/>
          </a:prstGeom>
        </p:spPr>
      </p:pic>
      <p:pic>
        <p:nvPicPr>
          <p:cNvPr id="18" name="Graphic 17" descr="Chat bubble with solid fill">
            <a:extLst>
              <a:ext uri="{FF2B5EF4-FFF2-40B4-BE49-F238E27FC236}">
                <a16:creationId xmlns:a16="http://schemas.microsoft.com/office/drawing/2014/main" id="{3C989B8B-DED4-B55D-CC71-F1E215EF7EAB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371197" y="1123949"/>
            <a:ext cx="457200" cy="457200"/>
          </a:xfrm>
          <a:prstGeom prst="rect">
            <a:avLst/>
          </a:prstGeom>
        </p:spPr>
      </p:pic>
      <p:pic>
        <p:nvPicPr>
          <p:cNvPr id="20" name="Graphic 19" descr="Speech with solid fill">
            <a:extLst>
              <a:ext uri="{FF2B5EF4-FFF2-40B4-BE49-F238E27FC236}">
                <a16:creationId xmlns:a16="http://schemas.microsoft.com/office/drawing/2014/main" id="{8F949B6B-BC5B-F17A-DDE0-890881F6E6F5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202499" y="1141015"/>
            <a:ext cx="457200" cy="457200"/>
          </a:xfrm>
          <a:prstGeom prst="rect">
            <a:avLst/>
          </a:prstGeom>
        </p:spPr>
      </p:pic>
      <p:pic>
        <p:nvPicPr>
          <p:cNvPr id="22" name="Graphic 21" descr="Ringer with solid fill">
            <a:extLst>
              <a:ext uri="{FF2B5EF4-FFF2-40B4-BE49-F238E27FC236}">
                <a16:creationId xmlns:a16="http://schemas.microsoft.com/office/drawing/2014/main" id="{31B1C6DC-A0E0-5DD4-461A-CD4ED368BA03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2286848" y="1123949"/>
            <a:ext cx="457200" cy="457200"/>
          </a:xfrm>
          <a:prstGeom prst="rect">
            <a:avLst/>
          </a:prstGeom>
        </p:spPr>
      </p:pic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FBB3EA1-6050-7099-569B-D76BD8F80060}"/>
              </a:ext>
            </a:extLst>
          </p:cNvPr>
          <p:cNvCxnSpPr>
            <a:cxnSpLocks/>
            <a:stCxn id="5" idx="3"/>
            <a:endCxn id="2" idx="1"/>
          </p:cNvCxnSpPr>
          <p:nvPr/>
        </p:nvCxnSpPr>
        <p:spPr>
          <a:xfrm>
            <a:off x="4207088" y="1504950"/>
            <a:ext cx="982132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88013E43-9914-71DD-8256-A57FB83385BD}"/>
              </a:ext>
            </a:extLst>
          </p:cNvPr>
          <p:cNvCxnSpPr>
            <a:cxnSpLocks/>
            <a:stCxn id="2" idx="3"/>
            <a:endCxn id="4" idx="1"/>
          </p:cNvCxnSpPr>
          <p:nvPr/>
        </p:nvCxnSpPr>
        <p:spPr>
          <a:xfrm>
            <a:off x="7002780" y="1504950"/>
            <a:ext cx="792478" cy="8532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33" name="Table 32">
            <a:extLst>
              <a:ext uri="{FF2B5EF4-FFF2-40B4-BE49-F238E27FC236}">
                <a16:creationId xmlns:a16="http://schemas.microsoft.com/office/drawing/2014/main" id="{47803182-198F-F147-4FA2-48DE67FF94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49560230"/>
              </p:ext>
            </p:extLst>
          </p:nvPr>
        </p:nvGraphicFramePr>
        <p:xfrm>
          <a:off x="916517" y="1571116"/>
          <a:ext cx="3197862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5954">
                  <a:extLst>
                    <a:ext uri="{9D8B030D-6E8A-4147-A177-3AD203B41FA5}">
                      <a16:colId xmlns:a16="http://schemas.microsoft.com/office/drawing/2014/main" val="68322426"/>
                    </a:ext>
                  </a:extLst>
                </a:gridCol>
                <a:gridCol w="1065954">
                  <a:extLst>
                    <a:ext uri="{9D8B030D-6E8A-4147-A177-3AD203B41FA5}">
                      <a16:colId xmlns:a16="http://schemas.microsoft.com/office/drawing/2014/main" val="73392387"/>
                    </a:ext>
                  </a:extLst>
                </a:gridCol>
                <a:gridCol w="1065954">
                  <a:extLst>
                    <a:ext uri="{9D8B030D-6E8A-4147-A177-3AD203B41FA5}">
                      <a16:colId xmlns:a16="http://schemas.microsoft.com/office/drawing/2014/main" val="38269474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User Messages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System Events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Agent Messages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720830"/>
                  </a:ext>
                </a:extLst>
              </a:tr>
            </a:tbl>
          </a:graphicData>
        </a:graphic>
      </p:graphicFrame>
      <p:graphicFrame>
        <p:nvGraphicFramePr>
          <p:cNvPr id="35" name="Table 34">
            <a:extLst>
              <a:ext uri="{FF2B5EF4-FFF2-40B4-BE49-F238E27FC236}">
                <a16:creationId xmlns:a16="http://schemas.microsoft.com/office/drawing/2014/main" id="{13CEFDE5-BB13-7FE2-5227-4B42AA1FC2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0369039"/>
              </p:ext>
            </p:extLst>
          </p:nvPr>
        </p:nvGraphicFramePr>
        <p:xfrm>
          <a:off x="4494528" y="3748932"/>
          <a:ext cx="319786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5954">
                  <a:extLst>
                    <a:ext uri="{9D8B030D-6E8A-4147-A177-3AD203B41FA5}">
                      <a16:colId xmlns:a16="http://schemas.microsoft.com/office/drawing/2014/main" val="68322426"/>
                    </a:ext>
                  </a:extLst>
                </a:gridCol>
                <a:gridCol w="1065954">
                  <a:extLst>
                    <a:ext uri="{9D8B030D-6E8A-4147-A177-3AD203B41FA5}">
                      <a16:colId xmlns:a16="http://schemas.microsoft.com/office/drawing/2014/main" val="73392387"/>
                    </a:ext>
                  </a:extLst>
                </a:gridCol>
                <a:gridCol w="1065954">
                  <a:extLst>
                    <a:ext uri="{9D8B030D-6E8A-4147-A177-3AD203B41FA5}">
                      <a16:colId xmlns:a16="http://schemas.microsoft.com/office/drawing/2014/main" val="38269474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Retrieval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Actions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Memory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720830"/>
                  </a:ext>
                </a:extLst>
              </a:tr>
            </a:tbl>
          </a:graphicData>
        </a:graphic>
      </p:graphicFrame>
      <p:graphicFrame>
        <p:nvGraphicFramePr>
          <p:cNvPr id="36" name="Table 35">
            <a:extLst>
              <a:ext uri="{FF2B5EF4-FFF2-40B4-BE49-F238E27FC236}">
                <a16:creationId xmlns:a16="http://schemas.microsoft.com/office/drawing/2014/main" id="{02E9900A-996C-DAAA-125C-D960B4466D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9753363"/>
              </p:ext>
            </p:extLst>
          </p:nvPr>
        </p:nvGraphicFramePr>
        <p:xfrm>
          <a:off x="8093204" y="1571116"/>
          <a:ext cx="2787388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3694">
                  <a:extLst>
                    <a:ext uri="{9D8B030D-6E8A-4147-A177-3AD203B41FA5}">
                      <a16:colId xmlns:a16="http://schemas.microsoft.com/office/drawing/2014/main" val="68322426"/>
                    </a:ext>
                  </a:extLst>
                </a:gridCol>
                <a:gridCol w="1393694">
                  <a:extLst>
                    <a:ext uri="{9D8B030D-6E8A-4147-A177-3AD203B41FA5}">
                      <a16:colId xmlns:a16="http://schemas.microsoft.com/office/drawing/2014/main" val="7339238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Agent Messages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Structured</a:t>
                      </a:r>
                    </a:p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Output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720830"/>
                  </a:ext>
                </a:extLst>
              </a:tr>
            </a:tbl>
          </a:graphicData>
        </a:graphic>
      </p:graphicFrame>
      <p:pic>
        <p:nvPicPr>
          <p:cNvPr id="38" name="Graphic 37" descr="Chat bubble with solid fill">
            <a:extLst>
              <a:ext uri="{FF2B5EF4-FFF2-40B4-BE49-F238E27FC236}">
                <a16:creationId xmlns:a16="http://schemas.microsoft.com/office/drawing/2014/main" id="{76B4E836-5AE0-07B8-D379-E54786753A35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565246" y="1141015"/>
            <a:ext cx="457200" cy="457200"/>
          </a:xfrm>
          <a:prstGeom prst="rect">
            <a:avLst/>
          </a:prstGeom>
        </p:spPr>
      </p:pic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460210D5-1CB7-617C-BD88-70D36F38AC6C}"/>
              </a:ext>
            </a:extLst>
          </p:cNvPr>
          <p:cNvCxnSpPr>
            <a:cxnSpLocks/>
            <a:stCxn id="2" idx="2"/>
            <a:endCxn id="3" idx="0"/>
          </p:cNvCxnSpPr>
          <p:nvPr/>
        </p:nvCxnSpPr>
        <p:spPr>
          <a:xfrm flipH="1">
            <a:off x="6093459" y="2400300"/>
            <a:ext cx="2541" cy="454943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916963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CEAC593-D8CD-61FE-1EC9-C96369134D92}"/>
              </a:ext>
            </a:extLst>
          </p:cNvPr>
          <p:cNvSpPr/>
          <p:nvPr/>
        </p:nvSpPr>
        <p:spPr>
          <a:xfrm>
            <a:off x="182881" y="1961989"/>
            <a:ext cx="3841894" cy="1790701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Microsoft Foundry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3C8D5DE6-7408-3D08-510F-FAA473A61DAF}"/>
              </a:ext>
            </a:extLst>
          </p:cNvPr>
          <p:cNvGrpSpPr/>
          <p:nvPr/>
        </p:nvGrpSpPr>
        <p:grpSpPr>
          <a:xfrm>
            <a:off x="492634" y="2520363"/>
            <a:ext cx="3213551" cy="870652"/>
            <a:chOff x="1094614" y="2520363"/>
            <a:chExt cx="3213551" cy="870652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A912725C-460A-B2C6-B45E-AFDA16950EF5}"/>
                </a:ext>
              </a:extLst>
            </p:cNvPr>
            <p:cNvSpPr/>
            <p:nvPr/>
          </p:nvSpPr>
          <p:spPr>
            <a:xfrm>
              <a:off x="1094614" y="2520363"/>
              <a:ext cx="1340237" cy="870652"/>
            </a:xfrm>
            <a:prstGeom prst="roundRect">
              <a:avLst/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Agent</a:t>
              </a:r>
            </a:p>
          </p:txBody>
        </p:sp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E5663406-1A83-EB63-FD18-62122032389D}"/>
                </a:ext>
              </a:extLst>
            </p:cNvPr>
            <p:cNvSpPr/>
            <p:nvPr/>
          </p:nvSpPr>
          <p:spPr>
            <a:xfrm>
              <a:off x="2967928" y="2520363"/>
              <a:ext cx="1340237" cy="870652"/>
            </a:xfrm>
            <a:prstGeom prst="roundRect">
              <a:avLst/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MCP Client</a:t>
              </a:r>
            </a:p>
          </p:txBody>
        </p:sp>
      </p:grp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A06BC94-073A-00F0-7B7A-53ABD805A1C4}"/>
              </a:ext>
            </a:extLst>
          </p:cNvPr>
          <p:cNvSpPr/>
          <p:nvPr/>
        </p:nvSpPr>
        <p:spPr>
          <a:xfrm>
            <a:off x="5159832" y="804800"/>
            <a:ext cx="2406383" cy="405919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Servers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66DD466-80C6-ABEA-A847-87533B9DAE34}"/>
              </a:ext>
            </a:extLst>
          </p:cNvPr>
          <p:cNvSpPr/>
          <p:nvPr/>
        </p:nvSpPr>
        <p:spPr>
          <a:xfrm>
            <a:off x="5692902" y="2520363"/>
            <a:ext cx="1340237" cy="870652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File Storage MCP Server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93581B78-846C-5C2B-AD8B-2A27DE6133B0}"/>
              </a:ext>
            </a:extLst>
          </p:cNvPr>
          <p:cNvSpPr/>
          <p:nvPr/>
        </p:nvSpPr>
        <p:spPr>
          <a:xfrm>
            <a:off x="5692901" y="1412582"/>
            <a:ext cx="1340237" cy="870652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Third-Party MCP Server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CA2D4C7-E2C9-BE70-32B0-9E817B3AD4C5}"/>
              </a:ext>
            </a:extLst>
          </p:cNvPr>
          <p:cNvSpPr/>
          <p:nvPr/>
        </p:nvSpPr>
        <p:spPr>
          <a:xfrm>
            <a:off x="5692900" y="3628144"/>
            <a:ext cx="1340237" cy="870652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Database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MCP Server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E9A04995-C98F-AF75-E6DC-AFDAD76B392B}"/>
              </a:ext>
            </a:extLst>
          </p:cNvPr>
          <p:cNvSpPr/>
          <p:nvPr/>
        </p:nvSpPr>
        <p:spPr>
          <a:xfrm>
            <a:off x="9067023" y="804800"/>
            <a:ext cx="2406383" cy="405919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External Services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B5A15264-2CA2-94CF-802C-8F148D56ECAF}"/>
              </a:ext>
            </a:extLst>
          </p:cNvPr>
          <p:cNvSpPr/>
          <p:nvPr/>
        </p:nvSpPr>
        <p:spPr>
          <a:xfrm>
            <a:off x="9600093" y="2520363"/>
            <a:ext cx="1340237" cy="870652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Blob Storage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F9FB5A06-89C1-2865-4EBC-BFD77D31C7E0}"/>
              </a:ext>
            </a:extLst>
          </p:cNvPr>
          <p:cNvSpPr/>
          <p:nvPr/>
        </p:nvSpPr>
        <p:spPr>
          <a:xfrm>
            <a:off x="9600092" y="1412582"/>
            <a:ext cx="1340237" cy="870652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SaaS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22A69AFF-6121-37F3-566A-DE1AA9EF9D38}"/>
              </a:ext>
            </a:extLst>
          </p:cNvPr>
          <p:cNvSpPr/>
          <p:nvPr/>
        </p:nvSpPr>
        <p:spPr>
          <a:xfrm>
            <a:off x="9600091" y="3628144"/>
            <a:ext cx="1340237" cy="870652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Database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6A8B2231-37D8-6CF7-3B6C-0CA623A3A208}"/>
              </a:ext>
            </a:extLst>
          </p:cNvPr>
          <p:cNvCxnSpPr>
            <a:cxnSpLocks/>
            <a:stCxn id="3" idx="3"/>
            <a:endCxn id="4" idx="1"/>
          </p:cNvCxnSpPr>
          <p:nvPr/>
        </p:nvCxnSpPr>
        <p:spPr>
          <a:xfrm>
            <a:off x="1832871" y="2955689"/>
            <a:ext cx="533077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B6AF12AA-901C-45D0-7A07-FC55AAB45F61}"/>
              </a:ext>
            </a:extLst>
          </p:cNvPr>
          <p:cNvCxnSpPr>
            <a:cxnSpLocks/>
            <a:stCxn id="7" idx="3"/>
            <a:endCxn id="12" idx="1"/>
          </p:cNvCxnSpPr>
          <p:nvPr/>
        </p:nvCxnSpPr>
        <p:spPr>
          <a:xfrm>
            <a:off x="7033138" y="1847908"/>
            <a:ext cx="2566954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39D667D-0422-43D5-28F2-605AE5941F22}"/>
              </a:ext>
            </a:extLst>
          </p:cNvPr>
          <p:cNvCxnSpPr>
            <a:cxnSpLocks/>
            <a:stCxn id="6" idx="3"/>
            <a:endCxn id="11" idx="1"/>
          </p:cNvCxnSpPr>
          <p:nvPr/>
        </p:nvCxnSpPr>
        <p:spPr>
          <a:xfrm>
            <a:off x="7033139" y="2955689"/>
            <a:ext cx="2566954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8A2CC6C4-B8F4-865E-18AE-A24BC6F4AF3A}"/>
              </a:ext>
            </a:extLst>
          </p:cNvPr>
          <p:cNvCxnSpPr>
            <a:cxnSpLocks/>
            <a:stCxn id="8" idx="3"/>
            <a:endCxn id="13" idx="1"/>
          </p:cNvCxnSpPr>
          <p:nvPr/>
        </p:nvCxnSpPr>
        <p:spPr>
          <a:xfrm>
            <a:off x="7033137" y="4063470"/>
            <a:ext cx="2566954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B97CD07A-2870-7437-2F7C-3F75E24EB5CF}"/>
              </a:ext>
            </a:extLst>
          </p:cNvPr>
          <p:cNvCxnSpPr>
            <a:cxnSpLocks/>
            <a:stCxn id="4" idx="3"/>
            <a:endCxn id="7" idx="1"/>
          </p:cNvCxnSpPr>
          <p:nvPr/>
        </p:nvCxnSpPr>
        <p:spPr>
          <a:xfrm flipV="1">
            <a:off x="3706185" y="1847908"/>
            <a:ext cx="1986716" cy="1107781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18C5FA9F-3761-6651-D33F-2C24793118A2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3706185" y="2955689"/>
            <a:ext cx="1986715" cy="1107781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43E6F43D-CF04-FED6-7F22-B3883E121EF8}"/>
              </a:ext>
            </a:extLst>
          </p:cNvPr>
          <p:cNvCxnSpPr>
            <a:cxnSpLocks/>
            <a:stCxn id="4" idx="3"/>
            <a:endCxn id="6" idx="1"/>
          </p:cNvCxnSpPr>
          <p:nvPr/>
        </p:nvCxnSpPr>
        <p:spPr>
          <a:xfrm>
            <a:off x="3706185" y="2955689"/>
            <a:ext cx="1986717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50545247-9B5D-B18C-25FF-A2F607D94783}"/>
              </a:ext>
            </a:extLst>
          </p:cNvPr>
          <p:cNvSpPr txBox="1"/>
          <p:nvPr/>
        </p:nvSpPr>
        <p:spPr>
          <a:xfrm>
            <a:off x="7920517" y="1478522"/>
            <a:ext cx="7922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API Call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F2CCF29-E962-3B49-3A2F-5B7C8B1E62E0}"/>
              </a:ext>
            </a:extLst>
          </p:cNvPr>
          <p:cNvSpPr txBox="1"/>
          <p:nvPr/>
        </p:nvSpPr>
        <p:spPr>
          <a:xfrm>
            <a:off x="7739820" y="2586250"/>
            <a:ext cx="11535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Python SDK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83BC4EA-D032-66AD-9B5E-0313282962E7}"/>
              </a:ext>
            </a:extLst>
          </p:cNvPr>
          <p:cNvSpPr txBox="1"/>
          <p:nvPr/>
        </p:nvSpPr>
        <p:spPr>
          <a:xfrm>
            <a:off x="7794098" y="3694030"/>
            <a:ext cx="10450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SQL Query</a:t>
            </a:r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F84FB3F3-23CB-15B6-FD3C-E0EC33E4649A}"/>
              </a:ext>
            </a:extLst>
          </p:cNvPr>
          <p:cNvSpPr/>
          <p:nvPr/>
        </p:nvSpPr>
        <p:spPr>
          <a:xfrm rot="16200000">
            <a:off x="4167506" y="2771023"/>
            <a:ext cx="105477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JSON-RPC</a:t>
            </a:r>
            <a:endParaRPr lang="en-US" i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664897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093A9C9-AC19-13DF-070B-47915CA16540}"/>
              </a:ext>
            </a:extLst>
          </p:cNvPr>
          <p:cNvSpPr/>
          <p:nvPr/>
        </p:nvSpPr>
        <p:spPr>
          <a:xfrm>
            <a:off x="2933281" y="496097"/>
            <a:ext cx="6325438" cy="97456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Retrieval Agents: Query analysis and planning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872BA75-F1E5-3FE4-8499-99490E2C15B3}"/>
              </a:ext>
            </a:extLst>
          </p:cNvPr>
          <p:cNvSpPr/>
          <p:nvPr/>
        </p:nvSpPr>
        <p:spPr>
          <a:xfrm>
            <a:off x="4805537" y="311431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Agent Layer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854ADE8-F06B-9F26-91C2-3A9892E48DAE}"/>
              </a:ext>
            </a:extLst>
          </p:cNvPr>
          <p:cNvSpPr/>
          <p:nvPr/>
        </p:nvSpPr>
        <p:spPr>
          <a:xfrm>
            <a:off x="2933281" y="1839992"/>
            <a:ext cx="6325438" cy="97456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CD6471B-9868-9E31-CDE5-11FB5406EC6D}"/>
              </a:ext>
            </a:extLst>
          </p:cNvPr>
          <p:cNvSpPr/>
          <p:nvPr/>
        </p:nvSpPr>
        <p:spPr>
          <a:xfrm>
            <a:off x="4805537" y="1655326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Router Layer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EBB63F4-ED09-21FE-8751-04E01AFF0D06}"/>
              </a:ext>
            </a:extLst>
          </p:cNvPr>
          <p:cNvSpPr/>
          <p:nvPr/>
        </p:nvSpPr>
        <p:spPr>
          <a:xfrm>
            <a:off x="2933281" y="3183887"/>
            <a:ext cx="6325438" cy="97456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4887E38-DD48-A03C-B28D-2E196FFD81D6}"/>
              </a:ext>
            </a:extLst>
          </p:cNvPr>
          <p:cNvSpPr/>
          <p:nvPr/>
        </p:nvSpPr>
        <p:spPr>
          <a:xfrm>
            <a:off x="4805537" y="2999221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Tool Layer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61179975-6D14-9A73-F6AF-EB48BB4B01D5}"/>
              </a:ext>
            </a:extLst>
          </p:cNvPr>
          <p:cNvSpPr/>
          <p:nvPr/>
        </p:nvSpPr>
        <p:spPr>
          <a:xfrm>
            <a:off x="2933281" y="4527782"/>
            <a:ext cx="6325438" cy="97456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87A8A04-A0EB-0635-5D50-4C591A01FD85}"/>
              </a:ext>
            </a:extLst>
          </p:cNvPr>
          <p:cNvSpPr/>
          <p:nvPr/>
        </p:nvSpPr>
        <p:spPr>
          <a:xfrm>
            <a:off x="4805537" y="4343116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Results Layer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5DF5948-C971-4B39-A3BE-2153A8EEA636}"/>
              </a:ext>
            </a:extLst>
          </p:cNvPr>
          <p:cNvSpPr/>
          <p:nvPr/>
        </p:nvSpPr>
        <p:spPr>
          <a:xfrm>
            <a:off x="2933281" y="5687011"/>
            <a:ext cx="6325438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LLM Integration: Response Synthesis and Answering</a:t>
            </a:r>
            <a:endParaRPr lang="en-US" i="1" dirty="0">
              <a:solidFill>
                <a:schemeClr val="tx1"/>
              </a:solidFill>
            </a:endParaRPr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488841C4-B7C7-9477-522B-816A130D46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2256614"/>
              </p:ext>
            </p:extLst>
          </p:nvPr>
        </p:nvGraphicFramePr>
        <p:xfrm>
          <a:off x="3122928" y="2099566"/>
          <a:ext cx="5946141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2047">
                  <a:extLst>
                    <a:ext uri="{9D8B030D-6E8A-4147-A177-3AD203B41FA5}">
                      <a16:colId xmlns:a16="http://schemas.microsoft.com/office/drawing/2014/main" val="3167127258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1913894467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3041787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ysClr val="windowText" lastClr="000000"/>
                          </a:solidFill>
                        </a:rPr>
                        <a:t>SQL DB:</a:t>
                      </a:r>
                    </a:p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Patient Data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ysClr val="windowText" lastClr="000000"/>
                          </a:solidFill>
                        </a:rPr>
                        <a:t>Vector DB:</a:t>
                      </a:r>
                    </a:p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JSON Data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ysClr val="windowText" lastClr="000000"/>
                          </a:solidFill>
                        </a:rPr>
                        <a:t>Web Search:</a:t>
                      </a:r>
                    </a:p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Latest Data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8122310"/>
                  </a:ext>
                </a:extLst>
              </a:tr>
            </a:tbl>
          </a:graphicData>
        </a:graphic>
      </p:graphicFrame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F7701C1B-CC03-0FF1-A238-E5DE6E423C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2346733"/>
              </p:ext>
            </p:extLst>
          </p:nvPr>
        </p:nvGraphicFramePr>
        <p:xfrm>
          <a:off x="3122927" y="3552465"/>
          <a:ext cx="5946141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2047">
                  <a:extLst>
                    <a:ext uri="{9D8B030D-6E8A-4147-A177-3AD203B41FA5}">
                      <a16:colId xmlns:a16="http://schemas.microsoft.com/office/drawing/2014/main" val="3167127258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1913894467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3041787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SQL DB Tool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Cosmos DB Tool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Web Search Tool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8122310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A600B530-2DEF-F4FD-A3B5-2DF7667730D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3539689"/>
              </p:ext>
            </p:extLst>
          </p:nvPr>
        </p:nvGraphicFramePr>
        <p:xfrm>
          <a:off x="3122926" y="4897114"/>
          <a:ext cx="5946141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2047">
                  <a:extLst>
                    <a:ext uri="{9D8B030D-6E8A-4147-A177-3AD203B41FA5}">
                      <a16:colId xmlns:a16="http://schemas.microsoft.com/office/drawing/2014/main" val="3167127258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1913894467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3041787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SQL DB results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Vector search results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Web search results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81223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880006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Diagram of the Azure AI Search architecture for agentic retrieval.">
            <a:extLst>
              <a:ext uri="{FF2B5EF4-FFF2-40B4-BE49-F238E27FC236}">
                <a16:creationId xmlns:a16="http://schemas.microsoft.com/office/drawing/2014/main" id="{EC60E7D7-9592-24FA-5E18-751F6025EF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984500"/>
            <a:ext cx="12192000" cy="387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189262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BEBDB7-571A-26BD-0DDC-EC428319EC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77A4DF76-E5D0-B5A1-771E-FF6FC164C892}"/>
              </a:ext>
            </a:extLst>
          </p:cNvPr>
          <p:cNvSpPr/>
          <p:nvPr/>
        </p:nvSpPr>
        <p:spPr>
          <a:xfrm>
            <a:off x="4572000" y="2484120"/>
            <a:ext cx="4282440" cy="45720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OCR text and detect other items in images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FC2E6E4-3FA0-B1C2-44CA-4FDE763339EA}"/>
              </a:ext>
            </a:extLst>
          </p:cNvPr>
          <p:cNvSpPr/>
          <p:nvPr/>
        </p:nvSpPr>
        <p:spPr>
          <a:xfrm>
            <a:off x="4572000" y="1711154"/>
            <a:ext cx="4282440" cy="45720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Detect languages and/or translate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593FC118-1D56-1A6A-3E6F-2E4C93EC5BB5}"/>
              </a:ext>
            </a:extLst>
          </p:cNvPr>
          <p:cNvSpPr/>
          <p:nvPr/>
        </p:nvSpPr>
        <p:spPr>
          <a:xfrm>
            <a:off x="1923639" y="2607713"/>
            <a:ext cx="1913442" cy="96011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Chunk large documents into smaller portions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6F1F862-E17E-1BF2-68BB-E557944EFB90}"/>
              </a:ext>
            </a:extLst>
          </p:cNvPr>
          <p:cNvSpPr/>
          <p:nvPr/>
        </p:nvSpPr>
        <p:spPr>
          <a:xfrm>
            <a:off x="9589359" y="2607713"/>
            <a:ext cx="1913442" cy="96011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Search Index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F53DDE5B-F2C9-368A-EB4B-004B47F0142D}"/>
              </a:ext>
            </a:extLst>
          </p:cNvPr>
          <p:cNvCxnSpPr>
            <a:cxnSpLocks/>
            <a:endCxn id="5" idx="1"/>
          </p:cNvCxnSpPr>
          <p:nvPr/>
        </p:nvCxnSpPr>
        <p:spPr>
          <a:xfrm>
            <a:off x="1535906" y="3087773"/>
            <a:ext cx="387733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E340D823-D62F-C29E-58F1-B5E39213D990}"/>
              </a:ext>
            </a:extLst>
          </p:cNvPr>
          <p:cNvCxnSpPr>
            <a:cxnSpLocks/>
            <a:stCxn id="5" idx="3"/>
            <a:endCxn id="2" idx="1"/>
          </p:cNvCxnSpPr>
          <p:nvPr/>
        </p:nvCxnSpPr>
        <p:spPr>
          <a:xfrm flipV="1">
            <a:off x="3837081" y="2712720"/>
            <a:ext cx="734919" cy="375053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232CAEE3-52CA-0618-98BB-135A06D4B4AE}"/>
              </a:ext>
            </a:extLst>
          </p:cNvPr>
          <p:cNvSpPr/>
          <p:nvPr/>
        </p:nvSpPr>
        <p:spPr>
          <a:xfrm>
            <a:off x="4572000" y="3257085"/>
            <a:ext cx="4282440" cy="45720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Extract key phrases and terms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55DE1353-6451-F2F2-4FDD-C8D856D8703A}"/>
              </a:ext>
            </a:extLst>
          </p:cNvPr>
          <p:cNvSpPr/>
          <p:nvPr/>
        </p:nvSpPr>
        <p:spPr>
          <a:xfrm>
            <a:off x="4572000" y="4030050"/>
            <a:ext cx="4282440" cy="45720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Extract entities (people, skills, URLs, etc.) </a:t>
            </a:r>
            <a:endParaRPr lang="en-US" i="1" dirty="0">
              <a:solidFill>
                <a:schemeClr val="tx1"/>
              </a:solidFill>
            </a:endParaRPr>
          </a:p>
        </p:txBody>
      </p:sp>
      <p:pic>
        <p:nvPicPr>
          <p:cNvPr id="23" name="Graphic 22" descr="Document with solid fill">
            <a:extLst>
              <a:ext uri="{FF2B5EF4-FFF2-40B4-BE49-F238E27FC236}">
                <a16:creationId xmlns:a16="http://schemas.microsoft.com/office/drawing/2014/main" id="{4B4356EB-DB04-1639-EBB5-9B125D08A9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4929" y="2607713"/>
            <a:ext cx="685800" cy="685800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F43B01B8-40E1-CA65-2D85-E7874B50AB9E}"/>
              </a:ext>
            </a:extLst>
          </p:cNvPr>
          <p:cNvSpPr txBox="1"/>
          <p:nvPr/>
        </p:nvSpPr>
        <p:spPr>
          <a:xfrm>
            <a:off x="591364" y="3257085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Documents</a:t>
            </a:r>
          </a:p>
        </p:txBody>
      </p: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E6694889-3916-A298-2BD5-0D22502998BD}"/>
              </a:ext>
            </a:extLst>
          </p:cNvPr>
          <p:cNvCxnSpPr>
            <a:cxnSpLocks/>
            <a:stCxn id="5" idx="3"/>
            <a:endCxn id="3" idx="1"/>
          </p:cNvCxnSpPr>
          <p:nvPr/>
        </p:nvCxnSpPr>
        <p:spPr>
          <a:xfrm flipV="1">
            <a:off x="3837081" y="1939754"/>
            <a:ext cx="734919" cy="1148019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006A07C8-FFE6-FC10-054C-D7EC53902858}"/>
              </a:ext>
            </a:extLst>
          </p:cNvPr>
          <p:cNvCxnSpPr>
            <a:cxnSpLocks/>
            <a:stCxn id="5" idx="3"/>
            <a:endCxn id="8" idx="1"/>
          </p:cNvCxnSpPr>
          <p:nvPr/>
        </p:nvCxnSpPr>
        <p:spPr>
          <a:xfrm>
            <a:off x="3837081" y="3087773"/>
            <a:ext cx="734919" cy="39791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B3E68473-1A12-B82E-8D58-1A05019A69F6}"/>
              </a:ext>
            </a:extLst>
          </p:cNvPr>
          <p:cNvCxnSpPr>
            <a:cxnSpLocks/>
            <a:stCxn id="5" idx="3"/>
            <a:endCxn id="9" idx="1"/>
          </p:cNvCxnSpPr>
          <p:nvPr/>
        </p:nvCxnSpPr>
        <p:spPr>
          <a:xfrm>
            <a:off x="3837081" y="3087773"/>
            <a:ext cx="734919" cy="117087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322D29AA-6031-8645-B88C-4F31D12DC377}"/>
              </a:ext>
            </a:extLst>
          </p:cNvPr>
          <p:cNvCxnSpPr>
            <a:cxnSpLocks/>
            <a:stCxn id="3" idx="3"/>
            <a:endCxn id="6" idx="1"/>
          </p:cNvCxnSpPr>
          <p:nvPr/>
        </p:nvCxnSpPr>
        <p:spPr>
          <a:xfrm>
            <a:off x="8854440" y="1939754"/>
            <a:ext cx="734919" cy="1148019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9A7EA838-C83A-2914-FF9B-922AEE2873B8}"/>
              </a:ext>
            </a:extLst>
          </p:cNvPr>
          <p:cNvCxnSpPr>
            <a:cxnSpLocks/>
            <a:stCxn id="2" idx="3"/>
            <a:endCxn id="6" idx="1"/>
          </p:cNvCxnSpPr>
          <p:nvPr/>
        </p:nvCxnSpPr>
        <p:spPr>
          <a:xfrm>
            <a:off x="8854440" y="2712720"/>
            <a:ext cx="734919" cy="375053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80FE345D-D495-3DCB-A7FE-B831EF929BA3}"/>
              </a:ext>
            </a:extLst>
          </p:cNvPr>
          <p:cNvCxnSpPr>
            <a:cxnSpLocks/>
            <a:stCxn id="8" idx="3"/>
            <a:endCxn id="6" idx="1"/>
          </p:cNvCxnSpPr>
          <p:nvPr/>
        </p:nvCxnSpPr>
        <p:spPr>
          <a:xfrm flipV="1">
            <a:off x="8854440" y="3087773"/>
            <a:ext cx="734919" cy="39791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ABBAAB0E-15B1-635D-938D-03283CFC2E97}"/>
              </a:ext>
            </a:extLst>
          </p:cNvPr>
          <p:cNvCxnSpPr>
            <a:cxnSpLocks/>
            <a:stCxn id="9" idx="3"/>
            <a:endCxn id="6" idx="1"/>
          </p:cNvCxnSpPr>
          <p:nvPr/>
        </p:nvCxnSpPr>
        <p:spPr>
          <a:xfrm flipV="1">
            <a:off x="8854440" y="3087773"/>
            <a:ext cx="734919" cy="117087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30470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09FDC59-6067-4502-1360-F42554AD87D3}"/>
              </a:ext>
            </a:extLst>
          </p:cNvPr>
          <p:cNvSpPr/>
          <p:nvPr/>
        </p:nvSpPr>
        <p:spPr>
          <a:xfrm>
            <a:off x="4046220" y="3398520"/>
            <a:ext cx="4282440" cy="45720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Search Public Information on the Web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800FF13-E208-2C00-EB7C-BCBA48F554BD}"/>
              </a:ext>
            </a:extLst>
          </p:cNvPr>
          <p:cNvSpPr/>
          <p:nvPr/>
        </p:nvSpPr>
        <p:spPr>
          <a:xfrm>
            <a:off x="4046220" y="2625554"/>
            <a:ext cx="4282440" cy="45720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Retrieve Stock Quotes from an API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D952C55-0F41-C8E8-4833-F5F86239B3AD}"/>
              </a:ext>
            </a:extLst>
          </p:cNvPr>
          <p:cNvSpPr/>
          <p:nvPr/>
        </p:nvSpPr>
        <p:spPr>
          <a:xfrm>
            <a:off x="4046220" y="1855003"/>
            <a:ext cx="4282440" cy="45720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Reference Internal Report Files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00226F7-C833-1B1C-B967-7291F64244CC}"/>
              </a:ext>
            </a:extLst>
          </p:cNvPr>
          <p:cNvSpPr/>
          <p:nvPr/>
        </p:nvSpPr>
        <p:spPr>
          <a:xfrm>
            <a:off x="1507938" y="2374095"/>
            <a:ext cx="1913442" cy="96011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Query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Planning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93C6EBF-0FE7-EC6E-5B5C-7AA41F6606DD}"/>
              </a:ext>
            </a:extLst>
          </p:cNvPr>
          <p:cNvSpPr/>
          <p:nvPr/>
        </p:nvSpPr>
        <p:spPr>
          <a:xfrm>
            <a:off x="9837420" y="2374095"/>
            <a:ext cx="1913442" cy="96011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Language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Model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0FF9049-A038-5CD7-B5B6-A7A955E2687C}"/>
              </a:ext>
            </a:extLst>
          </p:cNvPr>
          <p:cNvCxnSpPr>
            <a:cxnSpLocks/>
            <a:stCxn id="5" idx="3"/>
            <a:endCxn id="3" idx="1"/>
          </p:cNvCxnSpPr>
          <p:nvPr/>
        </p:nvCxnSpPr>
        <p:spPr>
          <a:xfrm flipV="1">
            <a:off x="3421380" y="2854154"/>
            <a:ext cx="624840" cy="1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C10FC99-8029-AE13-0A3B-1F87064360AB}"/>
              </a:ext>
            </a:extLst>
          </p:cNvPr>
          <p:cNvCxnSpPr>
            <a:cxnSpLocks/>
            <a:stCxn id="44" idx="3"/>
            <a:endCxn id="6" idx="1"/>
          </p:cNvCxnSpPr>
          <p:nvPr/>
        </p:nvCxnSpPr>
        <p:spPr>
          <a:xfrm>
            <a:off x="9189720" y="2854155"/>
            <a:ext cx="647700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C23DA4FB-7AE1-4EE4-8DD5-321F7F7C7F33}"/>
              </a:ext>
            </a:extLst>
          </p:cNvPr>
          <p:cNvSpPr/>
          <p:nvPr/>
        </p:nvSpPr>
        <p:spPr>
          <a:xfrm>
            <a:off x="189267" y="2619607"/>
            <a:ext cx="915222" cy="469096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Prompt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42D3144-4FA8-07EA-6898-D7B2C45E010A}"/>
              </a:ext>
            </a:extLst>
          </p:cNvPr>
          <p:cNvCxnSpPr>
            <a:cxnSpLocks/>
            <a:stCxn id="15" idx="3"/>
            <a:endCxn id="5" idx="1"/>
          </p:cNvCxnSpPr>
          <p:nvPr/>
        </p:nvCxnSpPr>
        <p:spPr>
          <a:xfrm>
            <a:off x="1104489" y="2854155"/>
            <a:ext cx="403449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BF48D9D9-8BAB-3118-5B91-13BAA46C2349}"/>
              </a:ext>
            </a:extLst>
          </p:cNvPr>
          <p:cNvCxnSpPr>
            <a:cxnSpLocks/>
            <a:stCxn id="5" idx="3"/>
            <a:endCxn id="4" idx="1"/>
          </p:cNvCxnSpPr>
          <p:nvPr/>
        </p:nvCxnSpPr>
        <p:spPr>
          <a:xfrm flipV="1">
            <a:off x="3421380" y="2083603"/>
            <a:ext cx="624840" cy="77055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217AA7E3-1E41-FB8C-7F66-A5758B29A028}"/>
              </a:ext>
            </a:extLst>
          </p:cNvPr>
          <p:cNvCxnSpPr>
            <a:cxnSpLocks/>
            <a:stCxn id="5" idx="3"/>
            <a:endCxn id="2" idx="1"/>
          </p:cNvCxnSpPr>
          <p:nvPr/>
        </p:nvCxnSpPr>
        <p:spPr>
          <a:xfrm>
            <a:off x="3421380" y="2854155"/>
            <a:ext cx="624840" cy="77296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98E95763-BD68-DEF9-F942-CCC8B336544E}"/>
              </a:ext>
            </a:extLst>
          </p:cNvPr>
          <p:cNvSpPr/>
          <p:nvPr/>
        </p:nvSpPr>
        <p:spPr>
          <a:xfrm>
            <a:off x="8732520" y="1852591"/>
            <a:ext cx="457200" cy="45720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B899F5AF-E80C-3452-008E-8E821AEFA864}"/>
              </a:ext>
            </a:extLst>
          </p:cNvPr>
          <p:cNvCxnSpPr>
            <a:cxnSpLocks/>
            <a:stCxn id="4" idx="3"/>
            <a:endCxn id="25" idx="1"/>
          </p:cNvCxnSpPr>
          <p:nvPr/>
        </p:nvCxnSpPr>
        <p:spPr>
          <a:xfrm flipV="1">
            <a:off x="8328660" y="2081191"/>
            <a:ext cx="403860" cy="2412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3F66FD98-C347-7EA9-DC36-7FDBB97B4248}"/>
              </a:ext>
            </a:extLst>
          </p:cNvPr>
          <p:cNvSpPr/>
          <p:nvPr/>
        </p:nvSpPr>
        <p:spPr>
          <a:xfrm>
            <a:off x="8732520" y="2625555"/>
            <a:ext cx="457200" cy="45720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A791A27B-2AA1-8E05-2231-C99FE09DCBEB}"/>
              </a:ext>
            </a:extLst>
          </p:cNvPr>
          <p:cNvSpPr/>
          <p:nvPr/>
        </p:nvSpPr>
        <p:spPr>
          <a:xfrm>
            <a:off x="8732520" y="3398519"/>
            <a:ext cx="457200" cy="45720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42D77B26-2C1F-3022-9B0B-3736BC5CF8AA}"/>
              </a:ext>
            </a:extLst>
          </p:cNvPr>
          <p:cNvCxnSpPr>
            <a:cxnSpLocks/>
            <a:stCxn id="3" idx="3"/>
            <a:endCxn id="44" idx="1"/>
          </p:cNvCxnSpPr>
          <p:nvPr/>
        </p:nvCxnSpPr>
        <p:spPr>
          <a:xfrm>
            <a:off x="8328660" y="2854154"/>
            <a:ext cx="403860" cy="1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A99ECFB6-8E63-4F62-C5D3-37BC5BB43934}"/>
              </a:ext>
            </a:extLst>
          </p:cNvPr>
          <p:cNvCxnSpPr>
            <a:cxnSpLocks/>
            <a:stCxn id="2" idx="3"/>
            <a:endCxn id="46" idx="1"/>
          </p:cNvCxnSpPr>
          <p:nvPr/>
        </p:nvCxnSpPr>
        <p:spPr>
          <a:xfrm flipV="1">
            <a:off x="8328660" y="3627119"/>
            <a:ext cx="403860" cy="1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DDB500F1-F165-AABE-6725-11E4ED79023E}"/>
              </a:ext>
            </a:extLst>
          </p:cNvPr>
          <p:cNvCxnSpPr>
            <a:cxnSpLocks/>
            <a:stCxn id="25" idx="3"/>
            <a:endCxn id="6" idx="1"/>
          </p:cNvCxnSpPr>
          <p:nvPr/>
        </p:nvCxnSpPr>
        <p:spPr>
          <a:xfrm>
            <a:off x="9189720" y="2081191"/>
            <a:ext cx="647700" cy="772964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28AC6A5D-0A01-5370-996D-AF8698A1082D}"/>
              </a:ext>
            </a:extLst>
          </p:cNvPr>
          <p:cNvCxnSpPr>
            <a:cxnSpLocks/>
            <a:stCxn id="46" idx="3"/>
            <a:endCxn id="6" idx="1"/>
          </p:cNvCxnSpPr>
          <p:nvPr/>
        </p:nvCxnSpPr>
        <p:spPr>
          <a:xfrm flipV="1">
            <a:off x="9189720" y="2854155"/>
            <a:ext cx="647700" cy="772964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7" name="Graphic 66" descr="Web design with solid fill">
            <a:extLst>
              <a:ext uri="{FF2B5EF4-FFF2-40B4-BE49-F238E27FC236}">
                <a16:creationId xmlns:a16="http://schemas.microsoft.com/office/drawing/2014/main" id="{5D8BB564-5BA8-868D-2AB7-35E0D3AE65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755380" y="2648413"/>
            <a:ext cx="411480" cy="411480"/>
          </a:xfrm>
          <a:prstGeom prst="rect">
            <a:avLst/>
          </a:prstGeom>
        </p:spPr>
      </p:pic>
      <p:pic>
        <p:nvPicPr>
          <p:cNvPr id="71" name="Graphic 70" descr="World with solid fill">
            <a:extLst>
              <a:ext uri="{FF2B5EF4-FFF2-40B4-BE49-F238E27FC236}">
                <a16:creationId xmlns:a16="http://schemas.microsoft.com/office/drawing/2014/main" id="{0EF50C39-FA5F-96A6-2DE6-53C76B029FD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55380" y="3421379"/>
            <a:ext cx="411480" cy="411480"/>
          </a:xfrm>
          <a:prstGeom prst="rect">
            <a:avLst/>
          </a:prstGeom>
        </p:spPr>
      </p:pic>
      <p:pic>
        <p:nvPicPr>
          <p:cNvPr id="73" name="Graphic 72" descr="Database with solid fill">
            <a:extLst>
              <a:ext uri="{FF2B5EF4-FFF2-40B4-BE49-F238E27FC236}">
                <a16:creationId xmlns:a16="http://schemas.microsoft.com/office/drawing/2014/main" id="{20B0889E-3ACA-9DCA-25FE-C1F9B73F732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755380" y="1875451"/>
            <a:ext cx="411480" cy="411480"/>
          </a:xfrm>
          <a:prstGeom prst="rect">
            <a:avLst/>
          </a:prstGeom>
        </p:spPr>
      </p:pic>
      <p:pic>
        <p:nvPicPr>
          <p:cNvPr id="75" name="Graphic 74" descr="Gears with solid fill">
            <a:extLst>
              <a:ext uri="{FF2B5EF4-FFF2-40B4-BE49-F238E27FC236}">
                <a16:creationId xmlns:a16="http://schemas.microsoft.com/office/drawing/2014/main" id="{AFA7CC75-0D4E-9273-3BC2-179536E5EC2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626048" y="2648413"/>
            <a:ext cx="411480" cy="411480"/>
          </a:xfrm>
          <a:prstGeom prst="rect">
            <a:avLst/>
          </a:prstGeom>
        </p:spPr>
      </p:pic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3492D89A-8D12-E69E-613E-246E45DCD83F}"/>
              </a:ext>
            </a:extLst>
          </p:cNvPr>
          <p:cNvSpPr/>
          <p:nvPr/>
        </p:nvSpPr>
        <p:spPr>
          <a:xfrm>
            <a:off x="10545258" y="3627118"/>
            <a:ext cx="1205604" cy="469096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Response</a:t>
            </a:r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1A734903-BE53-2153-B1BE-7817395A6ACC}"/>
              </a:ext>
            </a:extLst>
          </p:cNvPr>
          <p:cNvCxnSpPr>
            <a:cxnSpLocks/>
            <a:endCxn id="76" idx="0"/>
          </p:cNvCxnSpPr>
          <p:nvPr/>
        </p:nvCxnSpPr>
        <p:spPr>
          <a:xfrm>
            <a:off x="11148060" y="3334214"/>
            <a:ext cx="0" cy="292904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4D371B40-23D5-3632-64F0-3A5DAC685C2C}"/>
              </a:ext>
            </a:extLst>
          </p:cNvPr>
          <p:cNvCxnSpPr>
            <a:cxnSpLocks/>
            <a:endCxn id="5" idx="2"/>
          </p:cNvCxnSpPr>
          <p:nvPr/>
        </p:nvCxnSpPr>
        <p:spPr>
          <a:xfrm rot="5400000">
            <a:off x="6337265" y="-538391"/>
            <a:ext cx="12700" cy="7745211"/>
          </a:xfrm>
          <a:prstGeom prst="bentConnector3">
            <a:avLst>
              <a:gd name="adj1" fmla="val 6060000"/>
            </a:avLst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01754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D8E52CD-5961-A7C1-3607-A00CDD4774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3812"/>
            <a:ext cx="12192000" cy="6810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407434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6A42420-8E3C-777D-C41A-540741D913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451"/>
            <a:ext cx="12192000" cy="68430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69943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E4867BA-66DD-B140-5528-856BCA343C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9063"/>
            <a:ext cx="12192000" cy="6659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18920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7E65E1-5DF3-2FE1-BF1F-36B02D0FEC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F0F888E-6C37-17E1-670D-996346E718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14427"/>
            <a:ext cx="12192000" cy="44291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50272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A667DA2-6815-DE2B-768E-FDE43E3CE7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078980" cy="386517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B15023E-4451-73EF-7EF8-DE3379C381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3493186"/>
            <a:ext cx="9357360" cy="3292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07160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481119-CA4B-EE59-FA1F-A8A1937BB3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4109762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BE5903-046F-B36C-A390-13BCA87A07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7355668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816D71-F470-4508-5B65-369C548AF7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6361878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5F0DECF4-D97F-50C4-2BC6-FF67798330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5349875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DD578BC-5D7D-5C4C-8F29-72399D893A54}"/>
              </a:ext>
            </a:extLst>
          </p:cNvPr>
          <p:cNvSpPr txBox="1"/>
          <p:nvPr/>
        </p:nvSpPr>
        <p:spPr>
          <a:xfrm>
            <a:off x="5920557" y="385224"/>
            <a:ext cx="609713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Style Guide: </a:t>
            </a:r>
            <a:r>
              <a:rPr lang="en-US" dirty="0">
                <a:hlinkClick r:id="rId3"/>
              </a:rPr>
              <a:t>https://oreillymedia.github.io/production-resources/illustrations/</a:t>
            </a:r>
            <a:r>
              <a:rPr lang="en-US" dirty="0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738677-70D9-CDFB-3CCB-A0A1A69FA2EC}"/>
              </a:ext>
            </a:extLst>
          </p:cNvPr>
          <p:cNvSpPr txBox="1"/>
          <p:nvPr/>
        </p:nvSpPr>
        <p:spPr>
          <a:xfrm>
            <a:off x="7173532" y="1822360"/>
            <a:ext cx="3167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uardian Sans Cond Medium" panose="020B0603030202060203" pitchFamily="34" charset="0"/>
              </a:rPr>
              <a:t>Fonts: Guardian Sans Cond Medium </a:t>
            </a:r>
          </a:p>
        </p:txBody>
      </p:sp>
    </p:spTree>
    <p:extLst>
      <p:ext uri="{BB962C8B-B14F-4D97-AF65-F5344CB8AC3E}">
        <p14:creationId xmlns:p14="http://schemas.microsoft.com/office/powerpoint/2010/main" val="16502681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96B24"/>
      </a:accent1>
      <a:accent2>
        <a:srgbClr val="4EA72E"/>
      </a:accent2>
      <a:accent3>
        <a:srgbClr val="156082"/>
      </a:accent3>
      <a:accent4>
        <a:srgbClr val="0F9ED5"/>
      </a:accent4>
      <a:accent5>
        <a:srgbClr val="A02B93"/>
      </a:accent5>
      <a:accent6>
        <a:srgbClr val="E97132"/>
      </a:accent6>
      <a:hlink>
        <a:srgbClr val="467886"/>
      </a:hlink>
      <a:folHlink>
        <a:srgbClr val="96607D"/>
      </a:folHlink>
    </a:clrScheme>
    <a:fontScheme name="O'Reilly Media">
      <a:majorFont>
        <a:latin typeface="Guardian Sans Cond Medium"/>
        <a:ea typeface=""/>
        <a:cs typeface=""/>
      </a:majorFont>
      <a:minorFont>
        <a:latin typeface="Guardian Sans Cond Regular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97E0A228-C590-4D20-B05F-A6BF04A0544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11490</TotalTime>
  <Words>436</Words>
  <Application>Microsoft Office PowerPoint</Application>
  <PresentationFormat>Widescreen</PresentationFormat>
  <Paragraphs>136</Paragraphs>
  <Slides>21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6" baseType="lpstr">
      <vt:lpstr>Aptos</vt:lpstr>
      <vt:lpstr>Arial</vt:lpstr>
      <vt:lpstr>Guardian Sans Cond Medium</vt:lpstr>
      <vt:lpstr>Guardian Sans Cond Regular</vt:lpstr>
      <vt:lpstr>Office Theme</vt:lpstr>
      <vt:lpstr>Building Agentic Solutions with Microsoft Foundry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Colby Ford</dc:creator>
  <cp:lastModifiedBy>Colby Ford</cp:lastModifiedBy>
  <cp:revision>13</cp:revision>
  <dcterms:created xsi:type="dcterms:W3CDTF">2026-01-26T17:17:07Z</dcterms:created>
  <dcterms:modified xsi:type="dcterms:W3CDTF">2026-03-02T22:06:16Z</dcterms:modified>
</cp:coreProperties>
</file>