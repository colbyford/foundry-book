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58" r:id="rId2"/>
    <p:sldId id="256" r:id="rId3"/>
    <p:sldId id="260" r:id="rId4"/>
    <p:sldId id="259" r:id="rId5"/>
    <p:sldId id="261" r:id="rId6"/>
    <p:sldId id="257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8037C5F-3BC8-4326-882B-11E8D97D6574}">
          <p14:sldIdLst>
            <p14:sldId id="258"/>
          </p14:sldIdLst>
        </p14:section>
        <p14:section name="Chapter 1" id="{4FFEF0E2-5833-4089-8860-99F4B2E194C0}">
          <p14:sldIdLst>
            <p14:sldId id="256"/>
            <p14:sldId id="260"/>
            <p14:sldId id="259"/>
          </p14:sldIdLst>
        </p14:section>
        <p14:section name="Chapter 2" id="{D332562B-3ADB-4CCE-A1B8-55DF9B490E3B}">
          <p14:sldIdLst>
            <p14:sldId id="261"/>
          </p14:sldIdLst>
        </p14:section>
        <p14:section name="Examples" id="{2CEADF37-2C1D-4DE6-BB08-5D838E707A1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D4EB"/>
    <a:srgbClr val="B0D3EA"/>
    <a:srgbClr val="E5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81072" autoAdjust="0"/>
  </p:normalViewPr>
  <p:slideViewPr>
    <p:cSldViewPr snapToGrid="0">
      <p:cViewPr varScale="1">
        <p:scale>
          <a:sx n="126" d="100"/>
          <a:sy n="126" d="100"/>
        </p:scale>
        <p:origin x="158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BB0E5-6D8D-4DEE-B75F-67010CF2307C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549D2C-39EA-4769-BF7E-31FE52D82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2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i-services/multi-service-resource?toc=%2Fazure%2Fai-foundry%2Ftoc.json&amp;bc=%2Fazure%2Fai-foundry%2Fbreadcrumb%2Ftoc.json&amp;view=foundry-classic&amp;preserve-view=true&amp;pivots=azportal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Create a Foundry resource - Foundry Tools | Microsoft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5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Text:</a:t>
            </a:r>
          </a:p>
          <a:p>
            <a:endParaRPr lang="en-US" dirty="0"/>
          </a:p>
          <a:p>
            <a:r>
              <a:rPr lang="en-US" dirty="0"/>
              <a:t>colby@TUPLE-01:~$ </a:t>
            </a:r>
            <a:r>
              <a:rPr lang="en-US" dirty="0" err="1"/>
              <a:t>az</a:t>
            </a:r>
            <a:r>
              <a:rPr lang="en-US" dirty="0"/>
              <a:t> login</a:t>
            </a:r>
          </a:p>
          <a:p>
            <a:endParaRPr lang="en-US" dirty="0"/>
          </a:p>
          <a:p>
            <a:r>
              <a:rPr lang="en-US" dirty="0"/>
              <a:t>Retrieving tenants and subscriptions for the selection...</a:t>
            </a:r>
          </a:p>
          <a:p>
            <a:endParaRPr lang="en-US" dirty="0"/>
          </a:p>
          <a:p>
            <a:r>
              <a:rPr lang="en-US" dirty="0"/>
              <a:t>[Tenant and subscription selection]</a:t>
            </a:r>
          </a:p>
          <a:p>
            <a:endParaRPr lang="en-US" dirty="0"/>
          </a:p>
          <a:p>
            <a:r>
              <a:rPr lang="en-US" dirty="0"/>
              <a:t>No     Subscription name            Subscription ID                       Tenant</a:t>
            </a:r>
          </a:p>
          <a:p>
            <a:r>
              <a:rPr lang="en-US" dirty="0"/>
              <a:t>-----  ---------------------------  ------------------------------------  ----------------------</a:t>
            </a:r>
          </a:p>
          <a:p>
            <a:r>
              <a:rPr lang="en-US" dirty="0"/>
              <a:t>[1]    abc-prod-001                 d3c301c7-a8a5-417a-999b-71c166ab9ea1  Acme Inc Default Directory</a:t>
            </a:r>
          </a:p>
          <a:p>
            <a:r>
              <a:rPr lang="en-US" dirty="0"/>
              <a:t>[2]    abc-dev-001                  6283eb64-e04b-4c65-8360-e29ddf7ced32  Acme Inc Default Directory</a:t>
            </a:r>
          </a:p>
          <a:p>
            <a:r>
              <a:rPr lang="en-US" dirty="0"/>
              <a:t>[3]    </a:t>
            </a:r>
            <a:r>
              <a:rPr lang="en-US" dirty="0" err="1"/>
              <a:t>dev_subscription</a:t>
            </a:r>
            <a:r>
              <a:rPr lang="en-US" dirty="0"/>
              <a:t>             21f436e1-bf10-4e17-9482-701611ba96e3  &lt;Tuple&gt;</a:t>
            </a:r>
          </a:p>
          <a:p>
            <a:r>
              <a:rPr lang="en-US" dirty="0"/>
              <a:t>[4]    Microsoft Azure Sponsorship  716f8ad9-4f2d-48da-a905-eb77071da449  &lt;Tuple&gt;</a:t>
            </a:r>
          </a:p>
          <a:p>
            <a:r>
              <a:rPr lang="en-US" dirty="0"/>
              <a:t>[5] *  Microsoft Azure Sponsorship  bedf96c9-5241-45cc-b696-dcc91ebc089a  &lt;Tuple&gt;</a:t>
            </a:r>
          </a:p>
          <a:p>
            <a:endParaRPr lang="en-US" dirty="0"/>
          </a:p>
          <a:p>
            <a:r>
              <a:rPr lang="en-US" dirty="0"/>
              <a:t>The default is marked with an *; the default tenant is '&lt;Tuple&gt;' and subscription is 'Microsoft Azure Sponsorship' (bedf96c9-5241-45cc-b696-dcc91ebc089a).</a:t>
            </a:r>
          </a:p>
          <a:p>
            <a:endParaRPr lang="en-US" dirty="0"/>
          </a:p>
          <a:p>
            <a:r>
              <a:rPr lang="en-US" dirty="0"/>
              <a:t>Select a subscription and tenant (Type a number or Enter for no changes):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69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3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0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89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6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407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70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24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59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1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5C40-2055-49AF-9028-5DA79E75E391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99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oreillymedia.github.io/production-resources/illustrations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6990-D6F8-D6D2-CC22-6BD94E95B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Agentic Solutions with Microsoft Foundry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07718-4A92-1A92-1E11-DEFC8507A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Illustration Figures</a:t>
            </a:r>
          </a:p>
        </p:txBody>
      </p:sp>
    </p:spTree>
    <p:extLst>
      <p:ext uri="{BB962C8B-B14F-4D97-AF65-F5344CB8AC3E}">
        <p14:creationId xmlns:p14="http://schemas.microsoft.com/office/powerpoint/2010/main" val="3886249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agram showing Foundry resource containing multiple projects, each with deployments and connections.">
            <a:extLst>
              <a:ext uri="{FF2B5EF4-FFF2-40B4-BE49-F238E27FC236}">
                <a16:creationId xmlns:a16="http://schemas.microsoft.com/office/drawing/2014/main" id="{12EEA84E-8776-00EF-5D97-05E8737B6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7866" y="3166424"/>
            <a:ext cx="5524500" cy="366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39DD77-409D-94ED-8A62-6F53CBB88ADD}"/>
              </a:ext>
            </a:extLst>
          </p:cNvPr>
          <p:cNvSpPr/>
          <p:nvPr/>
        </p:nvSpPr>
        <p:spPr>
          <a:xfrm>
            <a:off x="962568" y="732317"/>
            <a:ext cx="4456090" cy="2434107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Resource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AF0893-8AEC-1DBB-B036-2949BA0795A0}"/>
              </a:ext>
            </a:extLst>
          </p:cNvPr>
          <p:cNvSpPr/>
          <p:nvPr/>
        </p:nvSpPr>
        <p:spPr>
          <a:xfrm>
            <a:off x="2410311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E630FB-2D59-D6DB-B847-29F7E0317AFA}"/>
              </a:ext>
            </a:extLst>
          </p:cNvPr>
          <p:cNvSpPr/>
          <p:nvPr/>
        </p:nvSpPr>
        <p:spPr>
          <a:xfrm>
            <a:off x="1183452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9103F9-368F-E4D0-C17C-BF0F1C74D31A}"/>
              </a:ext>
            </a:extLst>
          </p:cNvPr>
          <p:cNvSpPr/>
          <p:nvPr/>
        </p:nvSpPr>
        <p:spPr>
          <a:xfrm>
            <a:off x="4117733" y="1494888"/>
            <a:ext cx="1080042" cy="69452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2B776-2029-F35D-E69F-FB22F1454014}"/>
              </a:ext>
            </a:extLst>
          </p:cNvPr>
          <p:cNvSpPr txBox="1"/>
          <p:nvPr/>
        </p:nvSpPr>
        <p:spPr>
          <a:xfrm>
            <a:off x="3637170" y="1657482"/>
            <a:ext cx="333746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CF4078-AF58-188A-DF99-E08A01A42DFE}"/>
              </a:ext>
            </a:extLst>
          </p:cNvPr>
          <p:cNvSpPr/>
          <p:nvPr/>
        </p:nvSpPr>
        <p:spPr>
          <a:xfrm>
            <a:off x="1183452" y="2534516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 + Governance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C89E23-8123-0234-D0F1-F39C80D61B78}"/>
              </a:ext>
            </a:extLst>
          </p:cNvPr>
          <p:cNvCxnSpPr>
            <a:stCxn id="8" idx="3"/>
          </p:cNvCxnSpPr>
          <p:nvPr/>
        </p:nvCxnSpPr>
        <p:spPr>
          <a:xfrm>
            <a:off x="5197775" y="1842148"/>
            <a:ext cx="59127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373EA2-E891-EE8A-A28C-9322032A5F17}"/>
              </a:ext>
            </a:extLst>
          </p:cNvPr>
          <p:cNvSpPr txBox="1"/>
          <p:nvPr/>
        </p:nvSpPr>
        <p:spPr>
          <a:xfrm>
            <a:off x="5825155" y="1518982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Configure Identities, RBAC, Monitoring,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1F8B3-1DDB-194B-0435-0F2F79CBA773}"/>
              </a:ext>
            </a:extLst>
          </p:cNvPr>
          <p:cNvSpPr txBox="1"/>
          <p:nvPr/>
        </p:nvSpPr>
        <p:spPr>
          <a:xfrm>
            <a:off x="2183860" y="3429000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Connect to Tools and Knowledge bases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3FAC2D-AAEE-099D-6EBF-C4AE11D1CF5E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190613" y="2903848"/>
            <a:ext cx="1" cy="52515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807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D732446-F0F6-0ACF-647A-3BC33E7C3D60}"/>
              </a:ext>
            </a:extLst>
          </p:cNvPr>
          <p:cNvSpPr/>
          <p:nvPr/>
        </p:nvSpPr>
        <p:spPr>
          <a:xfrm>
            <a:off x="962567" y="281940"/>
            <a:ext cx="10552099" cy="618743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Example Models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74ED1F-143F-F0C3-860B-D1D1A94B8038}"/>
              </a:ext>
            </a:extLst>
          </p:cNvPr>
          <p:cNvSpPr/>
          <p:nvPr/>
        </p:nvSpPr>
        <p:spPr>
          <a:xfrm>
            <a:off x="4778916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Anthropic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B92B3E5-A0FB-4F52-03FE-A3994B4A676E}"/>
              </a:ext>
            </a:extLst>
          </p:cNvPr>
          <p:cNvSpPr/>
          <p:nvPr/>
        </p:nvSpPr>
        <p:spPr>
          <a:xfrm>
            <a:off x="1553658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Azure OpenAI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E8A258-9DE7-F4AF-1449-211286E0D11E}"/>
              </a:ext>
            </a:extLst>
          </p:cNvPr>
          <p:cNvSpPr/>
          <p:nvPr/>
        </p:nvSpPr>
        <p:spPr>
          <a:xfrm>
            <a:off x="8004174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7ADCD0-E7DE-9B18-898C-7D55B783F694}"/>
              </a:ext>
            </a:extLst>
          </p:cNvPr>
          <p:cNvSpPr/>
          <p:nvPr/>
        </p:nvSpPr>
        <p:spPr>
          <a:xfrm>
            <a:off x="4778916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Mistral AI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5125DD-7A11-66B1-DDF5-ECD5D6C1F69B}"/>
              </a:ext>
            </a:extLst>
          </p:cNvPr>
          <p:cNvSpPr/>
          <p:nvPr/>
        </p:nvSpPr>
        <p:spPr>
          <a:xfrm>
            <a:off x="1553658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8433B6-E222-52DE-3420-6BC81E4D9945}"/>
              </a:ext>
            </a:extLst>
          </p:cNvPr>
          <p:cNvSpPr/>
          <p:nvPr/>
        </p:nvSpPr>
        <p:spPr>
          <a:xfrm>
            <a:off x="8004174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DeepSeek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E5EA1C-587E-4A45-E606-F67DF515B407}"/>
              </a:ext>
            </a:extLst>
          </p:cNvPr>
          <p:cNvSpPr/>
          <p:nvPr/>
        </p:nvSpPr>
        <p:spPr>
          <a:xfrm>
            <a:off x="1790700" y="1882140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gpt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1D9861-1EDA-793B-0AA0-18BFA52ACCE4}"/>
              </a:ext>
            </a:extLst>
          </p:cNvPr>
          <p:cNvSpPr/>
          <p:nvPr/>
        </p:nvSpPr>
        <p:spPr>
          <a:xfrm>
            <a:off x="1790700" y="2380687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6BFDC7A-CED3-C375-66E6-683B9E52EDD1}"/>
              </a:ext>
            </a:extLst>
          </p:cNvPr>
          <p:cNvSpPr/>
          <p:nvPr/>
        </p:nvSpPr>
        <p:spPr>
          <a:xfrm>
            <a:off x="1790700" y="2879234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sora</a:t>
            </a:r>
          </a:p>
        </p:txBody>
      </p:sp>
    </p:spTree>
    <p:extLst>
      <p:ext uri="{BB962C8B-B14F-4D97-AF65-F5344CB8AC3E}">
        <p14:creationId xmlns:p14="http://schemas.microsoft.com/office/powerpoint/2010/main" val="2145715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409C35-8811-C77F-54C2-0BC7A96CBEB6}"/>
              </a:ext>
            </a:extLst>
          </p:cNvPr>
          <p:cNvSpPr txBox="1"/>
          <p:nvPr/>
        </p:nvSpPr>
        <p:spPr>
          <a:xfrm>
            <a:off x="563218" y="54309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https://carbon.now.sh/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291CA3-97E0-03B5-F1F6-61568AF37352}"/>
              </a:ext>
            </a:extLst>
          </p:cNvPr>
          <p:cNvSpPr txBox="1"/>
          <p:nvPr/>
        </p:nvSpPr>
        <p:spPr>
          <a:xfrm>
            <a:off x="563218" y="5990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Theme: One Light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8CB0BC-0057-D455-D8D7-560FEF81B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917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22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50F46-8669-8B2D-7690-E25DD2E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41B2C3-3E54-CFD6-A752-0AC425AFFCA6}"/>
              </a:ext>
            </a:extLst>
          </p:cNvPr>
          <p:cNvSpPr/>
          <p:nvPr/>
        </p:nvSpPr>
        <p:spPr>
          <a:xfrm>
            <a:off x="8482515" y="2718435"/>
            <a:ext cx="247650" cy="247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4DF503-3BC6-84E0-6FFB-3B32B203E1CB}"/>
              </a:ext>
            </a:extLst>
          </p:cNvPr>
          <p:cNvSpPr/>
          <p:nvPr/>
        </p:nvSpPr>
        <p:spPr>
          <a:xfrm>
            <a:off x="819950" y="617219"/>
            <a:ext cx="10552099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Host (AI Application)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675B45-9C5A-DB3C-5478-881C7B1BD00F}"/>
              </a:ext>
            </a:extLst>
          </p:cNvPr>
          <p:cNvSpPr/>
          <p:nvPr/>
        </p:nvSpPr>
        <p:spPr>
          <a:xfrm>
            <a:off x="1553658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726389-504C-D4C8-91C7-AF40D8E5E559}"/>
              </a:ext>
            </a:extLst>
          </p:cNvPr>
          <p:cNvSpPr/>
          <p:nvPr/>
        </p:nvSpPr>
        <p:spPr>
          <a:xfrm>
            <a:off x="4778915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FC3ABB-2BFB-C405-42FE-2ED02F4EA5C4}"/>
              </a:ext>
            </a:extLst>
          </p:cNvPr>
          <p:cNvSpPr/>
          <p:nvPr/>
        </p:nvSpPr>
        <p:spPr>
          <a:xfrm>
            <a:off x="8004174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F4543D6-02D0-038C-12A8-DB37F7A273CE}"/>
              </a:ext>
            </a:extLst>
          </p:cNvPr>
          <p:cNvSpPr/>
          <p:nvPr/>
        </p:nvSpPr>
        <p:spPr>
          <a:xfrm>
            <a:off x="1553658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A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Local Filesystem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78DD490-0572-9417-BBD7-3FF5F8A9E3D8}"/>
              </a:ext>
            </a:extLst>
          </p:cNvPr>
          <p:cNvSpPr/>
          <p:nvPr/>
        </p:nvSpPr>
        <p:spPr>
          <a:xfrm>
            <a:off x="4778915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B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Database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4622E36-7A33-D496-1202-F85F8B8E5A75}"/>
              </a:ext>
            </a:extLst>
          </p:cNvPr>
          <p:cNvSpPr/>
          <p:nvPr/>
        </p:nvSpPr>
        <p:spPr>
          <a:xfrm>
            <a:off x="8004172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C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API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D059445-29E0-0BB8-E8BA-0013ADBA930C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2870742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7BB8C0-5CB6-3A94-820B-418CFFCE9D38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6095999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EBFCBE-6607-A910-FF7B-C1762F4684EF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 flipH="1">
            <a:off x="9321256" y="1714501"/>
            <a:ext cx="2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E37A76D-0F39-82E2-974B-B04FAACABE32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 rot="16200000" flipH="1">
            <a:off x="6849202" y="961297"/>
            <a:ext cx="1003934" cy="2510341"/>
          </a:xfrm>
          <a:prstGeom prst="bentConnector3">
            <a:avLst>
              <a:gd name="adj1" fmla="val 61385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2480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0DECF4-D97F-50C4-2BC6-FF6779833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498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D578BC-5D7D-5C4C-8F29-72399D893A54}"/>
              </a:ext>
            </a:extLst>
          </p:cNvPr>
          <p:cNvSpPr txBox="1"/>
          <p:nvPr/>
        </p:nvSpPr>
        <p:spPr>
          <a:xfrm>
            <a:off x="5920557" y="38522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Style Guide: </a:t>
            </a:r>
            <a:r>
              <a:rPr lang="en-US" dirty="0">
                <a:hlinkClick r:id="rId3"/>
              </a:rPr>
              <a:t>https://oreillymedia.github.io/production-resources/illustrations/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738677-70D9-CDFB-3CCB-A0A1A69FA2EC}"/>
              </a:ext>
            </a:extLst>
          </p:cNvPr>
          <p:cNvSpPr txBox="1"/>
          <p:nvPr/>
        </p:nvSpPr>
        <p:spPr>
          <a:xfrm>
            <a:off x="7173532" y="1822360"/>
            <a:ext cx="31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ardian Sans Cond Medium" panose="020B0603030202060203" pitchFamily="34" charset="0"/>
              </a:rPr>
              <a:t>Fonts: Guardian Sans Cond Medium </a:t>
            </a:r>
          </a:p>
        </p:txBody>
      </p:sp>
    </p:spTree>
    <p:extLst>
      <p:ext uri="{BB962C8B-B14F-4D97-AF65-F5344CB8AC3E}">
        <p14:creationId xmlns:p14="http://schemas.microsoft.com/office/powerpoint/2010/main" val="165026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'Reilly Media">
      <a:majorFont>
        <a:latin typeface="Guardian Sans Cond Medium"/>
        <a:ea typeface=""/>
        <a:cs typeface=""/>
      </a:majorFont>
      <a:minorFont>
        <a:latin typeface="Guardian Sans Cond Regula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450</TotalTime>
  <Words>245</Words>
  <Application>Microsoft Office PowerPoint</Application>
  <PresentationFormat>Widescreen</PresentationFormat>
  <Paragraphs>59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Arial</vt:lpstr>
      <vt:lpstr>Guardian Sans Cond Medium</vt:lpstr>
      <vt:lpstr>Guardian Sans Cond Regular</vt:lpstr>
      <vt:lpstr>Office Theme</vt:lpstr>
      <vt:lpstr>Building Agentic Solutions with Microsoft Foundry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4</cp:revision>
  <dcterms:created xsi:type="dcterms:W3CDTF">2026-01-26T17:17:07Z</dcterms:created>
  <dcterms:modified xsi:type="dcterms:W3CDTF">2026-02-06T17:01:01Z</dcterms:modified>
</cp:coreProperties>
</file>